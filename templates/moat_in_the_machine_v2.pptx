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omments/modernComment_106_0.xml" ContentType="application/vnd.ms-powerpoint.comment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9" r:id="rId3"/>
    <p:sldId id="280" r:id="rId4"/>
    <p:sldId id="262" r:id="rId5"/>
    <p:sldId id="260" r:id="rId6"/>
    <p:sldId id="268" r:id="rId7"/>
    <p:sldId id="266" r:id="rId8"/>
    <p:sldId id="267" r:id="rId9"/>
    <p:sldId id="265" r:id="rId10"/>
    <p:sldId id="263" r:id="rId11"/>
    <p:sldId id="271" r:id="rId12"/>
    <p:sldId id="274" r:id="rId13"/>
    <p:sldId id="275" r:id="rId14"/>
    <p:sldId id="276" r:id="rId15"/>
    <p:sldId id="277" r:id="rId16"/>
    <p:sldId id="278" r:id="rId17"/>
    <p:sldId id="279" r:id="rId18"/>
    <p:sldId id="269" r:id="rId1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3AF65A6-DE5B-E194-B652-641AD22A8911}" name="Lucky Yona" initials="LY" userId="S::lyona@dmstrategic.com::a5d058f0-07d1-48d0-8c1b-554a7e8cef39"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622"/>
    <p:restoredTop sz="94610"/>
  </p:normalViewPr>
  <p:slideViewPr>
    <p:cSldViewPr snapToGrid="0" snapToObjects="1">
      <p:cViewPr>
        <p:scale>
          <a:sx n="211" d="100"/>
          <a:sy n="211" d="100"/>
        </p:scale>
        <p:origin x="520" y="8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8/10/relationships/authors" Targe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omments/modernComment_106_0.xml><?xml version="1.0" encoding="utf-8"?>
<p188:cmLst xmlns:a="http://schemas.openxmlformats.org/drawingml/2006/main" xmlns:r="http://schemas.openxmlformats.org/officeDocument/2006/relationships" xmlns:p188="http://schemas.microsoft.com/office/powerpoint/2018/8/main">
  <p188:cm id="{2DCF1BBA-15B7-9E40-B434-154566302E1E}" authorId="{73AF65A6-DE5B-E194-B652-641AD22A8911}" created="2026-02-24T20:37:42.525">
    <ac:deMkLst xmlns:ac="http://schemas.microsoft.com/office/drawing/2013/main/command">
      <pc:docMk xmlns:pc="http://schemas.microsoft.com/office/powerpoint/2013/main/command"/>
      <pc:sldMk xmlns:pc="http://schemas.microsoft.com/office/powerpoint/2013/main/command" cId="0" sldId="262"/>
      <ac:spMk id="6" creationId="{00000000-0000-0000-0000-000000000000}"/>
    </ac:deMkLst>
    <p188:replyLst>
      <p188:reply id="{1C9E4ACE-FD53-C846-ACC7-D04C86870573}" authorId="{73AF65A6-DE5B-E194-B652-641AD22A8911}" created="2026-02-24T20:39:52.670">
        <p188:txBody>
          <a:bodyPr/>
          <a:lstStyle/>
          <a:p>
            <a:r>
              <a:rPr lang="en-US"/>
              <a:t>TOo general
</a:t>
            </a:r>
          </a:p>
        </p188:txBody>
      </p188:reply>
      <p188:reply id="{F9FA191E-6E61-834F-BE92-6466E67E87DD}" authorId="{73AF65A6-DE5B-E194-B652-641AD22A8911}" created="2026-02-24T20:59:46.384">
        <p188:txBody>
          <a:bodyPr/>
          <a:lstStyle/>
          <a:p>
            <a:r>
              <a:rPr lang="en-US"/>
              <a:t>Pre-screen industry
</a:t>
            </a:r>
          </a:p>
        </p188:txBody>
      </p188:reply>
      <p188:reply id="{F34C0250-DEAC-554D-8C9F-3E2E3AD04878}" authorId="{73AF65A6-DE5B-E194-B652-641AD22A8911}" created="2026-02-24T21:01:34.583">
        <p188:txBody>
          <a:bodyPr/>
          <a:lstStyle/>
          <a:p>
            <a:r>
              <a:rPr lang="en-US"/>
              <a:t>- Prescreen the GOLDMINE ZONe and screen out other factors</a:t>
            </a:r>
          </a:p>
        </p188:txBody>
      </p188:reply>
    </p188:replyLst>
    <p188:txBody>
      <a:bodyPr/>
      <a:lstStyle/>
      <a:p>
        <a:r>
          <a:rPr lang="en-US"/>
          <a:t>One Logo
</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41464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F1B2D"/>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rgbClr val="F4F6F8"/>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microsoft.com/office/2018/10/relationships/comments" Target="../comments/modernComment_106_0.xml"/><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0" cy="5143500"/>
          </a:xfrm>
          <a:prstGeom prst="line">
            <a:avLst/>
          </a:prstGeom>
          <a:noFill/>
          <a:ln w="3810">
            <a:solidFill>
              <a:srgbClr val="1A2942"/>
            </a:solidFill>
            <a:prstDash val="solid"/>
          </a:ln>
        </p:spPr>
        <p:txBody>
          <a:bodyPr/>
          <a:lstStyle/>
          <a:p>
            <a:endParaRPr lang="en-US"/>
          </a:p>
        </p:txBody>
      </p:sp>
      <p:sp>
        <p:nvSpPr>
          <p:cNvPr id="3" name="Shape 1"/>
          <p:cNvSpPr/>
          <p:nvPr/>
        </p:nvSpPr>
        <p:spPr>
          <a:xfrm>
            <a:off x="914400" y="0"/>
            <a:ext cx="0" cy="5143500"/>
          </a:xfrm>
          <a:prstGeom prst="line">
            <a:avLst/>
          </a:prstGeom>
          <a:noFill/>
          <a:ln w="3810">
            <a:solidFill>
              <a:srgbClr val="1A2942"/>
            </a:solidFill>
            <a:prstDash val="solid"/>
          </a:ln>
        </p:spPr>
        <p:txBody>
          <a:bodyPr/>
          <a:lstStyle/>
          <a:p>
            <a:endParaRPr lang="en-US"/>
          </a:p>
        </p:txBody>
      </p:sp>
      <p:sp>
        <p:nvSpPr>
          <p:cNvPr id="4" name="Shape 2"/>
          <p:cNvSpPr/>
          <p:nvPr/>
        </p:nvSpPr>
        <p:spPr>
          <a:xfrm>
            <a:off x="1828800" y="0"/>
            <a:ext cx="0" cy="5143500"/>
          </a:xfrm>
          <a:prstGeom prst="line">
            <a:avLst/>
          </a:prstGeom>
          <a:noFill/>
          <a:ln w="3810">
            <a:solidFill>
              <a:srgbClr val="1A2942"/>
            </a:solidFill>
            <a:prstDash val="solid"/>
          </a:ln>
        </p:spPr>
        <p:txBody>
          <a:bodyPr/>
          <a:lstStyle/>
          <a:p>
            <a:endParaRPr lang="en-US"/>
          </a:p>
        </p:txBody>
      </p:sp>
      <p:sp>
        <p:nvSpPr>
          <p:cNvPr id="5" name="Shape 3"/>
          <p:cNvSpPr/>
          <p:nvPr/>
        </p:nvSpPr>
        <p:spPr>
          <a:xfrm>
            <a:off x="2743200" y="0"/>
            <a:ext cx="0" cy="5143500"/>
          </a:xfrm>
          <a:prstGeom prst="line">
            <a:avLst/>
          </a:prstGeom>
          <a:noFill/>
          <a:ln w="3810">
            <a:solidFill>
              <a:srgbClr val="1A2942"/>
            </a:solidFill>
            <a:prstDash val="solid"/>
          </a:ln>
        </p:spPr>
        <p:txBody>
          <a:bodyPr/>
          <a:lstStyle/>
          <a:p>
            <a:endParaRPr lang="en-US"/>
          </a:p>
        </p:txBody>
      </p:sp>
      <p:sp>
        <p:nvSpPr>
          <p:cNvPr id="6" name="Shape 4"/>
          <p:cNvSpPr/>
          <p:nvPr/>
        </p:nvSpPr>
        <p:spPr>
          <a:xfrm>
            <a:off x="3657600" y="0"/>
            <a:ext cx="0" cy="5143500"/>
          </a:xfrm>
          <a:prstGeom prst="line">
            <a:avLst/>
          </a:prstGeom>
          <a:noFill/>
          <a:ln w="3810">
            <a:solidFill>
              <a:srgbClr val="1A2942"/>
            </a:solidFill>
            <a:prstDash val="solid"/>
          </a:ln>
        </p:spPr>
        <p:txBody>
          <a:bodyPr/>
          <a:lstStyle/>
          <a:p>
            <a:endParaRPr lang="en-US"/>
          </a:p>
        </p:txBody>
      </p:sp>
      <p:sp>
        <p:nvSpPr>
          <p:cNvPr id="7" name="Shape 5"/>
          <p:cNvSpPr/>
          <p:nvPr/>
        </p:nvSpPr>
        <p:spPr>
          <a:xfrm>
            <a:off x="4572000" y="0"/>
            <a:ext cx="0" cy="5143500"/>
          </a:xfrm>
          <a:prstGeom prst="line">
            <a:avLst/>
          </a:prstGeom>
          <a:noFill/>
          <a:ln w="3810">
            <a:solidFill>
              <a:srgbClr val="1A2942"/>
            </a:solidFill>
            <a:prstDash val="solid"/>
          </a:ln>
        </p:spPr>
        <p:txBody>
          <a:bodyPr/>
          <a:lstStyle/>
          <a:p>
            <a:endParaRPr lang="en-US"/>
          </a:p>
        </p:txBody>
      </p:sp>
      <p:sp>
        <p:nvSpPr>
          <p:cNvPr id="8" name="Shape 6"/>
          <p:cNvSpPr/>
          <p:nvPr/>
        </p:nvSpPr>
        <p:spPr>
          <a:xfrm>
            <a:off x="5486400" y="0"/>
            <a:ext cx="0" cy="5143500"/>
          </a:xfrm>
          <a:prstGeom prst="line">
            <a:avLst/>
          </a:prstGeom>
          <a:noFill/>
          <a:ln w="3810">
            <a:solidFill>
              <a:srgbClr val="1A2942"/>
            </a:solidFill>
            <a:prstDash val="solid"/>
          </a:ln>
        </p:spPr>
        <p:txBody>
          <a:bodyPr/>
          <a:lstStyle/>
          <a:p>
            <a:endParaRPr lang="en-US"/>
          </a:p>
        </p:txBody>
      </p:sp>
      <p:sp>
        <p:nvSpPr>
          <p:cNvPr id="9" name="Shape 7"/>
          <p:cNvSpPr/>
          <p:nvPr/>
        </p:nvSpPr>
        <p:spPr>
          <a:xfrm>
            <a:off x="6400800" y="0"/>
            <a:ext cx="0" cy="5143500"/>
          </a:xfrm>
          <a:prstGeom prst="line">
            <a:avLst/>
          </a:prstGeom>
          <a:noFill/>
          <a:ln w="3810">
            <a:solidFill>
              <a:srgbClr val="1A2942"/>
            </a:solidFill>
            <a:prstDash val="solid"/>
          </a:ln>
        </p:spPr>
        <p:txBody>
          <a:bodyPr/>
          <a:lstStyle/>
          <a:p>
            <a:endParaRPr lang="en-US"/>
          </a:p>
        </p:txBody>
      </p:sp>
      <p:sp>
        <p:nvSpPr>
          <p:cNvPr id="10" name="Shape 8"/>
          <p:cNvSpPr/>
          <p:nvPr/>
        </p:nvSpPr>
        <p:spPr>
          <a:xfrm>
            <a:off x="7315200" y="0"/>
            <a:ext cx="0" cy="5143500"/>
          </a:xfrm>
          <a:prstGeom prst="line">
            <a:avLst/>
          </a:prstGeom>
          <a:noFill/>
          <a:ln w="3810">
            <a:solidFill>
              <a:srgbClr val="1A2942"/>
            </a:solidFill>
            <a:prstDash val="solid"/>
          </a:ln>
        </p:spPr>
        <p:txBody>
          <a:bodyPr/>
          <a:lstStyle/>
          <a:p>
            <a:endParaRPr lang="en-US"/>
          </a:p>
        </p:txBody>
      </p:sp>
      <p:sp>
        <p:nvSpPr>
          <p:cNvPr id="11" name="Shape 9"/>
          <p:cNvSpPr/>
          <p:nvPr/>
        </p:nvSpPr>
        <p:spPr>
          <a:xfrm>
            <a:off x="8229600" y="0"/>
            <a:ext cx="0" cy="5143500"/>
          </a:xfrm>
          <a:prstGeom prst="line">
            <a:avLst/>
          </a:prstGeom>
          <a:noFill/>
          <a:ln w="3810">
            <a:solidFill>
              <a:srgbClr val="1A2942"/>
            </a:solidFill>
            <a:prstDash val="solid"/>
          </a:ln>
        </p:spPr>
        <p:txBody>
          <a:bodyPr/>
          <a:lstStyle/>
          <a:p>
            <a:endParaRPr lang="en-US"/>
          </a:p>
        </p:txBody>
      </p:sp>
      <p:sp>
        <p:nvSpPr>
          <p:cNvPr id="12" name="Shape 10"/>
          <p:cNvSpPr/>
          <p:nvPr/>
        </p:nvSpPr>
        <p:spPr>
          <a:xfrm>
            <a:off x="0" y="0"/>
            <a:ext cx="9144000" cy="0"/>
          </a:xfrm>
          <a:prstGeom prst="line">
            <a:avLst/>
          </a:prstGeom>
          <a:noFill/>
          <a:ln w="3810">
            <a:solidFill>
              <a:srgbClr val="1A2942"/>
            </a:solidFill>
            <a:prstDash val="solid"/>
          </a:ln>
        </p:spPr>
        <p:txBody>
          <a:bodyPr/>
          <a:lstStyle/>
          <a:p>
            <a:endParaRPr lang="en-US"/>
          </a:p>
        </p:txBody>
      </p:sp>
      <p:sp>
        <p:nvSpPr>
          <p:cNvPr id="13" name="Shape 11"/>
          <p:cNvSpPr/>
          <p:nvPr/>
        </p:nvSpPr>
        <p:spPr>
          <a:xfrm>
            <a:off x="0" y="914400"/>
            <a:ext cx="9144000" cy="0"/>
          </a:xfrm>
          <a:prstGeom prst="line">
            <a:avLst/>
          </a:prstGeom>
          <a:noFill/>
          <a:ln w="3810">
            <a:solidFill>
              <a:srgbClr val="1A2942"/>
            </a:solidFill>
            <a:prstDash val="solid"/>
          </a:ln>
        </p:spPr>
        <p:txBody>
          <a:bodyPr/>
          <a:lstStyle/>
          <a:p>
            <a:endParaRPr lang="en-US"/>
          </a:p>
        </p:txBody>
      </p:sp>
      <p:sp>
        <p:nvSpPr>
          <p:cNvPr id="14" name="Shape 12"/>
          <p:cNvSpPr/>
          <p:nvPr/>
        </p:nvSpPr>
        <p:spPr>
          <a:xfrm>
            <a:off x="0" y="1828800"/>
            <a:ext cx="9144000" cy="0"/>
          </a:xfrm>
          <a:prstGeom prst="line">
            <a:avLst/>
          </a:prstGeom>
          <a:noFill/>
          <a:ln w="3810">
            <a:solidFill>
              <a:srgbClr val="1A2942"/>
            </a:solidFill>
            <a:prstDash val="solid"/>
          </a:ln>
        </p:spPr>
        <p:txBody>
          <a:bodyPr/>
          <a:lstStyle/>
          <a:p>
            <a:endParaRPr lang="en-US"/>
          </a:p>
        </p:txBody>
      </p:sp>
      <p:sp>
        <p:nvSpPr>
          <p:cNvPr id="15" name="Shape 13"/>
          <p:cNvSpPr/>
          <p:nvPr/>
        </p:nvSpPr>
        <p:spPr>
          <a:xfrm>
            <a:off x="0" y="2743200"/>
            <a:ext cx="9144000" cy="0"/>
          </a:xfrm>
          <a:prstGeom prst="line">
            <a:avLst/>
          </a:prstGeom>
          <a:noFill/>
          <a:ln w="3810">
            <a:solidFill>
              <a:srgbClr val="1A2942"/>
            </a:solidFill>
            <a:prstDash val="solid"/>
          </a:ln>
        </p:spPr>
        <p:txBody>
          <a:bodyPr/>
          <a:lstStyle/>
          <a:p>
            <a:endParaRPr lang="en-US"/>
          </a:p>
        </p:txBody>
      </p:sp>
      <p:sp>
        <p:nvSpPr>
          <p:cNvPr id="16" name="Shape 14"/>
          <p:cNvSpPr/>
          <p:nvPr/>
        </p:nvSpPr>
        <p:spPr>
          <a:xfrm>
            <a:off x="0" y="3657600"/>
            <a:ext cx="9144000" cy="0"/>
          </a:xfrm>
          <a:prstGeom prst="line">
            <a:avLst/>
          </a:prstGeom>
          <a:noFill/>
          <a:ln w="3810">
            <a:solidFill>
              <a:srgbClr val="1A2942"/>
            </a:solidFill>
            <a:prstDash val="solid"/>
          </a:ln>
        </p:spPr>
        <p:txBody>
          <a:bodyPr/>
          <a:lstStyle/>
          <a:p>
            <a:endParaRPr lang="en-US"/>
          </a:p>
        </p:txBody>
      </p:sp>
      <p:sp>
        <p:nvSpPr>
          <p:cNvPr id="17" name="Shape 15"/>
          <p:cNvSpPr/>
          <p:nvPr/>
        </p:nvSpPr>
        <p:spPr>
          <a:xfrm>
            <a:off x="0" y="4572000"/>
            <a:ext cx="9144000" cy="0"/>
          </a:xfrm>
          <a:prstGeom prst="line">
            <a:avLst/>
          </a:prstGeom>
          <a:noFill/>
          <a:ln w="3810">
            <a:solidFill>
              <a:srgbClr val="1A2942"/>
            </a:solidFill>
            <a:prstDash val="solid"/>
          </a:ln>
        </p:spPr>
        <p:txBody>
          <a:bodyPr/>
          <a:lstStyle/>
          <a:p>
            <a:endParaRPr lang="en-US"/>
          </a:p>
        </p:txBody>
      </p:sp>
      <p:sp>
        <p:nvSpPr>
          <p:cNvPr id="18" name="Text 16"/>
          <p:cNvSpPr/>
          <p:nvPr/>
        </p:nvSpPr>
        <p:spPr>
          <a:xfrm>
            <a:off x="640080" y="1074420"/>
            <a:ext cx="7863840" cy="2011680"/>
          </a:xfrm>
          <a:prstGeom prst="rect">
            <a:avLst/>
          </a:prstGeom>
          <a:noFill/>
          <a:ln/>
        </p:spPr>
        <p:txBody>
          <a:bodyPr wrap="square" lIns="0" tIns="0" rIns="0" bIns="0" rtlCol="0" anchor="ctr"/>
          <a:lstStyle/>
          <a:p>
            <a:pPr marL="0" indent="0">
              <a:lnSpc>
                <a:spcPct val="95000"/>
              </a:lnSpc>
              <a:buNone/>
            </a:pPr>
            <a:r>
              <a:rPr lang="en-US" sz="4800" b="1" dirty="0">
                <a:solidFill>
                  <a:srgbClr val="FFFFFF"/>
                </a:solidFill>
                <a:latin typeface="Open Sauce One" pitchFamily="34" charset="0"/>
                <a:ea typeface="Open Sauce One" pitchFamily="34" charset="-122"/>
                <a:cs typeface="Open Sauce One" pitchFamily="34" charset="-120"/>
              </a:rPr>
              <a:t>GenAI Rollup </a:t>
            </a:r>
            <a:br>
              <a:rPr lang="en-US" sz="4800" b="1" dirty="0">
                <a:solidFill>
                  <a:srgbClr val="FFFFFF"/>
                </a:solidFill>
                <a:latin typeface="Open Sauce One" pitchFamily="34" charset="0"/>
                <a:ea typeface="Open Sauce One" pitchFamily="34" charset="-122"/>
                <a:cs typeface="Open Sauce One" pitchFamily="34" charset="-120"/>
              </a:rPr>
            </a:br>
            <a:r>
              <a:rPr lang="en-US" sz="2800" dirty="0">
                <a:solidFill>
                  <a:srgbClr val="FFFFFF"/>
                </a:solidFill>
                <a:latin typeface="Open Sauce One" pitchFamily="34" charset="0"/>
                <a:ea typeface="Open Sauce One" pitchFamily="34" charset="-122"/>
                <a:cs typeface="Open Sauce One" pitchFamily="34" charset="-120"/>
              </a:rPr>
              <a:t>Screening Framework</a:t>
            </a:r>
            <a:endParaRPr lang="en-US" sz="4800" dirty="0"/>
          </a:p>
        </p:txBody>
      </p:sp>
      <p:sp>
        <p:nvSpPr>
          <p:cNvPr id="19" name="Shape 17"/>
          <p:cNvSpPr/>
          <p:nvPr/>
        </p:nvSpPr>
        <p:spPr>
          <a:xfrm>
            <a:off x="640080" y="2834640"/>
            <a:ext cx="1097280" cy="45720"/>
          </a:xfrm>
          <a:prstGeom prst="rect">
            <a:avLst/>
          </a:prstGeom>
          <a:solidFill>
            <a:srgbClr val="E8563A"/>
          </a:solidFill>
          <a:ln/>
        </p:spPr>
        <p:txBody>
          <a:bodyPr/>
          <a:lstStyle/>
          <a:p>
            <a:endParaRPr lang="en-US"/>
          </a:p>
        </p:txBody>
      </p:sp>
      <p:sp>
        <p:nvSpPr>
          <p:cNvPr id="20" name="Text 18"/>
          <p:cNvSpPr/>
          <p:nvPr/>
        </p:nvSpPr>
        <p:spPr>
          <a:xfrm>
            <a:off x="640080" y="3017520"/>
            <a:ext cx="6400800" cy="731520"/>
          </a:xfrm>
          <a:prstGeom prst="rect">
            <a:avLst/>
          </a:prstGeom>
          <a:noFill/>
          <a:ln/>
        </p:spPr>
        <p:txBody>
          <a:bodyPr wrap="square" lIns="0" tIns="0" rIns="0" bIns="0" rtlCol="0" anchor="ctr"/>
          <a:lstStyle/>
          <a:p>
            <a:pPr marL="0" indent="0">
              <a:lnSpc>
                <a:spcPct val="130000"/>
              </a:lnSpc>
              <a:buNone/>
            </a:pPr>
            <a:r>
              <a:rPr lang="en-US" sz="1800" dirty="0">
                <a:solidFill>
                  <a:srgbClr val="C5CCD6"/>
                </a:solidFill>
                <a:latin typeface="Open Sauce One" pitchFamily="34" charset="0"/>
                <a:ea typeface="Open Sauce One" pitchFamily="34" charset="-122"/>
                <a:cs typeface="Open Sauce One" pitchFamily="34" charset="-120"/>
              </a:rPr>
              <a:t>Why the Best AI Acquisition Targets</a:t>
            </a:r>
            <a:endParaRPr lang="en-US" sz="1800" dirty="0"/>
          </a:p>
          <a:p>
            <a:pPr marL="0" indent="0">
              <a:lnSpc>
                <a:spcPct val="130000"/>
              </a:lnSpc>
              <a:buNone/>
            </a:pPr>
            <a:r>
              <a:rPr lang="en-US" sz="1800" dirty="0">
                <a:solidFill>
                  <a:srgbClr val="C5CCD6"/>
                </a:solidFill>
                <a:latin typeface="Open Sauce One" pitchFamily="34" charset="0"/>
                <a:ea typeface="Open Sauce One" pitchFamily="34" charset="-122"/>
                <a:cs typeface="Open Sauce One" pitchFamily="34" charset="-120"/>
              </a:rPr>
              <a:t>Are the Ones AI Cannot Replace</a:t>
            </a:r>
            <a:endParaRPr lang="en-US" sz="1800" dirty="0"/>
          </a:p>
        </p:txBody>
      </p:sp>
      <p:sp>
        <p:nvSpPr>
          <p:cNvPr id="21" name="Text 19"/>
          <p:cNvSpPr/>
          <p:nvPr/>
        </p:nvSpPr>
        <p:spPr>
          <a:xfrm>
            <a:off x="640080" y="3931920"/>
            <a:ext cx="4572000" cy="320040"/>
          </a:xfrm>
          <a:prstGeom prst="rect">
            <a:avLst/>
          </a:prstGeom>
          <a:noFill/>
          <a:ln/>
        </p:spPr>
        <p:txBody>
          <a:bodyPr wrap="square" lIns="0" tIns="0" rIns="0" bIns="0" rtlCol="0" anchor="ctr"/>
          <a:lstStyle/>
          <a:p>
            <a:pPr marL="0" indent="0">
              <a:buNone/>
            </a:pPr>
            <a:endParaRPr lang="en-US" sz="1200" dirty="0"/>
          </a:p>
        </p:txBody>
      </p:sp>
      <p:sp>
        <p:nvSpPr>
          <p:cNvPr id="22" name="Text 20"/>
          <p:cNvSpPr/>
          <p:nvPr/>
        </p:nvSpPr>
        <p:spPr>
          <a:xfrm>
            <a:off x="640080" y="4251960"/>
            <a:ext cx="4572000" cy="274320"/>
          </a:xfrm>
          <a:prstGeom prst="rect">
            <a:avLst/>
          </a:prstGeom>
          <a:noFill/>
          <a:ln/>
        </p:spPr>
        <p:txBody>
          <a:bodyPr wrap="square" lIns="0" tIns="0" rIns="0" bIns="0" rtlCol="0" anchor="ctr"/>
          <a:lstStyle/>
          <a:p>
            <a:pPr marL="0" indent="0">
              <a:buNone/>
            </a:pPr>
            <a:r>
              <a:rPr lang="en-US" sz="900" dirty="0">
                <a:solidFill>
                  <a:srgbClr val="5A6577"/>
                </a:solidFill>
                <a:latin typeface="Open Sauce One" pitchFamily="34" charset="0"/>
                <a:ea typeface="Open Sauce One" pitchFamily="34" charset="-122"/>
                <a:cs typeface="Open Sauce One" pitchFamily="34" charset="-120"/>
              </a:rPr>
              <a:t>February 2026  |  Working Draft  |  Not for Distribution</a:t>
            </a:r>
            <a:endParaRPr lang="en-US" sz="900" dirty="0"/>
          </a:p>
        </p:txBody>
      </p:sp>
      <p:pic>
        <p:nvPicPr>
          <p:cNvPr id="23" name="Picture 22" descr="Text&#10;&#10;Description automatically generated">
            <a:extLst>
              <a:ext uri="{FF2B5EF4-FFF2-40B4-BE49-F238E27FC236}">
                <a16:creationId xmlns:a16="http://schemas.microsoft.com/office/drawing/2014/main" id="{4985464B-E244-1D67-E367-15137B31D7AE}"/>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100000" contrast="100000"/>
                    </a14:imgEffect>
                  </a14:imgLayer>
                </a14:imgProps>
              </a:ext>
            </a:extLst>
          </a:blip>
          <a:stretch>
            <a:fillRect/>
          </a:stretch>
        </p:blipFill>
        <p:spPr>
          <a:xfrm>
            <a:off x="712573" y="574212"/>
            <a:ext cx="1710588" cy="26811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4828032"/>
            <a:ext cx="7772400" cy="274320"/>
          </a:xfrm>
          <a:prstGeom prst="rect">
            <a:avLst/>
          </a:prstGeom>
          <a:noFill/>
          <a:ln/>
        </p:spPr>
        <p:txBody>
          <a:bodyPr wrap="square" lIns="0" tIns="0" rIns="0" bIns="0" rtlCol="0" anchor="ctr"/>
          <a:lstStyle/>
          <a:p>
            <a:pPr marL="0" indent="0">
              <a:buNone/>
            </a:pPr>
            <a:r>
              <a:rPr lang="en-US" sz="800" dirty="0">
                <a:solidFill>
                  <a:srgbClr val="FFFFFF"/>
                </a:solidFill>
                <a:latin typeface="Open Sauce One" pitchFamily="34" charset="0"/>
                <a:ea typeface="Open Sauce One" pitchFamily="34" charset="-122"/>
                <a:cs typeface="Open Sauce One" pitchFamily="34" charset="-120"/>
              </a:rPr>
              <a:t>The Moat in the Machine  |  Dutchess Management  |  February 2026  |  Working Draft</a:t>
            </a:r>
            <a:endParaRPr lang="en-US" sz="800" dirty="0"/>
          </a:p>
        </p:txBody>
      </p:sp>
      <p:sp>
        <p:nvSpPr>
          <p:cNvPr id="3" name="Text 1"/>
          <p:cNvSpPr/>
          <p:nvPr/>
        </p:nvSpPr>
        <p:spPr>
          <a:xfrm>
            <a:off x="8412480" y="4828032"/>
            <a:ext cx="548640" cy="274320"/>
          </a:xfrm>
          <a:prstGeom prst="rect">
            <a:avLst/>
          </a:prstGeom>
          <a:noFill/>
          <a:ln/>
        </p:spPr>
        <p:txBody>
          <a:bodyPr wrap="square" lIns="0" tIns="0" rIns="0" bIns="0" rtlCol="0" anchor="ctr"/>
          <a:lstStyle/>
          <a:p>
            <a:pPr marL="0" indent="0" algn="r">
              <a:buNone/>
            </a:pPr>
            <a:endParaRPr lang="en-US" sz="900" dirty="0"/>
          </a:p>
        </p:txBody>
      </p:sp>
      <p:sp>
        <p:nvSpPr>
          <p:cNvPr id="4" name="Text 2"/>
          <p:cNvSpPr/>
          <p:nvPr/>
        </p:nvSpPr>
        <p:spPr>
          <a:xfrm>
            <a:off x="640080" y="320040"/>
            <a:ext cx="7863840" cy="457200"/>
          </a:xfrm>
          <a:prstGeom prst="rect">
            <a:avLst/>
          </a:prstGeom>
          <a:noFill/>
          <a:ln/>
        </p:spPr>
        <p:txBody>
          <a:bodyPr wrap="square" lIns="0" tIns="0" rIns="0" bIns="0" rtlCol="0" anchor="ctr"/>
          <a:lstStyle/>
          <a:p>
            <a:pPr marL="0" indent="0">
              <a:buNone/>
            </a:pPr>
            <a:r>
              <a:rPr lang="en-US" sz="1300" b="1" kern="0" spc="300" dirty="0">
                <a:solidFill>
                  <a:srgbClr val="E8563A"/>
                </a:solidFill>
                <a:latin typeface="Open Sauce One" pitchFamily="34" charset="0"/>
                <a:ea typeface="Open Sauce One" pitchFamily="34" charset="-122"/>
                <a:cs typeface="Open Sauce One" pitchFamily="34" charset="-120"/>
              </a:rPr>
              <a:t>THE PROBLEM</a:t>
            </a:r>
            <a:endParaRPr lang="en-US" sz="1300" dirty="0"/>
          </a:p>
        </p:txBody>
      </p:sp>
      <p:sp>
        <p:nvSpPr>
          <p:cNvPr id="5" name="Text 3"/>
          <p:cNvSpPr/>
          <p:nvPr/>
        </p:nvSpPr>
        <p:spPr>
          <a:xfrm>
            <a:off x="640080" y="777240"/>
            <a:ext cx="7315200" cy="365760"/>
          </a:xfrm>
          <a:prstGeom prst="rect">
            <a:avLst/>
          </a:prstGeom>
          <a:noFill/>
          <a:ln/>
        </p:spPr>
        <p:txBody>
          <a:bodyPr wrap="square" lIns="0" tIns="0" rIns="0" bIns="0" rtlCol="0" anchor="ctr"/>
          <a:lstStyle/>
          <a:p>
            <a:pPr marL="0" indent="0">
              <a:buNone/>
            </a:pPr>
            <a:r>
              <a:rPr lang="en-US" sz="1400" dirty="0">
                <a:solidFill>
                  <a:srgbClr val="0F1B2D"/>
                </a:solidFill>
                <a:latin typeface="Open Sauce One" pitchFamily="34" charset="0"/>
                <a:ea typeface="Open Sauce One" pitchFamily="34" charset="-122"/>
                <a:cs typeface="Open Sauce One" pitchFamily="34" charset="-120"/>
              </a:rPr>
              <a:t>PE assumes durable workflows and stable human labor models which support recurring revenue. AI challenges both</a:t>
            </a:r>
            <a:endParaRPr lang="en-US" sz="1400" dirty="0"/>
          </a:p>
        </p:txBody>
      </p:sp>
      <p:sp>
        <p:nvSpPr>
          <p:cNvPr id="6" name="Shape 4"/>
          <p:cNvSpPr/>
          <p:nvPr/>
        </p:nvSpPr>
        <p:spPr>
          <a:xfrm>
            <a:off x="640080" y="1463040"/>
            <a:ext cx="2560320" cy="21945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7" name="Shape 5"/>
          <p:cNvSpPr/>
          <p:nvPr/>
        </p:nvSpPr>
        <p:spPr>
          <a:xfrm>
            <a:off x="640080" y="1463040"/>
            <a:ext cx="2560320" cy="54864"/>
          </a:xfrm>
          <a:prstGeom prst="rect">
            <a:avLst/>
          </a:prstGeom>
          <a:solidFill>
            <a:srgbClr val="E8563A"/>
          </a:solidFill>
          <a:ln/>
        </p:spPr>
        <p:txBody>
          <a:bodyPr/>
          <a:lstStyle/>
          <a:p>
            <a:endParaRPr lang="en-US"/>
          </a:p>
        </p:txBody>
      </p:sp>
      <p:sp>
        <p:nvSpPr>
          <p:cNvPr id="8" name="Text 6"/>
          <p:cNvSpPr/>
          <p:nvPr/>
        </p:nvSpPr>
        <p:spPr>
          <a:xfrm>
            <a:off x="868680" y="1691640"/>
            <a:ext cx="2103120" cy="640080"/>
          </a:xfrm>
          <a:prstGeom prst="rect">
            <a:avLst/>
          </a:prstGeom>
          <a:noFill/>
          <a:ln/>
        </p:spPr>
        <p:txBody>
          <a:bodyPr wrap="square" lIns="0" tIns="0" rIns="0" bIns="0" rtlCol="0" anchor="ctr"/>
          <a:lstStyle/>
          <a:p>
            <a:pPr marL="0" indent="0">
              <a:buNone/>
            </a:pPr>
            <a:r>
              <a:rPr lang="en-US" sz="3600" b="1" dirty="0">
                <a:solidFill>
                  <a:srgbClr val="0F1B2D"/>
                </a:solidFill>
                <a:latin typeface="Open Sauce One" pitchFamily="34" charset="0"/>
                <a:ea typeface="Open Sauce One" pitchFamily="34" charset="-122"/>
                <a:cs typeface="Open Sauce One" pitchFamily="34" charset="-120"/>
              </a:rPr>
              <a:t>60–70%</a:t>
            </a:r>
            <a:endParaRPr lang="en-US" sz="3600" dirty="0"/>
          </a:p>
        </p:txBody>
      </p:sp>
      <p:sp>
        <p:nvSpPr>
          <p:cNvPr id="9" name="Text 7"/>
          <p:cNvSpPr/>
          <p:nvPr/>
        </p:nvSpPr>
        <p:spPr>
          <a:xfrm>
            <a:off x="868680" y="2377440"/>
            <a:ext cx="2103120" cy="548640"/>
          </a:xfrm>
          <a:prstGeom prst="rect">
            <a:avLst/>
          </a:prstGeom>
          <a:noFill/>
          <a:ln/>
        </p:spPr>
        <p:txBody>
          <a:bodyPr wrap="square" lIns="0" tIns="0" rIns="0" bIns="0" rtlCol="0" anchor="ctr"/>
          <a:lstStyle/>
          <a:p>
            <a:pPr marL="0" indent="0">
              <a:lnSpc>
                <a:spcPct val="130000"/>
              </a:lnSpc>
              <a:buNone/>
            </a:pPr>
            <a:r>
              <a:rPr lang="en-US" sz="1200" dirty="0">
                <a:solidFill>
                  <a:srgbClr val="5A6577"/>
                </a:solidFill>
                <a:latin typeface="Open Sauce One" pitchFamily="34" charset="0"/>
                <a:ea typeface="Open Sauce One" pitchFamily="34" charset="-122"/>
                <a:cs typeface="Open Sauce One" pitchFamily="34" charset="-120"/>
              </a:rPr>
              <a:t>of activities now</a:t>
            </a:r>
            <a:endParaRPr lang="en-US" sz="1200" dirty="0"/>
          </a:p>
          <a:p>
            <a:pPr marL="0" indent="0">
              <a:lnSpc>
                <a:spcPct val="130000"/>
              </a:lnSpc>
              <a:buNone/>
            </a:pPr>
            <a:r>
              <a:rPr lang="en-US" sz="1200" dirty="0">
                <a:solidFill>
                  <a:srgbClr val="5A6577"/>
                </a:solidFill>
                <a:latin typeface="Open Sauce One" pitchFamily="34" charset="0"/>
                <a:ea typeface="Open Sauce One" pitchFamily="34" charset="-122"/>
                <a:cs typeface="Open Sauce One" pitchFamily="34" charset="-120"/>
              </a:rPr>
              <a:t>automatable</a:t>
            </a:r>
            <a:endParaRPr lang="en-US" sz="1200" dirty="0"/>
          </a:p>
        </p:txBody>
      </p:sp>
      <p:sp>
        <p:nvSpPr>
          <p:cNvPr id="10" name="Text 8"/>
          <p:cNvSpPr/>
          <p:nvPr/>
        </p:nvSpPr>
        <p:spPr>
          <a:xfrm>
            <a:off x="868680" y="3154680"/>
            <a:ext cx="2103120" cy="274320"/>
          </a:xfrm>
          <a:prstGeom prst="rect">
            <a:avLst/>
          </a:prstGeom>
          <a:noFill/>
          <a:ln/>
        </p:spPr>
        <p:txBody>
          <a:bodyPr wrap="square" lIns="0" tIns="0" rIns="0" bIns="0" rtlCol="0" anchor="ctr"/>
          <a:lstStyle/>
          <a:p>
            <a:pPr marL="0" indent="0">
              <a:buNone/>
            </a:pPr>
            <a:r>
              <a:rPr lang="en-US" sz="800" i="1" dirty="0">
                <a:solidFill>
                  <a:srgbClr val="8B95A5"/>
                </a:solidFill>
                <a:latin typeface="Open Sauce One" pitchFamily="34" charset="0"/>
                <a:ea typeface="Open Sauce One" pitchFamily="34" charset="-122"/>
                <a:cs typeface="Open Sauce One" pitchFamily="34" charset="-120"/>
              </a:rPr>
              <a:t>McKinsey, 2023</a:t>
            </a:r>
            <a:endParaRPr lang="en-US" sz="800" dirty="0"/>
          </a:p>
        </p:txBody>
      </p:sp>
      <p:sp>
        <p:nvSpPr>
          <p:cNvPr id="11" name="Shape 9"/>
          <p:cNvSpPr/>
          <p:nvPr/>
        </p:nvSpPr>
        <p:spPr>
          <a:xfrm>
            <a:off x="3474720" y="1463040"/>
            <a:ext cx="2560320" cy="21945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2" name="Shape 10"/>
          <p:cNvSpPr/>
          <p:nvPr/>
        </p:nvSpPr>
        <p:spPr>
          <a:xfrm>
            <a:off x="3474720" y="1463040"/>
            <a:ext cx="2560320" cy="54864"/>
          </a:xfrm>
          <a:prstGeom prst="rect">
            <a:avLst/>
          </a:prstGeom>
          <a:solidFill>
            <a:srgbClr val="E8563A"/>
          </a:solidFill>
          <a:ln/>
        </p:spPr>
        <p:txBody>
          <a:bodyPr/>
          <a:lstStyle/>
          <a:p>
            <a:endParaRPr lang="en-US"/>
          </a:p>
        </p:txBody>
      </p:sp>
      <p:sp>
        <p:nvSpPr>
          <p:cNvPr id="13" name="Text 11"/>
          <p:cNvSpPr/>
          <p:nvPr/>
        </p:nvSpPr>
        <p:spPr>
          <a:xfrm>
            <a:off x="3703320" y="1691640"/>
            <a:ext cx="2103120" cy="640080"/>
          </a:xfrm>
          <a:prstGeom prst="rect">
            <a:avLst/>
          </a:prstGeom>
          <a:noFill/>
          <a:ln/>
        </p:spPr>
        <p:txBody>
          <a:bodyPr wrap="square" lIns="0" tIns="0" rIns="0" bIns="0" rtlCol="0" anchor="ctr"/>
          <a:lstStyle/>
          <a:p>
            <a:pPr marL="0" indent="0">
              <a:buNone/>
            </a:pPr>
            <a:r>
              <a:rPr lang="en-US" sz="3600" b="1" dirty="0">
                <a:solidFill>
                  <a:srgbClr val="0F1B2D"/>
                </a:solidFill>
                <a:latin typeface="Open Sauce One" pitchFamily="34" charset="0"/>
                <a:ea typeface="Open Sauce One" pitchFamily="34" charset="-122"/>
                <a:cs typeface="Open Sauce One" pitchFamily="34" charset="-120"/>
              </a:rPr>
              <a:t>57%</a:t>
            </a:r>
            <a:endParaRPr lang="en-US" sz="3600" dirty="0"/>
          </a:p>
        </p:txBody>
      </p:sp>
      <p:sp>
        <p:nvSpPr>
          <p:cNvPr id="14" name="Text 12"/>
          <p:cNvSpPr/>
          <p:nvPr/>
        </p:nvSpPr>
        <p:spPr>
          <a:xfrm>
            <a:off x="3703320" y="2377440"/>
            <a:ext cx="2103120" cy="548640"/>
          </a:xfrm>
          <a:prstGeom prst="rect">
            <a:avLst/>
          </a:prstGeom>
          <a:noFill/>
          <a:ln/>
        </p:spPr>
        <p:txBody>
          <a:bodyPr wrap="square" lIns="0" tIns="0" rIns="0" bIns="0" rtlCol="0" anchor="ctr"/>
          <a:lstStyle/>
          <a:p>
            <a:pPr marL="0" indent="0">
              <a:lnSpc>
                <a:spcPct val="130000"/>
              </a:lnSpc>
              <a:buNone/>
            </a:pPr>
            <a:r>
              <a:rPr lang="en-US" sz="1200" dirty="0">
                <a:solidFill>
                  <a:srgbClr val="5A6577"/>
                </a:solidFill>
                <a:latin typeface="Open Sauce One" pitchFamily="34" charset="0"/>
                <a:ea typeface="Open Sauce One" pitchFamily="34" charset="-122"/>
                <a:cs typeface="Open Sauce One" pitchFamily="34" charset="-120"/>
              </a:rPr>
              <a:t>of occupations have</a:t>
            </a:r>
            <a:endParaRPr lang="en-US" sz="1200" dirty="0"/>
          </a:p>
          <a:p>
            <a:pPr marL="0" indent="0">
              <a:lnSpc>
                <a:spcPct val="130000"/>
              </a:lnSpc>
              <a:buNone/>
            </a:pPr>
            <a:r>
              <a:rPr lang="en-US" sz="1200" dirty="0">
                <a:solidFill>
                  <a:srgbClr val="5A6577"/>
                </a:solidFill>
                <a:latin typeface="Open Sauce One" pitchFamily="34" charset="0"/>
                <a:ea typeface="Open Sauce One" pitchFamily="34" charset="-122"/>
                <a:cs typeface="Open Sauce One" pitchFamily="34" charset="-120"/>
              </a:rPr>
              <a:t>≥25% task exposure</a:t>
            </a:r>
            <a:endParaRPr lang="en-US" sz="1200" dirty="0"/>
          </a:p>
        </p:txBody>
      </p:sp>
      <p:sp>
        <p:nvSpPr>
          <p:cNvPr id="15" name="Text 13"/>
          <p:cNvSpPr/>
          <p:nvPr/>
        </p:nvSpPr>
        <p:spPr>
          <a:xfrm>
            <a:off x="3703320" y="3154680"/>
            <a:ext cx="2103120" cy="274320"/>
          </a:xfrm>
          <a:prstGeom prst="rect">
            <a:avLst/>
          </a:prstGeom>
          <a:noFill/>
          <a:ln/>
        </p:spPr>
        <p:txBody>
          <a:bodyPr wrap="square" lIns="0" tIns="0" rIns="0" bIns="0" rtlCol="0" anchor="ctr"/>
          <a:lstStyle/>
          <a:p>
            <a:pPr marL="0" indent="0">
              <a:buNone/>
            </a:pPr>
            <a:r>
              <a:rPr lang="en-US" sz="800" i="1" dirty="0">
                <a:solidFill>
                  <a:srgbClr val="8B95A5"/>
                </a:solidFill>
                <a:latin typeface="Open Sauce One" pitchFamily="34" charset="0"/>
                <a:ea typeface="Open Sauce One" pitchFamily="34" charset="-122"/>
                <a:cs typeface="Open Sauce One" pitchFamily="34" charset="-120"/>
              </a:rPr>
              <a:t>Anthropic, 2025</a:t>
            </a:r>
            <a:endParaRPr lang="en-US" sz="800" dirty="0"/>
          </a:p>
        </p:txBody>
      </p:sp>
      <p:sp>
        <p:nvSpPr>
          <p:cNvPr id="16" name="Shape 14"/>
          <p:cNvSpPr/>
          <p:nvPr/>
        </p:nvSpPr>
        <p:spPr>
          <a:xfrm>
            <a:off x="6309360" y="1463040"/>
            <a:ext cx="2560320" cy="219456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7" name="Shape 15"/>
          <p:cNvSpPr/>
          <p:nvPr/>
        </p:nvSpPr>
        <p:spPr>
          <a:xfrm>
            <a:off x="6309360" y="1463040"/>
            <a:ext cx="2560320" cy="54864"/>
          </a:xfrm>
          <a:prstGeom prst="rect">
            <a:avLst/>
          </a:prstGeom>
          <a:solidFill>
            <a:srgbClr val="E8563A"/>
          </a:solidFill>
          <a:ln/>
        </p:spPr>
        <p:txBody>
          <a:bodyPr/>
          <a:lstStyle/>
          <a:p>
            <a:endParaRPr lang="en-US"/>
          </a:p>
        </p:txBody>
      </p:sp>
      <p:sp>
        <p:nvSpPr>
          <p:cNvPr id="18" name="Text 16"/>
          <p:cNvSpPr/>
          <p:nvPr/>
        </p:nvSpPr>
        <p:spPr>
          <a:xfrm>
            <a:off x="6537960" y="1691640"/>
            <a:ext cx="2103120" cy="640080"/>
          </a:xfrm>
          <a:prstGeom prst="rect">
            <a:avLst/>
          </a:prstGeom>
          <a:noFill/>
          <a:ln/>
        </p:spPr>
        <p:txBody>
          <a:bodyPr wrap="square" lIns="0" tIns="0" rIns="0" bIns="0" rtlCol="0" anchor="ctr"/>
          <a:lstStyle/>
          <a:p>
            <a:pPr marL="0" indent="0">
              <a:buNone/>
            </a:pPr>
            <a:r>
              <a:rPr lang="en-US" sz="3600" b="1" dirty="0">
                <a:solidFill>
                  <a:srgbClr val="0F1B2D"/>
                </a:solidFill>
                <a:latin typeface="Open Sauce One" pitchFamily="34" charset="0"/>
                <a:ea typeface="Open Sauce One" pitchFamily="34" charset="-122"/>
                <a:cs typeface="Open Sauce One" pitchFamily="34" charset="-120"/>
              </a:rPr>
              <a:t>300M</a:t>
            </a:r>
            <a:endParaRPr lang="en-US" sz="3600" dirty="0"/>
          </a:p>
        </p:txBody>
      </p:sp>
      <p:sp>
        <p:nvSpPr>
          <p:cNvPr id="19" name="Text 17"/>
          <p:cNvSpPr/>
          <p:nvPr/>
        </p:nvSpPr>
        <p:spPr>
          <a:xfrm>
            <a:off x="6537960" y="2377440"/>
            <a:ext cx="2103120" cy="548640"/>
          </a:xfrm>
          <a:prstGeom prst="rect">
            <a:avLst/>
          </a:prstGeom>
          <a:noFill/>
          <a:ln/>
        </p:spPr>
        <p:txBody>
          <a:bodyPr wrap="square" lIns="0" tIns="0" rIns="0" bIns="0" rtlCol="0" anchor="ctr"/>
          <a:lstStyle/>
          <a:p>
            <a:pPr marL="0" indent="0">
              <a:lnSpc>
                <a:spcPct val="130000"/>
              </a:lnSpc>
              <a:buNone/>
            </a:pPr>
            <a:r>
              <a:rPr lang="en-US" sz="1200" dirty="0">
                <a:solidFill>
                  <a:srgbClr val="5A6577"/>
                </a:solidFill>
                <a:latin typeface="Open Sauce One" pitchFamily="34" charset="0"/>
                <a:ea typeface="Open Sauce One" pitchFamily="34" charset="-122"/>
                <a:cs typeface="Open Sauce One" pitchFamily="34" charset="-120"/>
              </a:rPr>
              <a:t>jobs globally face</a:t>
            </a:r>
            <a:endParaRPr lang="en-US" sz="1200" dirty="0"/>
          </a:p>
          <a:p>
            <a:pPr marL="0" indent="0">
              <a:lnSpc>
                <a:spcPct val="130000"/>
              </a:lnSpc>
              <a:buNone/>
            </a:pPr>
            <a:r>
              <a:rPr lang="en-US" sz="1200" dirty="0">
                <a:solidFill>
                  <a:srgbClr val="5A6577"/>
                </a:solidFill>
                <a:latin typeface="Open Sauce One" pitchFamily="34" charset="0"/>
                <a:ea typeface="Open Sauce One" pitchFamily="34" charset="-122"/>
                <a:cs typeface="Open Sauce One" pitchFamily="34" charset="-120"/>
              </a:rPr>
              <a:t>AI exposure</a:t>
            </a:r>
            <a:endParaRPr lang="en-US" sz="1200" dirty="0"/>
          </a:p>
        </p:txBody>
      </p:sp>
      <p:sp>
        <p:nvSpPr>
          <p:cNvPr id="20" name="Text 18"/>
          <p:cNvSpPr/>
          <p:nvPr/>
        </p:nvSpPr>
        <p:spPr>
          <a:xfrm>
            <a:off x="6537960" y="3154680"/>
            <a:ext cx="2103120" cy="274320"/>
          </a:xfrm>
          <a:prstGeom prst="rect">
            <a:avLst/>
          </a:prstGeom>
          <a:noFill/>
          <a:ln/>
        </p:spPr>
        <p:txBody>
          <a:bodyPr wrap="square" lIns="0" tIns="0" rIns="0" bIns="0" rtlCol="0" anchor="ctr"/>
          <a:lstStyle/>
          <a:p>
            <a:pPr marL="0" indent="0">
              <a:buNone/>
            </a:pPr>
            <a:r>
              <a:rPr lang="en-US" sz="800" i="1" dirty="0">
                <a:solidFill>
                  <a:srgbClr val="8B95A5"/>
                </a:solidFill>
                <a:latin typeface="Open Sauce One" pitchFamily="34" charset="0"/>
                <a:ea typeface="Open Sauce One" pitchFamily="34" charset="-122"/>
                <a:cs typeface="Open Sauce One" pitchFamily="34" charset="-120"/>
              </a:rPr>
              <a:t>Goldman Sachs, 2023</a:t>
            </a:r>
            <a:endParaRPr lang="en-US" sz="800" dirty="0"/>
          </a:p>
        </p:txBody>
      </p:sp>
      <p:sp>
        <p:nvSpPr>
          <p:cNvPr id="21" name="Shape 19"/>
          <p:cNvSpPr/>
          <p:nvPr/>
        </p:nvSpPr>
        <p:spPr>
          <a:xfrm>
            <a:off x="640080" y="3977640"/>
            <a:ext cx="7863840" cy="777240"/>
          </a:xfrm>
          <a:prstGeom prst="rect">
            <a:avLst/>
          </a:prstGeom>
          <a:solidFill>
            <a:srgbClr val="0F1B2D"/>
          </a:solidFill>
          <a:ln/>
        </p:spPr>
        <p:txBody>
          <a:bodyPr/>
          <a:lstStyle/>
          <a:p>
            <a:endParaRPr lang="en-US"/>
          </a:p>
        </p:txBody>
      </p:sp>
      <p:sp>
        <p:nvSpPr>
          <p:cNvPr id="22" name="Text 20"/>
          <p:cNvSpPr/>
          <p:nvPr/>
        </p:nvSpPr>
        <p:spPr>
          <a:xfrm>
            <a:off x="914400" y="4087368"/>
            <a:ext cx="7315200" cy="457200"/>
          </a:xfrm>
          <a:prstGeom prst="rect">
            <a:avLst/>
          </a:prstGeom>
          <a:noFill/>
          <a:ln/>
        </p:spPr>
        <p:txBody>
          <a:bodyPr wrap="square" lIns="0" tIns="0" rIns="0" bIns="0" rtlCol="0" anchor="ctr"/>
          <a:lstStyle/>
          <a:p>
            <a:pPr marL="0" indent="0">
              <a:buNone/>
            </a:pPr>
            <a:r>
              <a:rPr lang="en-US" sz="1250" b="1" dirty="0">
                <a:solidFill>
                  <a:srgbClr val="FFFFFF"/>
                </a:solidFill>
                <a:latin typeface="Open Sauce One" pitchFamily="34" charset="0"/>
                <a:ea typeface="Open Sauce One" pitchFamily="34" charset="-122"/>
                <a:cs typeface="Open Sauce One" pitchFamily="34" charset="-120"/>
              </a:rPr>
              <a:t>The question is not WHETHER AI affects these vendors and businesses. It’s which ones capture the value. AI reduces the cost of cognitive work and generalizes across tasks, vertical software risks margin compression and feature commoditization.</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4828032"/>
            <a:ext cx="7772400" cy="274320"/>
          </a:xfrm>
          <a:prstGeom prst="rect">
            <a:avLst/>
          </a:prstGeom>
          <a:noFill/>
          <a:ln/>
        </p:spPr>
        <p:txBody>
          <a:bodyPr wrap="square" lIns="0" tIns="0" rIns="0" bIns="0" rtlCol="0" anchor="ctr"/>
          <a:lstStyle/>
          <a:p>
            <a:pPr marL="0" indent="0">
              <a:buNone/>
            </a:pPr>
            <a:r>
              <a:rPr lang="en-US" sz="800" dirty="0">
                <a:solidFill>
                  <a:srgbClr val="FFFFFF"/>
                </a:solidFill>
                <a:latin typeface="Open Sauce One" pitchFamily="34" charset="0"/>
                <a:ea typeface="Open Sauce One" pitchFamily="34" charset="-122"/>
                <a:cs typeface="Open Sauce One" pitchFamily="34" charset="-120"/>
              </a:rPr>
              <a:t>The Moat in the Machine  |  Dutchess Management  |  February 2026  |  Working Draft</a:t>
            </a:r>
            <a:endParaRPr lang="en-US" sz="800" dirty="0"/>
          </a:p>
        </p:txBody>
      </p:sp>
      <p:sp>
        <p:nvSpPr>
          <p:cNvPr id="3" name="Text 1"/>
          <p:cNvSpPr/>
          <p:nvPr/>
        </p:nvSpPr>
        <p:spPr>
          <a:xfrm>
            <a:off x="8412480" y="4828032"/>
            <a:ext cx="548640" cy="274320"/>
          </a:xfrm>
          <a:prstGeom prst="rect">
            <a:avLst/>
          </a:prstGeom>
          <a:noFill/>
          <a:ln/>
        </p:spPr>
        <p:txBody>
          <a:bodyPr wrap="square" lIns="0" tIns="0" rIns="0" bIns="0" rtlCol="0" anchor="ctr"/>
          <a:lstStyle/>
          <a:p>
            <a:pPr marL="0" indent="0" algn="r">
              <a:buNone/>
            </a:pPr>
            <a:endParaRPr lang="en-US" sz="900" dirty="0"/>
          </a:p>
        </p:txBody>
      </p:sp>
      <p:sp>
        <p:nvSpPr>
          <p:cNvPr id="4" name="Text 2"/>
          <p:cNvSpPr/>
          <p:nvPr/>
        </p:nvSpPr>
        <p:spPr>
          <a:xfrm>
            <a:off x="640080" y="274320"/>
            <a:ext cx="7863840" cy="365760"/>
          </a:xfrm>
          <a:prstGeom prst="rect">
            <a:avLst/>
          </a:prstGeom>
          <a:noFill/>
          <a:ln/>
        </p:spPr>
        <p:txBody>
          <a:bodyPr wrap="square" lIns="0" tIns="0" rIns="0" bIns="0" rtlCol="0" anchor="ctr"/>
          <a:lstStyle/>
          <a:p>
            <a:pPr marL="0" indent="0">
              <a:buNone/>
            </a:pPr>
            <a:r>
              <a:rPr lang="en-US" sz="1300" b="1" kern="0" spc="300" dirty="0">
                <a:solidFill>
                  <a:srgbClr val="E8563A"/>
                </a:solidFill>
                <a:latin typeface="Open Sauce One" pitchFamily="34" charset="0"/>
                <a:ea typeface="Open Sauce One" pitchFamily="34" charset="-122"/>
                <a:cs typeface="Open Sauce One" pitchFamily="34" charset="-120"/>
              </a:rPr>
              <a:t>APPROACH</a:t>
            </a:r>
            <a:endParaRPr lang="en-US" sz="1300" dirty="0"/>
          </a:p>
        </p:txBody>
      </p:sp>
      <p:sp>
        <p:nvSpPr>
          <p:cNvPr id="5" name="Text 3"/>
          <p:cNvSpPr/>
          <p:nvPr/>
        </p:nvSpPr>
        <p:spPr>
          <a:xfrm>
            <a:off x="640080" y="868680"/>
            <a:ext cx="2103120" cy="457200"/>
          </a:xfrm>
          <a:prstGeom prst="rect">
            <a:avLst/>
          </a:prstGeom>
          <a:noFill/>
          <a:ln/>
        </p:spPr>
        <p:txBody>
          <a:bodyPr wrap="square" lIns="0" tIns="0" rIns="0" bIns="0" rtlCol="0" anchor="ctr"/>
          <a:lstStyle/>
          <a:p>
            <a:pPr marL="0" indent="0">
              <a:buNone/>
            </a:pPr>
            <a:r>
              <a:rPr lang="en-US" sz="1100" b="1" dirty="0">
                <a:solidFill>
                  <a:srgbClr val="0F1B2D"/>
                </a:solidFill>
                <a:latin typeface="Open Sauce One" pitchFamily="34" charset="0"/>
                <a:ea typeface="Open Sauce One" pitchFamily="34" charset="-122"/>
                <a:cs typeface="Open Sauce One" pitchFamily="34" charset="-120"/>
              </a:rPr>
              <a:t>Core evidence</a:t>
            </a:r>
            <a:endParaRPr lang="en-US" sz="1100" dirty="0"/>
          </a:p>
        </p:txBody>
      </p:sp>
      <p:sp>
        <p:nvSpPr>
          <p:cNvPr id="6" name="Text 4"/>
          <p:cNvSpPr/>
          <p:nvPr/>
        </p:nvSpPr>
        <p:spPr>
          <a:xfrm>
            <a:off x="2834640" y="868680"/>
            <a:ext cx="5852160" cy="457200"/>
          </a:xfrm>
          <a:prstGeom prst="rect">
            <a:avLst/>
          </a:prstGeom>
          <a:noFill/>
          <a:ln/>
        </p:spPr>
        <p:txBody>
          <a:bodyPr wrap="square" lIns="0" tIns="0" rIns="0" bIns="0" rtlCol="0" anchor="ctr"/>
          <a:lstStyle/>
          <a:p>
            <a:pPr marL="0" indent="0">
              <a:lnSpc>
                <a:spcPct val="125000"/>
              </a:lnSpc>
              <a:buNone/>
            </a:pPr>
            <a:r>
              <a:rPr lang="en-US" sz="1050" dirty="0">
                <a:solidFill>
                  <a:srgbClr val="5A6577"/>
                </a:solidFill>
                <a:latin typeface="Open Sauce One" pitchFamily="34" charset="0"/>
                <a:ea typeface="Open Sauce One" pitchFamily="34" charset="-122"/>
                <a:cs typeface="Open Sauce One" pitchFamily="34" charset="-120"/>
              </a:rPr>
              <a:t>16 hand-validated verticals + 121-vertical LLM-scored extension</a:t>
            </a:r>
            <a:endParaRPr lang="en-US" sz="1050" dirty="0"/>
          </a:p>
        </p:txBody>
      </p:sp>
      <p:sp>
        <p:nvSpPr>
          <p:cNvPr id="7" name="Shape 5"/>
          <p:cNvSpPr/>
          <p:nvPr/>
        </p:nvSpPr>
        <p:spPr>
          <a:xfrm>
            <a:off x="640080" y="1399032"/>
            <a:ext cx="7863840" cy="0"/>
          </a:xfrm>
          <a:prstGeom prst="line">
            <a:avLst/>
          </a:prstGeom>
          <a:noFill/>
          <a:ln w="3810">
            <a:solidFill>
              <a:srgbClr val="C5CCD6"/>
            </a:solidFill>
            <a:prstDash val="solid"/>
          </a:ln>
        </p:spPr>
        <p:txBody>
          <a:bodyPr/>
          <a:lstStyle/>
          <a:p>
            <a:endParaRPr lang="en-US"/>
          </a:p>
        </p:txBody>
      </p:sp>
      <p:sp>
        <p:nvSpPr>
          <p:cNvPr id="8" name="Text 6"/>
          <p:cNvSpPr/>
          <p:nvPr/>
        </p:nvSpPr>
        <p:spPr>
          <a:xfrm>
            <a:off x="640080" y="1490472"/>
            <a:ext cx="2103120" cy="457200"/>
          </a:xfrm>
          <a:prstGeom prst="rect">
            <a:avLst/>
          </a:prstGeom>
          <a:noFill/>
          <a:ln/>
        </p:spPr>
        <p:txBody>
          <a:bodyPr wrap="square" lIns="0" tIns="0" rIns="0" bIns="0" rtlCol="0" anchor="ctr"/>
          <a:lstStyle/>
          <a:p>
            <a:pPr marL="0" indent="0">
              <a:buNone/>
            </a:pPr>
            <a:r>
              <a:rPr lang="en-US" sz="1100" b="1" dirty="0">
                <a:solidFill>
                  <a:srgbClr val="0F1B2D"/>
                </a:solidFill>
                <a:latin typeface="Open Sauce One" pitchFamily="34" charset="0"/>
                <a:ea typeface="Open Sauce One" pitchFamily="34" charset="-122"/>
                <a:cs typeface="Open Sauce One" pitchFamily="34" charset="-120"/>
              </a:rPr>
              <a:t>Statistical methods</a:t>
            </a:r>
            <a:endParaRPr lang="en-US" sz="1100" dirty="0"/>
          </a:p>
        </p:txBody>
      </p:sp>
      <p:sp>
        <p:nvSpPr>
          <p:cNvPr id="9" name="Text 7"/>
          <p:cNvSpPr/>
          <p:nvPr/>
        </p:nvSpPr>
        <p:spPr>
          <a:xfrm>
            <a:off x="2834640" y="1490472"/>
            <a:ext cx="5852160" cy="457200"/>
          </a:xfrm>
          <a:prstGeom prst="rect">
            <a:avLst/>
          </a:prstGeom>
          <a:noFill/>
          <a:ln/>
        </p:spPr>
        <p:txBody>
          <a:bodyPr wrap="square" lIns="0" tIns="0" rIns="0" bIns="0" rtlCol="0" anchor="ctr"/>
          <a:lstStyle/>
          <a:p>
            <a:pPr marL="0" indent="0">
              <a:lnSpc>
                <a:spcPct val="125000"/>
              </a:lnSpc>
              <a:buNone/>
            </a:pPr>
            <a:r>
              <a:rPr lang="en-US" sz="1050" dirty="0">
                <a:solidFill>
                  <a:srgbClr val="5A6577"/>
                </a:solidFill>
                <a:latin typeface="Open Sauce One" pitchFamily="34" charset="0"/>
                <a:ea typeface="Open Sauce One" pitchFamily="34" charset="-122"/>
                <a:cs typeface="Open Sauce One" pitchFamily="34" charset="-120"/>
              </a:rPr>
              <a:t>Spearman ρ (rank-order, outlier-robust). Permutation, LOO, bootstrap CI, partial correlations</a:t>
            </a:r>
            <a:endParaRPr lang="en-US" sz="1050" dirty="0"/>
          </a:p>
        </p:txBody>
      </p:sp>
      <p:sp>
        <p:nvSpPr>
          <p:cNvPr id="10" name="Shape 8"/>
          <p:cNvSpPr/>
          <p:nvPr/>
        </p:nvSpPr>
        <p:spPr>
          <a:xfrm>
            <a:off x="640080" y="2020824"/>
            <a:ext cx="7863840" cy="0"/>
          </a:xfrm>
          <a:prstGeom prst="line">
            <a:avLst/>
          </a:prstGeom>
          <a:noFill/>
          <a:ln w="3810">
            <a:solidFill>
              <a:srgbClr val="C5CCD6"/>
            </a:solidFill>
            <a:prstDash val="solid"/>
          </a:ln>
        </p:spPr>
        <p:txBody>
          <a:bodyPr/>
          <a:lstStyle/>
          <a:p>
            <a:endParaRPr lang="en-US"/>
          </a:p>
        </p:txBody>
      </p:sp>
      <p:sp>
        <p:nvSpPr>
          <p:cNvPr id="11" name="Text 9"/>
          <p:cNvSpPr/>
          <p:nvPr/>
        </p:nvSpPr>
        <p:spPr>
          <a:xfrm>
            <a:off x="640080" y="2112264"/>
            <a:ext cx="2103120" cy="457200"/>
          </a:xfrm>
          <a:prstGeom prst="rect">
            <a:avLst/>
          </a:prstGeom>
          <a:noFill/>
          <a:ln/>
        </p:spPr>
        <p:txBody>
          <a:bodyPr wrap="square" lIns="0" tIns="0" rIns="0" bIns="0" rtlCol="0" anchor="ctr"/>
          <a:lstStyle/>
          <a:p>
            <a:pPr marL="0" indent="0">
              <a:buNone/>
            </a:pPr>
            <a:r>
              <a:rPr lang="en-US" sz="1100" b="1" dirty="0">
                <a:solidFill>
                  <a:srgbClr val="0F1B2D"/>
                </a:solidFill>
                <a:latin typeface="Open Sauce One" pitchFamily="34" charset="0"/>
                <a:ea typeface="Open Sauce One" pitchFamily="34" charset="-122"/>
                <a:cs typeface="Open Sauce One" pitchFamily="34" charset="-120"/>
              </a:rPr>
              <a:t>Market validation</a:t>
            </a:r>
            <a:endParaRPr lang="en-US" sz="1100" dirty="0"/>
          </a:p>
        </p:txBody>
      </p:sp>
      <p:sp>
        <p:nvSpPr>
          <p:cNvPr id="12" name="Text 10"/>
          <p:cNvSpPr/>
          <p:nvPr/>
        </p:nvSpPr>
        <p:spPr>
          <a:xfrm>
            <a:off x="2834640" y="2112264"/>
            <a:ext cx="5852160" cy="457200"/>
          </a:xfrm>
          <a:prstGeom prst="rect">
            <a:avLst/>
          </a:prstGeom>
          <a:noFill/>
          <a:ln/>
        </p:spPr>
        <p:txBody>
          <a:bodyPr wrap="square" lIns="0" tIns="0" rIns="0" bIns="0" rtlCol="0" anchor="ctr"/>
          <a:lstStyle/>
          <a:p>
            <a:pPr marL="0" indent="0">
              <a:lnSpc>
                <a:spcPct val="125000"/>
              </a:lnSpc>
              <a:buNone/>
            </a:pPr>
            <a:r>
              <a:rPr lang="en-US" sz="1050" dirty="0">
                <a:solidFill>
                  <a:srgbClr val="5A6577"/>
                </a:solidFill>
                <a:latin typeface="Open Sauce One" pitchFamily="34" charset="0"/>
                <a:ea typeface="Open Sauce One" pitchFamily="34" charset="-122"/>
                <a:cs typeface="Open Sauce One" pitchFamily="34" charset="-120"/>
              </a:rPr>
              <a:t>264 equities across 21 proxy baskets. Returns Mar 2023–Feb 2026. Beta-adjusted vs. SPY, IWM, XLI</a:t>
            </a:r>
            <a:endParaRPr lang="en-US" sz="1050" dirty="0"/>
          </a:p>
        </p:txBody>
      </p:sp>
      <p:sp>
        <p:nvSpPr>
          <p:cNvPr id="13" name="Shape 11"/>
          <p:cNvSpPr/>
          <p:nvPr/>
        </p:nvSpPr>
        <p:spPr>
          <a:xfrm>
            <a:off x="640080" y="2642616"/>
            <a:ext cx="7863840" cy="0"/>
          </a:xfrm>
          <a:prstGeom prst="line">
            <a:avLst/>
          </a:prstGeom>
          <a:noFill/>
          <a:ln w="3810">
            <a:solidFill>
              <a:srgbClr val="C5CCD6"/>
            </a:solidFill>
            <a:prstDash val="solid"/>
          </a:ln>
        </p:spPr>
        <p:txBody>
          <a:bodyPr/>
          <a:lstStyle/>
          <a:p>
            <a:endParaRPr lang="en-US"/>
          </a:p>
        </p:txBody>
      </p:sp>
      <p:sp>
        <p:nvSpPr>
          <p:cNvPr id="14" name="Text 12"/>
          <p:cNvSpPr/>
          <p:nvPr/>
        </p:nvSpPr>
        <p:spPr>
          <a:xfrm>
            <a:off x="640080" y="2734056"/>
            <a:ext cx="2103120" cy="457200"/>
          </a:xfrm>
          <a:prstGeom prst="rect">
            <a:avLst/>
          </a:prstGeom>
          <a:noFill/>
          <a:ln/>
        </p:spPr>
        <p:txBody>
          <a:bodyPr wrap="square" lIns="0" tIns="0" rIns="0" bIns="0" rtlCol="0" anchor="ctr"/>
          <a:lstStyle/>
          <a:p>
            <a:pPr marL="0" indent="0">
              <a:buNone/>
            </a:pPr>
            <a:r>
              <a:rPr lang="en-US" sz="1100" b="1" dirty="0">
                <a:solidFill>
                  <a:srgbClr val="0F1B2D"/>
                </a:solidFill>
                <a:latin typeface="Open Sauce One" pitchFamily="34" charset="0"/>
                <a:ea typeface="Open Sauce One" pitchFamily="34" charset="-122"/>
                <a:cs typeface="Open Sauce One" pitchFamily="34" charset="-120"/>
              </a:rPr>
              <a:t>Validation stack</a:t>
            </a:r>
            <a:endParaRPr lang="en-US" sz="1100" dirty="0"/>
          </a:p>
        </p:txBody>
      </p:sp>
      <p:sp>
        <p:nvSpPr>
          <p:cNvPr id="15" name="Text 13"/>
          <p:cNvSpPr/>
          <p:nvPr/>
        </p:nvSpPr>
        <p:spPr>
          <a:xfrm>
            <a:off x="2834640" y="2734056"/>
            <a:ext cx="5852160" cy="457200"/>
          </a:xfrm>
          <a:prstGeom prst="rect">
            <a:avLst/>
          </a:prstGeom>
          <a:noFill/>
          <a:ln/>
        </p:spPr>
        <p:txBody>
          <a:bodyPr wrap="square" lIns="0" tIns="0" rIns="0" bIns="0" rtlCol="0" anchor="ctr"/>
          <a:lstStyle/>
          <a:p>
            <a:pPr marL="0" indent="0">
              <a:lnSpc>
                <a:spcPct val="125000"/>
              </a:lnSpc>
              <a:buNone/>
            </a:pPr>
            <a:r>
              <a:rPr lang="en-US" sz="1050" dirty="0">
                <a:solidFill>
                  <a:srgbClr val="5A6577"/>
                </a:solidFill>
                <a:latin typeface="Open Sauce One" pitchFamily="34" charset="0"/>
                <a:ea typeface="Open Sauce One" pitchFamily="34" charset="-122"/>
                <a:cs typeface="Open Sauce One" pitchFamily="34" charset="-120"/>
              </a:rPr>
              <a:t>7 methods: permutation, LOO, threshold sensitivity, panel DID, Webb index, expanded N=21, 121-vertical replication</a:t>
            </a:r>
            <a:endParaRPr lang="en-US" sz="1050" dirty="0"/>
          </a:p>
        </p:txBody>
      </p:sp>
      <p:sp>
        <p:nvSpPr>
          <p:cNvPr id="16" name="Shape 14"/>
          <p:cNvSpPr/>
          <p:nvPr/>
        </p:nvSpPr>
        <p:spPr>
          <a:xfrm>
            <a:off x="640080" y="3264408"/>
            <a:ext cx="7863840" cy="0"/>
          </a:xfrm>
          <a:prstGeom prst="line">
            <a:avLst/>
          </a:prstGeom>
          <a:noFill/>
          <a:ln w="3810">
            <a:solidFill>
              <a:srgbClr val="C5CCD6"/>
            </a:solidFill>
            <a:prstDash val="solid"/>
          </a:ln>
        </p:spPr>
        <p:txBody>
          <a:bodyPr/>
          <a:lstStyle/>
          <a:p>
            <a:endParaRPr lang="en-US"/>
          </a:p>
        </p:txBody>
      </p:sp>
      <p:sp>
        <p:nvSpPr>
          <p:cNvPr id="17" name="Text 15"/>
          <p:cNvSpPr/>
          <p:nvPr/>
        </p:nvSpPr>
        <p:spPr>
          <a:xfrm>
            <a:off x="640080" y="3355848"/>
            <a:ext cx="2103120" cy="457200"/>
          </a:xfrm>
          <a:prstGeom prst="rect">
            <a:avLst/>
          </a:prstGeom>
          <a:noFill/>
          <a:ln/>
        </p:spPr>
        <p:txBody>
          <a:bodyPr wrap="square" lIns="0" tIns="0" rIns="0" bIns="0" rtlCol="0" anchor="ctr"/>
          <a:lstStyle/>
          <a:p>
            <a:pPr marL="0" indent="0">
              <a:buNone/>
            </a:pPr>
            <a:r>
              <a:rPr lang="en-US" sz="1100" b="1" dirty="0">
                <a:solidFill>
                  <a:srgbClr val="0F1B2D"/>
                </a:solidFill>
                <a:latin typeface="Open Sauce One" pitchFamily="34" charset="0"/>
                <a:ea typeface="Open Sauce One" pitchFamily="34" charset="-122"/>
                <a:cs typeface="Open Sauce One" pitchFamily="34" charset="-120"/>
              </a:rPr>
              <a:t>Confidence</a:t>
            </a:r>
            <a:endParaRPr lang="en-US" sz="1100" dirty="0"/>
          </a:p>
        </p:txBody>
      </p:sp>
      <p:sp>
        <p:nvSpPr>
          <p:cNvPr id="18" name="Text 16"/>
          <p:cNvSpPr/>
          <p:nvPr/>
        </p:nvSpPr>
        <p:spPr>
          <a:xfrm>
            <a:off x="2834640" y="3355848"/>
            <a:ext cx="5852160" cy="457200"/>
          </a:xfrm>
          <a:prstGeom prst="rect">
            <a:avLst/>
          </a:prstGeom>
          <a:noFill/>
          <a:ln/>
        </p:spPr>
        <p:txBody>
          <a:bodyPr wrap="square" lIns="0" tIns="0" rIns="0" bIns="0" rtlCol="0" anchor="ctr"/>
          <a:lstStyle/>
          <a:p>
            <a:pPr marL="0" indent="0">
              <a:lnSpc>
                <a:spcPct val="125000"/>
              </a:lnSpc>
              <a:buNone/>
            </a:pPr>
            <a:r>
              <a:rPr lang="en-US" sz="1050" dirty="0">
                <a:solidFill>
                  <a:srgbClr val="5A6577"/>
                </a:solidFill>
                <a:latin typeface="Open Sauce One" pitchFamily="34" charset="0"/>
                <a:ea typeface="Open Sauce One" pitchFamily="34" charset="-122"/>
                <a:cs typeface="Open Sauce One" pitchFamily="34" charset="-120"/>
              </a:rPr>
              <a:t>Highest for directionality (moats + automation interaction). Lower for exact point estimates and MOIC</a:t>
            </a:r>
            <a:endParaRPr lang="en-US" sz="1050" dirty="0"/>
          </a:p>
        </p:txBody>
      </p:sp>
      <p:sp>
        <p:nvSpPr>
          <p:cNvPr id="19" name="Shape 17"/>
          <p:cNvSpPr/>
          <p:nvPr/>
        </p:nvSpPr>
        <p:spPr>
          <a:xfrm>
            <a:off x="640080" y="3886200"/>
            <a:ext cx="7863840" cy="0"/>
          </a:xfrm>
          <a:prstGeom prst="line">
            <a:avLst/>
          </a:prstGeom>
          <a:noFill/>
          <a:ln w="3810">
            <a:solidFill>
              <a:srgbClr val="C5CCD6"/>
            </a:solidFill>
            <a:prstDash val="solid"/>
          </a:ln>
        </p:spPr>
        <p:txBody>
          <a:bodyPr/>
          <a:lstStyle/>
          <a:p>
            <a:endParaRPr lang="en-US"/>
          </a:p>
        </p:txBody>
      </p:sp>
      <p:sp>
        <p:nvSpPr>
          <p:cNvPr id="20" name="Text 18"/>
          <p:cNvSpPr/>
          <p:nvPr/>
        </p:nvSpPr>
        <p:spPr>
          <a:xfrm>
            <a:off x="640080" y="3977640"/>
            <a:ext cx="2103120" cy="457200"/>
          </a:xfrm>
          <a:prstGeom prst="rect">
            <a:avLst/>
          </a:prstGeom>
          <a:noFill/>
          <a:ln/>
        </p:spPr>
        <p:txBody>
          <a:bodyPr wrap="square" lIns="0" tIns="0" rIns="0" bIns="0" rtlCol="0" anchor="ctr"/>
          <a:lstStyle/>
          <a:p>
            <a:pPr marL="0" indent="0">
              <a:buNone/>
            </a:pPr>
            <a:r>
              <a:rPr lang="en-US" sz="1100" b="1" dirty="0">
                <a:solidFill>
                  <a:srgbClr val="0F1B2D"/>
                </a:solidFill>
                <a:latin typeface="Open Sauce One" pitchFamily="34" charset="0"/>
                <a:ea typeface="Open Sauce One" pitchFamily="34" charset="-122"/>
                <a:cs typeface="Open Sauce One" pitchFamily="34" charset="-120"/>
              </a:rPr>
              <a:t>Known limitation</a:t>
            </a:r>
            <a:endParaRPr lang="en-US" sz="1100" dirty="0"/>
          </a:p>
        </p:txBody>
      </p:sp>
      <p:sp>
        <p:nvSpPr>
          <p:cNvPr id="21" name="Text 19"/>
          <p:cNvSpPr/>
          <p:nvPr/>
        </p:nvSpPr>
        <p:spPr>
          <a:xfrm>
            <a:off x="2834640" y="3977640"/>
            <a:ext cx="5852160" cy="457200"/>
          </a:xfrm>
          <a:prstGeom prst="rect">
            <a:avLst/>
          </a:prstGeom>
          <a:noFill/>
          <a:ln/>
        </p:spPr>
        <p:txBody>
          <a:bodyPr wrap="square" lIns="0" tIns="0" rIns="0" bIns="0" rtlCol="0" anchor="ctr"/>
          <a:lstStyle/>
          <a:p>
            <a:pPr marL="0" indent="0">
              <a:lnSpc>
                <a:spcPct val="125000"/>
              </a:lnSpc>
              <a:buNone/>
            </a:pPr>
            <a:r>
              <a:rPr lang="en-US" sz="1050" dirty="0">
                <a:solidFill>
                  <a:srgbClr val="5A6577"/>
                </a:solidFill>
                <a:latin typeface="Open Sauce One" pitchFamily="34" charset="0"/>
                <a:ea typeface="Open Sauce One" pitchFamily="34" charset="-122"/>
                <a:cs typeface="Open Sauce One" pitchFamily="34" charset="-120"/>
              </a:rPr>
              <a:t>Hand calibrated N=16 is small. Interaction effect (ρ = 0.826) substantially stronger than EBITDA margin alone (ρ = 0.521)</a:t>
            </a:r>
            <a:endParaRPr lang="en-US" sz="1050" dirty="0"/>
          </a:p>
        </p:txBody>
      </p:sp>
      <p:sp>
        <p:nvSpPr>
          <p:cNvPr id="24" name="Text 3">
            <a:extLst>
              <a:ext uri="{FF2B5EF4-FFF2-40B4-BE49-F238E27FC236}">
                <a16:creationId xmlns:a16="http://schemas.microsoft.com/office/drawing/2014/main" id="{301408B1-85EA-2724-64A5-A23B4201ADBD}"/>
              </a:ext>
            </a:extLst>
          </p:cNvPr>
          <p:cNvSpPr/>
          <p:nvPr/>
        </p:nvSpPr>
        <p:spPr>
          <a:xfrm>
            <a:off x="579523" y="548641"/>
            <a:ext cx="7315200" cy="365760"/>
          </a:xfrm>
          <a:prstGeom prst="rect">
            <a:avLst/>
          </a:prstGeom>
          <a:noFill/>
          <a:ln/>
        </p:spPr>
        <p:txBody>
          <a:bodyPr wrap="square" lIns="0" tIns="0" rIns="0" bIns="0" rtlCol="0" anchor="ctr"/>
          <a:lstStyle/>
          <a:p>
            <a:pPr marL="0" indent="0">
              <a:buNone/>
            </a:pPr>
            <a:r>
              <a:rPr lang="en-US" sz="1400" dirty="0">
                <a:solidFill>
                  <a:srgbClr val="0F1B2D"/>
                </a:solidFill>
                <a:latin typeface="Open Sauce One" pitchFamily="34" charset="0"/>
                <a:ea typeface="Open Sauce One" pitchFamily="34" charset="-122"/>
                <a:cs typeface="Open Sauce One" pitchFamily="34" charset="-120"/>
              </a:rPr>
              <a:t>A Factor-Based Screen for GenAI Disruption Risk and </a:t>
            </a:r>
            <a:r>
              <a:rPr lang="en-US" sz="1400" dirty="0" err="1">
                <a:solidFill>
                  <a:srgbClr val="0F1B2D"/>
                </a:solidFill>
                <a:latin typeface="Open Sauce One" pitchFamily="34" charset="0"/>
                <a:ea typeface="Open Sauce One" pitchFamily="34" charset="-122"/>
                <a:cs typeface="Open Sauce One" pitchFamily="34" charset="-120"/>
              </a:rPr>
              <a:t>Upsid</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4828032"/>
            <a:ext cx="7772400" cy="274320"/>
          </a:xfrm>
          <a:prstGeom prst="rect">
            <a:avLst/>
          </a:prstGeom>
          <a:noFill/>
          <a:ln/>
        </p:spPr>
        <p:txBody>
          <a:bodyPr wrap="square" lIns="0" tIns="0" rIns="0" bIns="0" rtlCol="0" anchor="ctr"/>
          <a:lstStyle/>
          <a:p>
            <a:pPr marL="0" indent="0">
              <a:buNone/>
            </a:pPr>
            <a:r>
              <a:rPr lang="en-US" sz="800" dirty="0">
                <a:solidFill>
                  <a:srgbClr val="FFFFFF"/>
                </a:solidFill>
                <a:latin typeface="Open Sauce One" pitchFamily="34" charset="0"/>
                <a:ea typeface="Open Sauce One" pitchFamily="34" charset="-122"/>
                <a:cs typeface="Open Sauce One" pitchFamily="34" charset="-120"/>
              </a:rPr>
              <a:t>The Moat in the Machine  |  Dutchess Management  |  February 2026  |  Working Draft</a:t>
            </a:r>
            <a:endParaRPr lang="en-US" sz="800" dirty="0"/>
          </a:p>
        </p:txBody>
      </p:sp>
      <p:sp>
        <p:nvSpPr>
          <p:cNvPr id="3" name="Text 1"/>
          <p:cNvSpPr/>
          <p:nvPr/>
        </p:nvSpPr>
        <p:spPr>
          <a:xfrm>
            <a:off x="8412480" y="4878324"/>
            <a:ext cx="548640" cy="274320"/>
          </a:xfrm>
          <a:prstGeom prst="rect">
            <a:avLst/>
          </a:prstGeom>
          <a:noFill/>
          <a:ln/>
        </p:spPr>
        <p:txBody>
          <a:bodyPr wrap="square" lIns="0" tIns="0" rIns="0" bIns="0" rtlCol="0" anchor="ctr"/>
          <a:lstStyle/>
          <a:p>
            <a:pPr marL="0" indent="0" algn="r">
              <a:buNone/>
            </a:pPr>
            <a:endParaRPr lang="en-US" sz="900" dirty="0"/>
          </a:p>
        </p:txBody>
      </p:sp>
      <p:sp>
        <p:nvSpPr>
          <p:cNvPr id="4" name="Text 2"/>
          <p:cNvSpPr/>
          <p:nvPr/>
        </p:nvSpPr>
        <p:spPr>
          <a:xfrm>
            <a:off x="640080" y="274320"/>
            <a:ext cx="7863840" cy="365760"/>
          </a:xfrm>
          <a:prstGeom prst="rect">
            <a:avLst/>
          </a:prstGeom>
          <a:noFill/>
          <a:ln/>
        </p:spPr>
        <p:txBody>
          <a:bodyPr wrap="square" lIns="0" tIns="0" rIns="0" bIns="0" rtlCol="0" anchor="ctr"/>
          <a:lstStyle/>
          <a:p>
            <a:pPr marL="0" indent="0">
              <a:buNone/>
            </a:pPr>
            <a:r>
              <a:rPr lang="en-US" sz="1300" b="1" kern="0" spc="300" dirty="0">
                <a:solidFill>
                  <a:srgbClr val="E8563A"/>
                </a:solidFill>
                <a:latin typeface="Open Sauce One" pitchFamily="34" charset="0"/>
                <a:ea typeface="Open Sauce One" pitchFamily="34" charset="-122"/>
                <a:cs typeface="Open Sauce One" pitchFamily="34" charset="-120"/>
              </a:rPr>
              <a:t>PLAYBOOK BY QUADRANT</a:t>
            </a:r>
            <a:endParaRPr lang="en-US" sz="1300" dirty="0"/>
          </a:p>
        </p:txBody>
      </p:sp>
      <p:sp>
        <p:nvSpPr>
          <p:cNvPr id="5" name="Text 3"/>
          <p:cNvSpPr/>
          <p:nvPr/>
        </p:nvSpPr>
        <p:spPr>
          <a:xfrm>
            <a:off x="640080" y="658368"/>
            <a:ext cx="7315200" cy="274320"/>
          </a:xfrm>
          <a:prstGeom prst="rect">
            <a:avLst/>
          </a:prstGeom>
          <a:noFill/>
          <a:ln/>
        </p:spPr>
        <p:txBody>
          <a:bodyPr wrap="square" lIns="0" tIns="0" rIns="0" bIns="0" rtlCol="0" anchor="ctr"/>
          <a:lstStyle/>
          <a:p>
            <a:pPr marL="0" indent="0">
              <a:buNone/>
            </a:pPr>
            <a:r>
              <a:rPr lang="en-US" sz="1200" dirty="0">
                <a:solidFill>
                  <a:srgbClr val="5A6577"/>
                </a:solidFill>
                <a:latin typeface="Open Sauce One" pitchFamily="34" charset="0"/>
                <a:ea typeface="Open Sauce One" pitchFamily="34" charset="-122"/>
                <a:cs typeface="Open Sauce One" pitchFamily="34" charset="-120"/>
              </a:rPr>
              <a:t>These quadrants emerged naturally from data.</a:t>
            </a:r>
            <a:endParaRPr lang="en-US" sz="1200" dirty="0"/>
          </a:p>
        </p:txBody>
      </p:sp>
      <p:sp>
        <p:nvSpPr>
          <p:cNvPr id="6" name="Shape 4"/>
          <p:cNvSpPr/>
          <p:nvPr/>
        </p:nvSpPr>
        <p:spPr>
          <a:xfrm>
            <a:off x="640080" y="1193292"/>
            <a:ext cx="3749040" cy="146304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7" name="Shape 5"/>
          <p:cNvSpPr/>
          <p:nvPr/>
        </p:nvSpPr>
        <p:spPr>
          <a:xfrm>
            <a:off x="640080" y="1193292"/>
            <a:ext cx="64008" cy="1463040"/>
          </a:xfrm>
          <a:prstGeom prst="rect">
            <a:avLst/>
          </a:prstGeom>
          <a:solidFill>
            <a:srgbClr val="2E7D32"/>
          </a:solidFill>
          <a:ln/>
        </p:spPr>
        <p:txBody>
          <a:bodyPr/>
          <a:lstStyle/>
          <a:p>
            <a:endParaRPr lang="en-US"/>
          </a:p>
        </p:txBody>
      </p:sp>
      <p:sp>
        <p:nvSpPr>
          <p:cNvPr id="8" name="Text 6"/>
          <p:cNvSpPr/>
          <p:nvPr/>
        </p:nvSpPr>
        <p:spPr>
          <a:xfrm>
            <a:off x="914400" y="1330452"/>
            <a:ext cx="1828800" cy="274320"/>
          </a:xfrm>
          <a:prstGeom prst="rect">
            <a:avLst/>
          </a:prstGeom>
          <a:noFill/>
          <a:ln/>
        </p:spPr>
        <p:txBody>
          <a:bodyPr wrap="square" lIns="0" tIns="0" rIns="0" bIns="0" rtlCol="0" anchor="ctr"/>
          <a:lstStyle/>
          <a:p>
            <a:pPr marL="0" indent="0">
              <a:buNone/>
            </a:pPr>
            <a:r>
              <a:rPr lang="en-US" sz="1000" b="1" dirty="0">
                <a:solidFill>
                  <a:srgbClr val="2E7D32"/>
                </a:solidFill>
                <a:latin typeface="Open Sauce One" pitchFamily="34" charset="0"/>
                <a:ea typeface="Open Sauce One" pitchFamily="34" charset="-122"/>
                <a:cs typeface="Open Sauce One" pitchFamily="34" charset="-120"/>
              </a:rPr>
              <a:t>BUY</a:t>
            </a:r>
            <a:endParaRPr lang="en-US" sz="1000" dirty="0"/>
          </a:p>
        </p:txBody>
      </p:sp>
      <p:sp>
        <p:nvSpPr>
          <p:cNvPr id="9" name="Text 7"/>
          <p:cNvSpPr/>
          <p:nvPr/>
        </p:nvSpPr>
        <p:spPr>
          <a:xfrm>
            <a:off x="914400" y="1604772"/>
            <a:ext cx="3200400" cy="320040"/>
          </a:xfrm>
          <a:prstGeom prst="rect">
            <a:avLst/>
          </a:prstGeom>
          <a:noFill/>
          <a:ln/>
        </p:spPr>
        <p:txBody>
          <a:bodyPr wrap="square" lIns="0" tIns="0" rIns="0" bIns="0" rtlCol="0" anchor="ctr"/>
          <a:lstStyle/>
          <a:p>
            <a:pPr marL="0" indent="0">
              <a:buNone/>
            </a:pPr>
            <a:r>
              <a:rPr lang="en-US" sz="1600" b="1" dirty="0">
                <a:solidFill>
                  <a:srgbClr val="0F1B2D"/>
                </a:solidFill>
                <a:latin typeface="Open Sauce One" pitchFamily="34" charset="0"/>
                <a:ea typeface="Open Sauce One" pitchFamily="34" charset="-122"/>
                <a:cs typeface="Open Sauce One" pitchFamily="34" charset="-120"/>
              </a:rPr>
              <a:t>AI GOLDMINE</a:t>
            </a:r>
            <a:endParaRPr lang="en-US" sz="1600" dirty="0"/>
          </a:p>
        </p:txBody>
      </p:sp>
      <p:sp>
        <p:nvSpPr>
          <p:cNvPr id="10" name="Text 8"/>
          <p:cNvSpPr/>
          <p:nvPr/>
        </p:nvSpPr>
        <p:spPr>
          <a:xfrm>
            <a:off x="914400" y="1970532"/>
            <a:ext cx="3200400" cy="548640"/>
          </a:xfrm>
          <a:prstGeom prst="rect">
            <a:avLst/>
          </a:prstGeom>
          <a:noFill/>
          <a:ln/>
        </p:spPr>
        <p:txBody>
          <a:bodyPr wrap="square" lIns="0" tIns="0" rIns="0" bIns="0" rtlCol="0" anchor="ctr"/>
          <a:lstStyle/>
          <a:p>
            <a:pPr marL="0" indent="0">
              <a:lnSpc>
                <a:spcPct val="135000"/>
              </a:lnSpc>
              <a:buNone/>
            </a:pPr>
            <a:r>
              <a:rPr lang="en-US" sz="1100" b="1" dirty="0">
                <a:solidFill>
                  <a:srgbClr val="5A6577"/>
                </a:solidFill>
                <a:latin typeface="Open Sauce One" pitchFamily="34" charset="0"/>
                <a:ea typeface="Open Sauce One" pitchFamily="34" charset="-122"/>
                <a:cs typeface="Open Sauce One" pitchFamily="34" charset="-120"/>
              </a:rPr>
              <a:t>High Auto, High Moat</a:t>
            </a:r>
            <a:br>
              <a:rPr lang="en-US" sz="1100" dirty="0">
                <a:solidFill>
                  <a:srgbClr val="5A6577"/>
                </a:solidFill>
                <a:latin typeface="Open Sauce One" pitchFamily="34" charset="0"/>
                <a:ea typeface="Open Sauce One" pitchFamily="34" charset="-122"/>
                <a:cs typeface="Open Sauce One" pitchFamily="34" charset="-120"/>
              </a:rPr>
            </a:br>
            <a:r>
              <a:rPr lang="en-US" sz="1100" dirty="0">
                <a:solidFill>
                  <a:srgbClr val="5A6577"/>
                </a:solidFill>
                <a:latin typeface="Open Sauce One" pitchFamily="34" charset="0"/>
                <a:ea typeface="Open Sauce One" pitchFamily="34" charset="-122"/>
                <a:cs typeface="Open Sauce One" pitchFamily="34" charset="-120"/>
              </a:rPr>
              <a:t>Deploy AI behind a defensible moat.</a:t>
            </a:r>
            <a:endParaRPr lang="en-US" sz="1100" dirty="0"/>
          </a:p>
          <a:p>
            <a:pPr marL="0" indent="0">
              <a:lnSpc>
                <a:spcPct val="135000"/>
              </a:lnSpc>
              <a:buNone/>
            </a:pPr>
            <a:r>
              <a:rPr lang="en-US" sz="1100" dirty="0">
                <a:solidFill>
                  <a:srgbClr val="5A6577"/>
                </a:solidFill>
                <a:latin typeface="Open Sauce One" pitchFamily="34" charset="0"/>
                <a:ea typeface="Open Sauce One" pitchFamily="34" charset="-122"/>
                <a:cs typeface="Open Sauce One" pitchFamily="34" charset="-120"/>
              </a:rPr>
              <a:t>Retain 80–90% of margin gains.</a:t>
            </a:r>
            <a:endParaRPr lang="en-US" sz="1100" dirty="0"/>
          </a:p>
        </p:txBody>
      </p:sp>
      <p:sp>
        <p:nvSpPr>
          <p:cNvPr id="11" name="Shape 9"/>
          <p:cNvSpPr/>
          <p:nvPr/>
        </p:nvSpPr>
        <p:spPr>
          <a:xfrm>
            <a:off x="4754880" y="1193292"/>
            <a:ext cx="3749040" cy="146304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2" name="Shape 10"/>
          <p:cNvSpPr/>
          <p:nvPr/>
        </p:nvSpPr>
        <p:spPr>
          <a:xfrm>
            <a:off x="4754880" y="1193292"/>
            <a:ext cx="64008" cy="1463040"/>
          </a:xfrm>
          <a:prstGeom prst="rect">
            <a:avLst/>
          </a:prstGeom>
          <a:solidFill>
            <a:srgbClr val="1565C0"/>
          </a:solidFill>
          <a:ln/>
        </p:spPr>
        <p:txBody>
          <a:bodyPr/>
          <a:lstStyle/>
          <a:p>
            <a:endParaRPr lang="en-US"/>
          </a:p>
        </p:txBody>
      </p:sp>
      <p:sp>
        <p:nvSpPr>
          <p:cNvPr id="13" name="Text 11"/>
          <p:cNvSpPr/>
          <p:nvPr/>
        </p:nvSpPr>
        <p:spPr>
          <a:xfrm>
            <a:off x="5029200" y="1330452"/>
            <a:ext cx="1828800" cy="274320"/>
          </a:xfrm>
          <a:prstGeom prst="rect">
            <a:avLst/>
          </a:prstGeom>
          <a:noFill/>
          <a:ln/>
        </p:spPr>
        <p:txBody>
          <a:bodyPr wrap="square" lIns="0" tIns="0" rIns="0" bIns="0" rtlCol="0" anchor="ctr"/>
          <a:lstStyle/>
          <a:p>
            <a:pPr marL="0" indent="0">
              <a:buNone/>
            </a:pPr>
            <a:r>
              <a:rPr lang="en-US" sz="1000" b="1" dirty="0">
                <a:solidFill>
                  <a:srgbClr val="1565C0"/>
                </a:solidFill>
                <a:latin typeface="Open Sauce One" pitchFamily="34" charset="0"/>
                <a:ea typeface="Open Sauce One" pitchFamily="34" charset="-122"/>
                <a:cs typeface="Open Sauce One" pitchFamily="34" charset="-120"/>
              </a:rPr>
              <a:t>HOLD / BUILD</a:t>
            </a:r>
            <a:endParaRPr lang="en-US" sz="1000" dirty="0"/>
          </a:p>
        </p:txBody>
      </p:sp>
      <p:sp>
        <p:nvSpPr>
          <p:cNvPr id="14" name="Text 12"/>
          <p:cNvSpPr/>
          <p:nvPr/>
        </p:nvSpPr>
        <p:spPr>
          <a:xfrm>
            <a:off x="5029200" y="1604772"/>
            <a:ext cx="3200400" cy="320040"/>
          </a:xfrm>
          <a:prstGeom prst="rect">
            <a:avLst/>
          </a:prstGeom>
          <a:noFill/>
          <a:ln/>
        </p:spPr>
        <p:txBody>
          <a:bodyPr wrap="square" lIns="0" tIns="0" rIns="0" bIns="0" rtlCol="0" anchor="ctr"/>
          <a:lstStyle/>
          <a:p>
            <a:pPr marL="0" indent="0">
              <a:buNone/>
            </a:pPr>
            <a:r>
              <a:rPr lang="en-US" sz="1600" b="1" dirty="0">
                <a:solidFill>
                  <a:srgbClr val="0F1B2D"/>
                </a:solidFill>
                <a:latin typeface="Open Sauce One" pitchFamily="34" charset="0"/>
                <a:ea typeface="Open Sauce One" pitchFamily="34" charset="-122"/>
                <a:cs typeface="Open Sauce One" pitchFamily="34" charset="-120"/>
              </a:rPr>
              <a:t>CONTRARIAN BET</a:t>
            </a:r>
            <a:endParaRPr lang="en-US" sz="1600" dirty="0"/>
          </a:p>
        </p:txBody>
      </p:sp>
      <p:sp>
        <p:nvSpPr>
          <p:cNvPr id="15" name="Text 13"/>
          <p:cNvSpPr/>
          <p:nvPr/>
        </p:nvSpPr>
        <p:spPr>
          <a:xfrm>
            <a:off x="5029200" y="1970532"/>
            <a:ext cx="3200400" cy="548640"/>
          </a:xfrm>
          <a:prstGeom prst="rect">
            <a:avLst/>
          </a:prstGeom>
          <a:noFill/>
          <a:ln/>
        </p:spPr>
        <p:txBody>
          <a:bodyPr wrap="square" lIns="0" tIns="0" rIns="0" bIns="0" rtlCol="0" anchor="ctr"/>
          <a:lstStyle/>
          <a:p>
            <a:pPr>
              <a:lnSpc>
                <a:spcPct val="135000"/>
              </a:lnSpc>
            </a:pPr>
            <a:r>
              <a:rPr lang="en-US" sz="1100" b="1" dirty="0">
                <a:solidFill>
                  <a:srgbClr val="5A6577"/>
                </a:solidFill>
                <a:latin typeface="Open Sauce One" pitchFamily="34" charset="0"/>
                <a:ea typeface="Open Sauce One" pitchFamily="34" charset="-122"/>
                <a:cs typeface="Open Sauce One" pitchFamily="34" charset="-120"/>
              </a:rPr>
              <a:t>Low Auto, High Moat</a:t>
            </a:r>
            <a:br>
              <a:rPr lang="en-US" sz="1100" dirty="0">
                <a:solidFill>
                  <a:srgbClr val="5A6577"/>
                </a:solidFill>
                <a:latin typeface="Open Sauce One" pitchFamily="34" charset="0"/>
                <a:ea typeface="Open Sauce One" pitchFamily="34" charset="-122"/>
                <a:cs typeface="Open Sauce One" pitchFamily="34" charset="-120"/>
              </a:rPr>
            </a:br>
            <a:r>
              <a:rPr lang="en-US" sz="1100" dirty="0">
                <a:solidFill>
                  <a:srgbClr val="5A6577"/>
                </a:solidFill>
                <a:latin typeface="Open Sauce One" pitchFamily="34" charset="0"/>
                <a:ea typeface="Open Sauce One" pitchFamily="34" charset="-122"/>
                <a:cs typeface="Open Sauce One" pitchFamily="34" charset="-120"/>
              </a:rPr>
              <a:t>Physical AI upside + consolidation.</a:t>
            </a:r>
            <a:endParaRPr lang="en-US" sz="1100" dirty="0"/>
          </a:p>
          <a:p>
            <a:pPr marL="0" indent="0">
              <a:lnSpc>
                <a:spcPct val="135000"/>
              </a:lnSpc>
              <a:buNone/>
            </a:pPr>
            <a:r>
              <a:rPr lang="en-US" sz="1100" dirty="0">
                <a:solidFill>
                  <a:srgbClr val="5A6577"/>
                </a:solidFill>
                <a:latin typeface="Open Sauce One" pitchFamily="34" charset="0"/>
                <a:ea typeface="Open Sauce One" pitchFamily="34" charset="-122"/>
                <a:cs typeface="Open Sauce One" pitchFamily="34" charset="-120"/>
              </a:rPr>
              <a:t>Safe from cognitive AI wave.</a:t>
            </a:r>
            <a:endParaRPr lang="en-US" sz="1100" dirty="0"/>
          </a:p>
        </p:txBody>
      </p:sp>
      <p:sp>
        <p:nvSpPr>
          <p:cNvPr id="16" name="Shape 14"/>
          <p:cNvSpPr/>
          <p:nvPr/>
        </p:nvSpPr>
        <p:spPr>
          <a:xfrm>
            <a:off x="640080" y="2884932"/>
            <a:ext cx="3749040" cy="146304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7" name="Shape 15"/>
          <p:cNvSpPr/>
          <p:nvPr/>
        </p:nvSpPr>
        <p:spPr>
          <a:xfrm>
            <a:off x="640080" y="2884932"/>
            <a:ext cx="64008" cy="1463040"/>
          </a:xfrm>
          <a:prstGeom prst="rect">
            <a:avLst/>
          </a:prstGeom>
          <a:solidFill>
            <a:srgbClr val="C62828"/>
          </a:solidFill>
          <a:ln/>
        </p:spPr>
        <p:txBody>
          <a:bodyPr/>
          <a:lstStyle/>
          <a:p>
            <a:endParaRPr lang="en-US"/>
          </a:p>
        </p:txBody>
      </p:sp>
      <p:sp>
        <p:nvSpPr>
          <p:cNvPr id="18" name="Text 16"/>
          <p:cNvSpPr/>
          <p:nvPr/>
        </p:nvSpPr>
        <p:spPr>
          <a:xfrm>
            <a:off x="914400" y="3022092"/>
            <a:ext cx="1828800" cy="274320"/>
          </a:xfrm>
          <a:prstGeom prst="rect">
            <a:avLst/>
          </a:prstGeom>
          <a:noFill/>
          <a:ln/>
        </p:spPr>
        <p:txBody>
          <a:bodyPr wrap="square" lIns="0" tIns="0" rIns="0" bIns="0" rtlCol="0" anchor="ctr"/>
          <a:lstStyle/>
          <a:p>
            <a:pPr marL="0" indent="0">
              <a:buNone/>
            </a:pPr>
            <a:r>
              <a:rPr lang="en-US" sz="1000" b="1" dirty="0">
                <a:solidFill>
                  <a:srgbClr val="C62828"/>
                </a:solidFill>
                <a:latin typeface="Open Sauce One" pitchFamily="34" charset="0"/>
                <a:ea typeface="Open Sauce One" pitchFamily="34" charset="-122"/>
                <a:cs typeface="Open Sauce One" pitchFamily="34" charset="-120"/>
              </a:rPr>
              <a:t>AVOID</a:t>
            </a:r>
            <a:endParaRPr lang="en-US" sz="1000" dirty="0"/>
          </a:p>
        </p:txBody>
      </p:sp>
      <p:sp>
        <p:nvSpPr>
          <p:cNvPr id="19" name="Text 17"/>
          <p:cNvSpPr/>
          <p:nvPr/>
        </p:nvSpPr>
        <p:spPr>
          <a:xfrm>
            <a:off x="914400" y="3296412"/>
            <a:ext cx="3200400" cy="320040"/>
          </a:xfrm>
          <a:prstGeom prst="rect">
            <a:avLst/>
          </a:prstGeom>
          <a:noFill/>
          <a:ln/>
        </p:spPr>
        <p:txBody>
          <a:bodyPr wrap="square" lIns="0" tIns="0" rIns="0" bIns="0" rtlCol="0" anchor="ctr"/>
          <a:lstStyle/>
          <a:p>
            <a:pPr marL="0" indent="0">
              <a:buNone/>
            </a:pPr>
            <a:r>
              <a:rPr lang="en-US" sz="1600" b="1" dirty="0">
                <a:solidFill>
                  <a:srgbClr val="0F1B2D"/>
                </a:solidFill>
                <a:latin typeface="Open Sauce One" pitchFamily="34" charset="0"/>
                <a:ea typeface="Open Sauce One" pitchFamily="34" charset="-122"/>
                <a:cs typeface="Open Sauce One" pitchFamily="34" charset="-120"/>
              </a:rPr>
              <a:t>SAND CASTLE</a:t>
            </a:r>
            <a:endParaRPr lang="en-US" sz="1600" dirty="0"/>
          </a:p>
        </p:txBody>
      </p:sp>
      <p:sp>
        <p:nvSpPr>
          <p:cNvPr id="20" name="Text 18"/>
          <p:cNvSpPr/>
          <p:nvPr/>
        </p:nvSpPr>
        <p:spPr>
          <a:xfrm>
            <a:off x="914400" y="3662172"/>
            <a:ext cx="3200400" cy="548640"/>
          </a:xfrm>
          <a:prstGeom prst="rect">
            <a:avLst/>
          </a:prstGeom>
          <a:noFill/>
          <a:ln/>
        </p:spPr>
        <p:txBody>
          <a:bodyPr wrap="square" lIns="0" tIns="0" rIns="0" bIns="0" rtlCol="0" anchor="ctr"/>
          <a:lstStyle/>
          <a:p>
            <a:pPr>
              <a:lnSpc>
                <a:spcPct val="135000"/>
              </a:lnSpc>
            </a:pPr>
            <a:r>
              <a:rPr lang="en-US" sz="1100" b="1" dirty="0">
                <a:solidFill>
                  <a:srgbClr val="5A6577"/>
                </a:solidFill>
                <a:latin typeface="Open Sauce One" pitchFamily="34" charset="0"/>
                <a:ea typeface="Open Sauce One" pitchFamily="34" charset="-122"/>
                <a:cs typeface="Open Sauce One" pitchFamily="34" charset="-120"/>
              </a:rPr>
              <a:t>High Auto, Low Moat</a:t>
            </a:r>
            <a:br>
              <a:rPr lang="en-US" sz="1100" dirty="0">
                <a:solidFill>
                  <a:srgbClr val="5A6577"/>
                </a:solidFill>
                <a:latin typeface="Open Sauce One" pitchFamily="34" charset="0"/>
                <a:ea typeface="Open Sauce One" pitchFamily="34" charset="-122"/>
                <a:cs typeface="Open Sauce One" pitchFamily="34" charset="-120"/>
              </a:rPr>
            </a:br>
            <a:r>
              <a:rPr lang="en-US" sz="1100" dirty="0">
                <a:solidFill>
                  <a:srgbClr val="5A6577"/>
                </a:solidFill>
                <a:latin typeface="Open Sauce One" pitchFamily="34" charset="0"/>
                <a:ea typeface="Open Sauce One" pitchFamily="34" charset="-122"/>
                <a:cs typeface="Open Sauce One" pitchFamily="34" charset="-120"/>
              </a:rPr>
              <a:t>No moat = no margin retention.</a:t>
            </a:r>
            <a:endParaRPr lang="en-US" sz="1100" dirty="0"/>
          </a:p>
          <a:p>
            <a:pPr marL="0" indent="0">
              <a:lnSpc>
                <a:spcPct val="135000"/>
              </a:lnSpc>
              <a:buNone/>
            </a:pPr>
            <a:r>
              <a:rPr lang="en-US" sz="1100" dirty="0">
                <a:solidFill>
                  <a:srgbClr val="5A6577"/>
                </a:solidFill>
                <a:latin typeface="Open Sauce One" pitchFamily="34" charset="0"/>
                <a:ea typeface="Open Sauce One" pitchFamily="34" charset="-122"/>
                <a:cs typeface="Open Sauce One" pitchFamily="34" charset="-120"/>
              </a:rPr>
              <a:t>Market already destroying these.</a:t>
            </a:r>
            <a:endParaRPr lang="en-US" sz="1100" dirty="0"/>
          </a:p>
        </p:txBody>
      </p:sp>
      <p:sp>
        <p:nvSpPr>
          <p:cNvPr id="21" name="Shape 19"/>
          <p:cNvSpPr/>
          <p:nvPr/>
        </p:nvSpPr>
        <p:spPr>
          <a:xfrm>
            <a:off x="4754880" y="2884932"/>
            <a:ext cx="3749040" cy="146304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22" name="Shape 20"/>
          <p:cNvSpPr/>
          <p:nvPr/>
        </p:nvSpPr>
        <p:spPr>
          <a:xfrm>
            <a:off x="4754880" y="2884932"/>
            <a:ext cx="64008" cy="1463040"/>
          </a:xfrm>
          <a:prstGeom prst="rect">
            <a:avLst/>
          </a:prstGeom>
          <a:solidFill>
            <a:srgbClr val="F9A825"/>
          </a:solidFill>
          <a:ln/>
        </p:spPr>
        <p:txBody>
          <a:bodyPr/>
          <a:lstStyle/>
          <a:p>
            <a:endParaRPr lang="en-US"/>
          </a:p>
        </p:txBody>
      </p:sp>
      <p:sp>
        <p:nvSpPr>
          <p:cNvPr id="23" name="Text 21"/>
          <p:cNvSpPr/>
          <p:nvPr/>
        </p:nvSpPr>
        <p:spPr>
          <a:xfrm>
            <a:off x="5029200" y="3022092"/>
            <a:ext cx="1828800" cy="274320"/>
          </a:xfrm>
          <a:prstGeom prst="rect">
            <a:avLst/>
          </a:prstGeom>
          <a:noFill/>
          <a:ln/>
        </p:spPr>
        <p:txBody>
          <a:bodyPr wrap="square" lIns="0" tIns="0" rIns="0" bIns="0" rtlCol="0" anchor="ctr"/>
          <a:lstStyle/>
          <a:p>
            <a:pPr marL="0" indent="0">
              <a:buNone/>
            </a:pPr>
            <a:r>
              <a:rPr lang="en-US" sz="1000" b="1" dirty="0">
                <a:solidFill>
                  <a:srgbClr val="F9A825"/>
                </a:solidFill>
                <a:latin typeface="Open Sauce One" pitchFamily="34" charset="0"/>
                <a:ea typeface="Open Sauce One" pitchFamily="34" charset="-122"/>
                <a:cs typeface="Open Sauce One" pitchFamily="34" charset="-120"/>
              </a:rPr>
              <a:t>SELECTIVE</a:t>
            </a:r>
            <a:endParaRPr lang="en-US" sz="1000" dirty="0"/>
          </a:p>
        </p:txBody>
      </p:sp>
      <p:sp>
        <p:nvSpPr>
          <p:cNvPr id="24" name="Text 22"/>
          <p:cNvSpPr/>
          <p:nvPr/>
        </p:nvSpPr>
        <p:spPr>
          <a:xfrm>
            <a:off x="5029200" y="3296412"/>
            <a:ext cx="3200400" cy="320040"/>
          </a:xfrm>
          <a:prstGeom prst="rect">
            <a:avLst/>
          </a:prstGeom>
          <a:noFill/>
          <a:ln/>
        </p:spPr>
        <p:txBody>
          <a:bodyPr wrap="square" lIns="0" tIns="0" rIns="0" bIns="0" rtlCol="0" anchor="ctr"/>
          <a:lstStyle/>
          <a:p>
            <a:pPr marL="0" indent="0">
              <a:buNone/>
            </a:pPr>
            <a:r>
              <a:rPr lang="en-US" sz="1600" b="1" dirty="0">
                <a:solidFill>
                  <a:srgbClr val="0F1B2D"/>
                </a:solidFill>
                <a:latin typeface="Open Sauce One" pitchFamily="34" charset="0"/>
                <a:ea typeface="Open Sauce One" pitchFamily="34" charset="-122"/>
                <a:cs typeface="Open Sauce One" pitchFamily="34" charset="-120"/>
              </a:rPr>
              <a:t>RISING TIDE</a:t>
            </a:r>
            <a:endParaRPr lang="en-US" sz="1600" dirty="0"/>
          </a:p>
        </p:txBody>
      </p:sp>
      <p:sp>
        <p:nvSpPr>
          <p:cNvPr id="25" name="Text 23"/>
          <p:cNvSpPr/>
          <p:nvPr/>
        </p:nvSpPr>
        <p:spPr>
          <a:xfrm>
            <a:off x="5029200" y="3662172"/>
            <a:ext cx="3200400" cy="548640"/>
          </a:xfrm>
          <a:prstGeom prst="rect">
            <a:avLst/>
          </a:prstGeom>
          <a:noFill/>
          <a:ln/>
        </p:spPr>
        <p:txBody>
          <a:bodyPr wrap="square" lIns="0" tIns="0" rIns="0" bIns="0" rtlCol="0" anchor="ctr"/>
          <a:lstStyle/>
          <a:p>
            <a:pPr marL="0" indent="0">
              <a:lnSpc>
                <a:spcPct val="135000"/>
              </a:lnSpc>
              <a:buNone/>
            </a:pPr>
            <a:r>
              <a:rPr lang="en-US" sz="1100" b="1" dirty="0">
                <a:solidFill>
                  <a:srgbClr val="5A6577"/>
                </a:solidFill>
                <a:latin typeface="Open Sauce One" pitchFamily="34" charset="0"/>
                <a:ea typeface="Open Sauce One" pitchFamily="34" charset="-122"/>
                <a:cs typeface="Open Sauce One" pitchFamily="34" charset="-120"/>
              </a:rPr>
              <a:t>Low Auto, Low Moat</a:t>
            </a:r>
            <a:br>
              <a:rPr lang="en-US" sz="1100" dirty="0">
                <a:solidFill>
                  <a:srgbClr val="5A6577"/>
                </a:solidFill>
                <a:latin typeface="Open Sauce One" pitchFamily="34" charset="0"/>
                <a:ea typeface="Open Sauce One" pitchFamily="34" charset="-122"/>
                <a:cs typeface="Open Sauce One" pitchFamily="34" charset="-120"/>
              </a:rPr>
            </a:br>
            <a:r>
              <a:rPr lang="en-US" sz="1100" dirty="0">
                <a:solidFill>
                  <a:srgbClr val="5A6577"/>
                </a:solidFill>
                <a:latin typeface="Open Sauce One" pitchFamily="34" charset="0"/>
                <a:ea typeface="Open Sauce One" pitchFamily="34" charset="-122"/>
                <a:cs typeface="Open Sauce One" pitchFamily="34" charset="-120"/>
              </a:rPr>
              <a:t>Low AI exposure, low moat.</a:t>
            </a:r>
            <a:endParaRPr lang="en-US" sz="1100" dirty="0"/>
          </a:p>
          <a:p>
            <a:pPr marL="0" indent="0">
              <a:lnSpc>
                <a:spcPct val="135000"/>
              </a:lnSpc>
              <a:buNone/>
            </a:pPr>
            <a:r>
              <a:rPr lang="en-US" sz="1100" dirty="0">
                <a:solidFill>
                  <a:srgbClr val="5A6577"/>
                </a:solidFill>
                <a:latin typeface="Open Sauce One" pitchFamily="34" charset="0"/>
                <a:ea typeface="Open Sauce One" pitchFamily="34" charset="-122"/>
                <a:cs typeface="Open Sauce One" pitchFamily="34" charset="-120"/>
              </a:rPr>
              <a:t>Roll-up + ops discipline.</a:t>
            </a:r>
            <a:endParaRPr lang="en-US" sz="1100" dirty="0"/>
          </a:p>
        </p:txBody>
      </p:sp>
      <p:pic>
        <p:nvPicPr>
          <p:cNvPr id="26" name="Image 0" descr="/sessions/nifty-wizardly-meitner/mnt/data_pack/figures/fig7_121scatter.png">
            <a:extLst>
              <a:ext uri="{FF2B5EF4-FFF2-40B4-BE49-F238E27FC236}">
                <a16:creationId xmlns:a16="http://schemas.microsoft.com/office/drawing/2014/main" id="{CD5B93DC-BD4A-987F-3C27-02A70823EAF7}"/>
              </a:ext>
            </a:extLst>
          </p:cNvPr>
          <p:cNvPicPr>
            <a:picLocks noChangeAspect="1"/>
          </p:cNvPicPr>
          <p:nvPr/>
        </p:nvPicPr>
        <p:blipFill>
          <a:blip r:embed="rId4"/>
          <a:stretch>
            <a:fillRect/>
          </a:stretch>
        </p:blipFill>
        <p:spPr>
          <a:xfrm>
            <a:off x="7082261" y="116488"/>
            <a:ext cx="1330219" cy="946502"/>
          </a:xfrm>
          <a:prstGeom prst="rect">
            <a:avLst/>
          </a:prstGeom>
        </p:spPr>
      </p:pic>
    </p:spTree>
  </p:cSld>
  <p:clrMapOvr>
    <a:masterClrMapping/>
  </p:clrMapOvr>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4828032"/>
            <a:ext cx="7772400" cy="274320"/>
          </a:xfrm>
          <a:prstGeom prst="rect">
            <a:avLst/>
          </a:prstGeom>
          <a:noFill/>
          <a:ln/>
        </p:spPr>
        <p:txBody>
          <a:bodyPr wrap="square" lIns="0" tIns="0" rIns="0" bIns="0" rtlCol="0" anchor="ctr"/>
          <a:lstStyle/>
          <a:p>
            <a:pPr marL="0" indent="0">
              <a:buNone/>
            </a:pPr>
            <a:r>
              <a:rPr lang="en-US" sz="800" dirty="0">
                <a:solidFill>
                  <a:srgbClr val="FFFFFF"/>
                </a:solidFill>
                <a:latin typeface="Open Sauce One" pitchFamily="34" charset="0"/>
                <a:ea typeface="Open Sauce One" pitchFamily="34" charset="-122"/>
                <a:cs typeface="Open Sauce One" pitchFamily="34" charset="-120"/>
              </a:rPr>
              <a:t>The Moat in the Machine  |  Dutchess Management  |  February 2026  |  Working Draft</a:t>
            </a:r>
            <a:endParaRPr lang="en-US" sz="800" dirty="0"/>
          </a:p>
        </p:txBody>
      </p:sp>
      <p:sp>
        <p:nvSpPr>
          <p:cNvPr id="3" name="Text 1"/>
          <p:cNvSpPr/>
          <p:nvPr/>
        </p:nvSpPr>
        <p:spPr>
          <a:xfrm>
            <a:off x="8412480" y="4828032"/>
            <a:ext cx="548640" cy="274320"/>
          </a:xfrm>
          <a:prstGeom prst="rect">
            <a:avLst/>
          </a:prstGeom>
          <a:noFill/>
          <a:ln/>
        </p:spPr>
        <p:txBody>
          <a:bodyPr wrap="square" lIns="0" tIns="0" rIns="0" bIns="0" rtlCol="0" anchor="ctr"/>
          <a:lstStyle/>
          <a:p>
            <a:pPr marL="0" indent="0" algn="r">
              <a:buNone/>
            </a:pPr>
            <a:endParaRPr lang="en-US" sz="900" dirty="0"/>
          </a:p>
        </p:txBody>
      </p:sp>
      <p:sp>
        <p:nvSpPr>
          <p:cNvPr id="4" name="Text 2"/>
          <p:cNvSpPr/>
          <p:nvPr/>
        </p:nvSpPr>
        <p:spPr>
          <a:xfrm>
            <a:off x="640080" y="320040"/>
            <a:ext cx="3657600" cy="457200"/>
          </a:xfrm>
          <a:prstGeom prst="rect">
            <a:avLst/>
          </a:prstGeom>
          <a:noFill/>
          <a:ln/>
        </p:spPr>
        <p:txBody>
          <a:bodyPr wrap="square" lIns="0" tIns="0" rIns="0" bIns="0" rtlCol="0" anchor="ctr"/>
          <a:lstStyle/>
          <a:p>
            <a:pPr marL="0" indent="0">
              <a:buNone/>
            </a:pPr>
            <a:r>
              <a:rPr lang="en-US" sz="1300" b="1" kern="0" spc="300" dirty="0">
                <a:solidFill>
                  <a:srgbClr val="E8563A"/>
                </a:solidFill>
                <a:latin typeface="Open Sauce One" pitchFamily="34" charset="0"/>
                <a:ea typeface="Open Sauce One" pitchFamily="34" charset="-122"/>
                <a:cs typeface="Open Sauce One" pitchFamily="34" charset="-120"/>
              </a:rPr>
              <a:t>WHAT WE FOUND</a:t>
            </a:r>
            <a:endParaRPr lang="en-US" sz="1300" dirty="0"/>
          </a:p>
        </p:txBody>
      </p:sp>
      <p:sp>
        <p:nvSpPr>
          <p:cNvPr id="5" name="Text 3"/>
          <p:cNvSpPr/>
          <p:nvPr/>
        </p:nvSpPr>
        <p:spPr>
          <a:xfrm>
            <a:off x="4114800" y="320040"/>
            <a:ext cx="4572000" cy="457200"/>
          </a:xfrm>
          <a:prstGeom prst="rect">
            <a:avLst/>
          </a:prstGeom>
          <a:noFill/>
          <a:ln/>
        </p:spPr>
        <p:txBody>
          <a:bodyPr wrap="square" lIns="0" tIns="0" rIns="0" bIns="0" rtlCol="0" anchor="ctr"/>
          <a:lstStyle/>
          <a:p>
            <a:pPr marL="0" indent="0" algn="r">
              <a:buNone/>
            </a:pPr>
            <a:r>
              <a:rPr lang="en-US" sz="1300" dirty="0">
                <a:solidFill>
                  <a:srgbClr val="5A6577"/>
                </a:solidFill>
                <a:latin typeface="Open Sauce One" pitchFamily="34" charset="0"/>
                <a:ea typeface="Open Sauce One" pitchFamily="34" charset="-122"/>
                <a:cs typeface="Open Sauce One" pitchFamily="34" charset="-120"/>
              </a:rPr>
              <a:t>Score any vertical in 60 seconds.</a:t>
            </a:r>
            <a:endParaRPr lang="en-US" sz="1300" dirty="0"/>
          </a:p>
        </p:txBody>
      </p:sp>
      <p:sp>
        <p:nvSpPr>
          <p:cNvPr id="6" name="Shape 4"/>
          <p:cNvSpPr/>
          <p:nvPr/>
        </p:nvSpPr>
        <p:spPr>
          <a:xfrm>
            <a:off x="640080" y="1097280"/>
            <a:ext cx="7863840" cy="9601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7" name="Shape 5"/>
          <p:cNvSpPr/>
          <p:nvPr/>
        </p:nvSpPr>
        <p:spPr>
          <a:xfrm>
            <a:off x="914400" y="1325880"/>
            <a:ext cx="502920" cy="502920"/>
          </a:xfrm>
          <a:prstGeom prst="ellipse">
            <a:avLst/>
          </a:prstGeom>
          <a:solidFill>
            <a:srgbClr val="E8563A"/>
          </a:solidFill>
          <a:ln/>
        </p:spPr>
        <p:txBody>
          <a:bodyPr/>
          <a:lstStyle/>
          <a:p>
            <a:endParaRPr lang="en-US"/>
          </a:p>
        </p:txBody>
      </p:sp>
      <p:sp>
        <p:nvSpPr>
          <p:cNvPr id="8" name="Text 6"/>
          <p:cNvSpPr/>
          <p:nvPr/>
        </p:nvSpPr>
        <p:spPr>
          <a:xfrm>
            <a:off x="914400" y="132588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Open Sauce One" pitchFamily="34" charset="0"/>
                <a:ea typeface="Open Sauce One" pitchFamily="34" charset="-122"/>
                <a:cs typeface="Open Sauce One" pitchFamily="34" charset="-120"/>
              </a:rPr>
              <a:t>1</a:t>
            </a:r>
            <a:endParaRPr lang="en-US" sz="1800" dirty="0"/>
          </a:p>
        </p:txBody>
      </p:sp>
      <p:sp>
        <p:nvSpPr>
          <p:cNvPr id="9" name="Text 7"/>
          <p:cNvSpPr/>
          <p:nvPr/>
        </p:nvSpPr>
        <p:spPr>
          <a:xfrm>
            <a:off x="1645920" y="1207008"/>
            <a:ext cx="5029200" cy="320040"/>
          </a:xfrm>
          <a:prstGeom prst="rect">
            <a:avLst/>
          </a:prstGeom>
          <a:noFill/>
          <a:ln/>
        </p:spPr>
        <p:txBody>
          <a:bodyPr wrap="square" lIns="0" tIns="0" rIns="0" bIns="0" rtlCol="0" anchor="ctr"/>
          <a:lstStyle/>
          <a:p>
            <a:pPr marL="0" indent="0">
              <a:buNone/>
            </a:pPr>
            <a:r>
              <a:rPr lang="en-US" sz="1500" b="1" dirty="0">
                <a:solidFill>
                  <a:srgbClr val="0F1B2D"/>
                </a:solidFill>
                <a:latin typeface="Open Sauce One" pitchFamily="34" charset="0"/>
                <a:ea typeface="Open Sauce One" pitchFamily="34" charset="-122"/>
                <a:cs typeface="Open Sauce One" pitchFamily="34" charset="-120"/>
              </a:rPr>
              <a:t>Can AI do the work?</a:t>
            </a:r>
            <a:endParaRPr lang="en-US" sz="1500" dirty="0"/>
          </a:p>
        </p:txBody>
      </p:sp>
      <p:sp>
        <p:nvSpPr>
          <p:cNvPr id="10" name="Text 8"/>
          <p:cNvSpPr/>
          <p:nvPr/>
        </p:nvSpPr>
        <p:spPr>
          <a:xfrm>
            <a:off x="1645920" y="1554480"/>
            <a:ext cx="5029200" cy="365760"/>
          </a:xfrm>
          <a:prstGeom prst="rect">
            <a:avLst/>
          </a:prstGeom>
          <a:noFill/>
          <a:ln/>
        </p:spPr>
        <p:txBody>
          <a:bodyPr wrap="square" lIns="0" tIns="0" rIns="0" bIns="0" rtlCol="0" anchor="ctr"/>
          <a:lstStyle/>
          <a:p>
            <a:pPr marL="0" indent="0">
              <a:buNone/>
            </a:pPr>
            <a:r>
              <a:rPr lang="en-US" sz="1100" dirty="0">
                <a:solidFill>
                  <a:srgbClr val="5A6577"/>
                </a:solidFill>
                <a:latin typeface="Open Sauce One" pitchFamily="34" charset="0"/>
                <a:ea typeface="Open Sauce One" pitchFamily="34" charset="-122"/>
                <a:cs typeface="Open Sauce One" pitchFamily="34" charset="-120"/>
              </a:rPr>
              <a:t>Task automation exposure of core revenue work. How much can a language model automate?</a:t>
            </a:r>
            <a:endParaRPr lang="en-US" sz="1100" dirty="0"/>
          </a:p>
        </p:txBody>
      </p:sp>
      <p:sp>
        <p:nvSpPr>
          <p:cNvPr id="11" name="Text 9"/>
          <p:cNvSpPr/>
          <p:nvPr/>
        </p:nvSpPr>
        <p:spPr>
          <a:xfrm>
            <a:off x="7498080" y="1417320"/>
            <a:ext cx="731520" cy="320040"/>
          </a:xfrm>
          <a:prstGeom prst="rect">
            <a:avLst/>
          </a:prstGeom>
          <a:noFill/>
          <a:ln/>
        </p:spPr>
        <p:txBody>
          <a:bodyPr wrap="square" lIns="0" tIns="0" rIns="0" bIns="0" rtlCol="0" anchor="ctr"/>
          <a:lstStyle/>
          <a:p>
            <a:pPr marL="0" indent="0" algn="ctr">
              <a:buNone/>
            </a:pPr>
            <a:r>
              <a:rPr lang="en-US" sz="1400" b="1" dirty="0">
                <a:solidFill>
                  <a:srgbClr val="E8563A"/>
                </a:solidFill>
                <a:latin typeface="Open Sauce One" pitchFamily="34" charset="0"/>
                <a:ea typeface="Open Sauce One" pitchFamily="34" charset="-122"/>
                <a:cs typeface="Open Sauce One" pitchFamily="34" charset="-120"/>
              </a:rPr>
              <a:t>60pt</a:t>
            </a:r>
            <a:endParaRPr lang="en-US" sz="1400" dirty="0"/>
          </a:p>
        </p:txBody>
      </p:sp>
      <p:sp>
        <p:nvSpPr>
          <p:cNvPr id="12" name="Shape 10"/>
          <p:cNvSpPr/>
          <p:nvPr/>
        </p:nvSpPr>
        <p:spPr>
          <a:xfrm>
            <a:off x="640080" y="2240280"/>
            <a:ext cx="7863840" cy="9601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3" name="Shape 11"/>
          <p:cNvSpPr/>
          <p:nvPr/>
        </p:nvSpPr>
        <p:spPr>
          <a:xfrm>
            <a:off x="914400" y="2468880"/>
            <a:ext cx="502920" cy="502920"/>
          </a:xfrm>
          <a:prstGeom prst="ellipse">
            <a:avLst/>
          </a:prstGeom>
          <a:solidFill>
            <a:srgbClr val="E8563A"/>
          </a:solidFill>
          <a:ln/>
        </p:spPr>
        <p:txBody>
          <a:bodyPr/>
          <a:lstStyle/>
          <a:p>
            <a:endParaRPr lang="en-US"/>
          </a:p>
        </p:txBody>
      </p:sp>
      <p:sp>
        <p:nvSpPr>
          <p:cNvPr id="14" name="Text 12"/>
          <p:cNvSpPr/>
          <p:nvPr/>
        </p:nvSpPr>
        <p:spPr>
          <a:xfrm>
            <a:off x="914400" y="246888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Open Sauce One" pitchFamily="34" charset="0"/>
                <a:ea typeface="Open Sauce One" pitchFamily="34" charset="-122"/>
                <a:cs typeface="Open Sauce One" pitchFamily="34" charset="-120"/>
              </a:rPr>
              <a:t>2</a:t>
            </a:r>
            <a:endParaRPr lang="en-US" sz="1800" dirty="0"/>
          </a:p>
        </p:txBody>
      </p:sp>
      <p:sp>
        <p:nvSpPr>
          <p:cNvPr id="15" name="Text 13"/>
          <p:cNvSpPr/>
          <p:nvPr/>
        </p:nvSpPr>
        <p:spPr>
          <a:xfrm>
            <a:off x="1645920" y="2350008"/>
            <a:ext cx="5029200" cy="320040"/>
          </a:xfrm>
          <a:prstGeom prst="rect">
            <a:avLst/>
          </a:prstGeom>
          <a:noFill/>
          <a:ln/>
        </p:spPr>
        <p:txBody>
          <a:bodyPr wrap="square" lIns="0" tIns="0" rIns="0" bIns="0" rtlCol="0" anchor="ctr"/>
          <a:lstStyle/>
          <a:p>
            <a:pPr marL="0" indent="0">
              <a:buNone/>
            </a:pPr>
            <a:r>
              <a:rPr lang="en-US" sz="1500" b="1" dirty="0">
                <a:solidFill>
                  <a:srgbClr val="0F1B2D"/>
                </a:solidFill>
                <a:latin typeface="Open Sauce One" pitchFamily="34" charset="0"/>
                <a:ea typeface="Open Sauce One" pitchFamily="34" charset="-122"/>
                <a:cs typeface="Open Sauce One" pitchFamily="34" charset="-120"/>
              </a:rPr>
              <a:t>Can you keep the gains?</a:t>
            </a:r>
            <a:endParaRPr lang="en-US" sz="1500" dirty="0"/>
          </a:p>
        </p:txBody>
      </p:sp>
      <p:sp>
        <p:nvSpPr>
          <p:cNvPr id="16" name="Text 14"/>
          <p:cNvSpPr/>
          <p:nvPr/>
        </p:nvSpPr>
        <p:spPr>
          <a:xfrm>
            <a:off x="1645920" y="2697480"/>
            <a:ext cx="5029200" cy="365760"/>
          </a:xfrm>
          <a:prstGeom prst="rect">
            <a:avLst/>
          </a:prstGeom>
          <a:noFill/>
          <a:ln/>
        </p:spPr>
        <p:txBody>
          <a:bodyPr wrap="square" lIns="0" tIns="0" rIns="0" bIns="0" rtlCol="0" anchor="ctr"/>
          <a:lstStyle/>
          <a:p>
            <a:pPr marL="0" indent="0">
              <a:buNone/>
            </a:pPr>
            <a:r>
              <a:rPr lang="en-US" sz="1100" dirty="0">
                <a:solidFill>
                  <a:srgbClr val="5A6577"/>
                </a:solidFill>
                <a:latin typeface="Open Sauce One" pitchFamily="34" charset="0"/>
                <a:ea typeface="Open Sauce One" pitchFamily="34" charset="-122"/>
                <a:cs typeface="Open Sauce One" pitchFamily="34" charset="-120"/>
              </a:rPr>
              <a:t>Regulatory </a:t>
            </a:r>
            <a:r>
              <a:rPr lang="en-US" sz="1100" dirty="0" err="1">
                <a:solidFill>
                  <a:srgbClr val="5A6577"/>
                </a:solidFill>
                <a:latin typeface="Open Sauce One" pitchFamily="34" charset="0"/>
                <a:ea typeface="Open Sauce One" pitchFamily="34" charset="-122"/>
                <a:cs typeface="Open Sauce One" pitchFamily="34" charset="-120"/>
              </a:rPr>
              <a:t>environemnt</a:t>
            </a:r>
            <a:r>
              <a:rPr lang="en-US" sz="1100" dirty="0">
                <a:solidFill>
                  <a:srgbClr val="5A6577"/>
                </a:solidFill>
                <a:latin typeface="Open Sauce One" pitchFamily="34" charset="0"/>
                <a:ea typeface="Open Sauce One" pitchFamily="34" charset="-122"/>
                <a:cs typeface="Open Sauce One" pitchFamily="34" charset="-120"/>
              </a:rPr>
              <a:t>, switching costs, physical presence. Can competitors or the client replicate the AI savings? Can AI make the category obsolete entirely? </a:t>
            </a:r>
            <a:endParaRPr lang="en-US" sz="1100" dirty="0"/>
          </a:p>
        </p:txBody>
      </p:sp>
      <p:sp>
        <p:nvSpPr>
          <p:cNvPr id="17" name="Text 15"/>
          <p:cNvSpPr/>
          <p:nvPr/>
        </p:nvSpPr>
        <p:spPr>
          <a:xfrm>
            <a:off x="7498080" y="2560320"/>
            <a:ext cx="731520" cy="320040"/>
          </a:xfrm>
          <a:prstGeom prst="rect">
            <a:avLst/>
          </a:prstGeom>
          <a:noFill/>
          <a:ln/>
        </p:spPr>
        <p:txBody>
          <a:bodyPr wrap="square" lIns="0" tIns="0" rIns="0" bIns="0" rtlCol="0" anchor="ctr"/>
          <a:lstStyle/>
          <a:p>
            <a:pPr marL="0" indent="0" algn="ctr">
              <a:buNone/>
            </a:pPr>
            <a:r>
              <a:rPr lang="en-US" sz="1400" b="1" dirty="0">
                <a:solidFill>
                  <a:srgbClr val="E8563A"/>
                </a:solidFill>
                <a:latin typeface="Open Sauce One" pitchFamily="34" charset="0"/>
                <a:ea typeface="Open Sauce One" pitchFamily="34" charset="-122"/>
                <a:cs typeface="Open Sauce One" pitchFamily="34" charset="-120"/>
              </a:rPr>
              <a:t>60pt</a:t>
            </a:r>
            <a:endParaRPr lang="en-US" sz="1400" dirty="0"/>
          </a:p>
        </p:txBody>
      </p:sp>
      <p:sp>
        <p:nvSpPr>
          <p:cNvPr id="18" name="Shape 16"/>
          <p:cNvSpPr/>
          <p:nvPr/>
        </p:nvSpPr>
        <p:spPr>
          <a:xfrm>
            <a:off x="640080" y="3383280"/>
            <a:ext cx="7863840" cy="9601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9" name="Shape 17"/>
          <p:cNvSpPr/>
          <p:nvPr/>
        </p:nvSpPr>
        <p:spPr>
          <a:xfrm>
            <a:off x="914400" y="3611880"/>
            <a:ext cx="502920" cy="502920"/>
          </a:xfrm>
          <a:prstGeom prst="ellipse">
            <a:avLst/>
          </a:prstGeom>
          <a:solidFill>
            <a:srgbClr val="0F1B2D"/>
          </a:solidFill>
          <a:ln/>
        </p:spPr>
        <p:txBody>
          <a:bodyPr/>
          <a:lstStyle/>
          <a:p>
            <a:endParaRPr lang="en-US"/>
          </a:p>
        </p:txBody>
      </p:sp>
      <p:sp>
        <p:nvSpPr>
          <p:cNvPr id="20" name="Text 18"/>
          <p:cNvSpPr/>
          <p:nvPr/>
        </p:nvSpPr>
        <p:spPr>
          <a:xfrm>
            <a:off x="914400" y="361188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Open Sauce One" pitchFamily="34" charset="0"/>
                <a:ea typeface="Open Sauce One" pitchFamily="34" charset="-122"/>
                <a:cs typeface="Open Sauce One" pitchFamily="34" charset="-120"/>
              </a:rPr>
              <a:t>3</a:t>
            </a:r>
            <a:endParaRPr lang="en-US" sz="1800" dirty="0"/>
          </a:p>
        </p:txBody>
      </p:sp>
      <p:sp>
        <p:nvSpPr>
          <p:cNvPr id="21" name="Text 19"/>
          <p:cNvSpPr/>
          <p:nvPr/>
        </p:nvSpPr>
        <p:spPr>
          <a:xfrm>
            <a:off x="1645920" y="3493008"/>
            <a:ext cx="5029200" cy="320040"/>
          </a:xfrm>
          <a:prstGeom prst="rect">
            <a:avLst/>
          </a:prstGeom>
          <a:noFill/>
          <a:ln/>
        </p:spPr>
        <p:txBody>
          <a:bodyPr wrap="square" lIns="0" tIns="0" rIns="0" bIns="0" rtlCol="0" anchor="ctr"/>
          <a:lstStyle/>
          <a:p>
            <a:pPr marL="0" indent="0">
              <a:buNone/>
            </a:pPr>
            <a:r>
              <a:rPr lang="en-US" sz="1500" b="1" dirty="0">
                <a:solidFill>
                  <a:srgbClr val="0F1B2D"/>
                </a:solidFill>
                <a:latin typeface="Open Sauce One" pitchFamily="34" charset="0"/>
                <a:ea typeface="Open Sauce One" pitchFamily="34" charset="-122"/>
                <a:cs typeface="Open Sauce One" pitchFamily="34" charset="-120"/>
              </a:rPr>
              <a:t>Can a robot show up?</a:t>
            </a:r>
            <a:endParaRPr lang="en-US" sz="1500" dirty="0"/>
          </a:p>
        </p:txBody>
      </p:sp>
      <p:sp>
        <p:nvSpPr>
          <p:cNvPr id="22" name="Text 20"/>
          <p:cNvSpPr/>
          <p:nvPr/>
        </p:nvSpPr>
        <p:spPr>
          <a:xfrm>
            <a:off x="1645920" y="3840480"/>
            <a:ext cx="5029200" cy="365760"/>
          </a:xfrm>
          <a:prstGeom prst="rect">
            <a:avLst/>
          </a:prstGeom>
          <a:noFill/>
          <a:ln/>
        </p:spPr>
        <p:txBody>
          <a:bodyPr wrap="square" lIns="0" tIns="0" rIns="0" bIns="0" rtlCol="0" anchor="ctr"/>
          <a:lstStyle/>
          <a:p>
            <a:pPr marL="0" indent="0">
              <a:buNone/>
            </a:pPr>
            <a:r>
              <a:rPr lang="en-US" sz="1100" dirty="0">
                <a:solidFill>
                  <a:srgbClr val="5A6577"/>
                </a:solidFill>
                <a:latin typeface="Open Sauce One" pitchFamily="34" charset="0"/>
                <a:ea typeface="Open Sauce One" pitchFamily="34" charset="-122"/>
                <a:cs typeface="Open Sauce One" pitchFamily="34" charset="-120"/>
              </a:rPr>
              <a:t>Physical AI as margin modifier. Autonomous vehicles, drones, humanoid robotics.</a:t>
            </a:r>
            <a:endParaRPr lang="en-US" sz="1100" dirty="0"/>
          </a:p>
        </p:txBody>
      </p:sp>
      <p:sp>
        <p:nvSpPr>
          <p:cNvPr id="23" name="Text 21"/>
          <p:cNvSpPr/>
          <p:nvPr/>
        </p:nvSpPr>
        <p:spPr>
          <a:xfrm>
            <a:off x="7498080" y="3703320"/>
            <a:ext cx="731520" cy="320040"/>
          </a:xfrm>
          <a:prstGeom prst="rect">
            <a:avLst/>
          </a:prstGeom>
          <a:noFill/>
          <a:ln/>
        </p:spPr>
        <p:txBody>
          <a:bodyPr wrap="square" lIns="0" tIns="0" rIns="0" bIns="0" rtlCol="0" anchor="ctr"/>
          <a:lstStyle/>
          <a:p>
            <a:pPr marL="0" indent="0" algn="ctr">
              <a:buNone/>
            </a:pPr>
            <a:r>
              <a:rPr lang="en-US" sz="1400" b="1" dirty="0">
                <a:solidFill>
                  <a:srgbClr val="0F1B2D"/>
                </a:solidFill>
                <a:latin typeface="Open Sauce One" pitchFamily="34" charset="0"/>
                <a:ea typeface="Open Sauce One" pitchFamily="34" charset="-122"/>
                <a:cs typeface="Open Sauce One" pitchFamily="34" charset="-120"/>
              </a:rPr>
              <a:t>40pt</a:t>
            </a:r>
            <a:endParaRPr lang="en-US" sz="1400" dirty="0"/>
          </a:p>
        </p:txBody>
      </p:sp>
      <p:sp>
        <p:nvSpPr>
          <p:cNvPr id="24" name="Text 22"/>
          <p:cNvSpPr/>
          <p:nvPr/>
        </p:nvSpPr>
        <p:spPr>
          <a:xfrm>
            <a:off x="640080" y="717804"/>
            <a:ext cx="7863840" cy="274320"/>
          </a:xfrm>
          <a:prstGeom prst="rect">
            <a:avLst/>
          </a:prstGeom>
          <a:noFill/>
          <a:ln/>
        </p:spPr>
        <p:txBody>
          <a:bodyPr wrap="square" lIns="0" tIns="0" rIns="0" bIns="0" rtlCol="0" anchor="ctr"/>
          <a:lstStyle/>
          <a:p>
            <a:pPr marL="0" indent="0">
              <a:buNone/>
            </a:pPr>
            <a:r>
              <a:rPr lang="en-US" sz="1000" i="1" dirty="0">
                <a:solidFill>
                  <a:srgbClr val="8B95A5"/>
                </a:solidFill>
                <a:latin typeface="Open Sauce One" pitchFamily="34" charset="0"/>
                <a:ea typeface="Open Sauce One" pitchFamily="34" charset="-122"/>
                <a:cs typeface="Open Sauce One" pitchFamily="34" charset="-120"/>
              </a:rPr>
              <a:t>After analyzing various data points from public matters, the following factors were predictive of the outlook for a given company given GenAI exposure.</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4828032"/>
            <a:ext cx="7772400" cy="274320"/>
          </a:xfrm>
          <a:prstGeom prst="rect">
            <a:avLst/>
          </a:prstGeom>
          <a:noFill/>
          <a:ln/>
        </p:spPr>
        <p:txBody>
          <a:bodyPr wrap="square" lIns="0" tIns="0" rIns="0" bIns="0" rtlCol="0" anchor="ctr"/>
          <a:lstStyle/>
          <a:p>
            <a:pPr marL="0" indent="0">
              <a:buNone/>
            </a:pPr>
            <a:r>
              <a:rPr lang="en-US" sz="800" dirty="0">
                <a:solidFill>
                  <a:srgbClr val="FFFFFF"/>
                </a:solidFill>
                <a:latin typeface="Open Sauce One" pitchFamily="34" charset="0"/>
                <a:ea typeface="Open Sauce One" pitchFamily="34" charset="-122"/>
                <a:cs typeface="Open Sauce One" pitchFamily="34" charset="-120"/>
              </a:rPr>
              <a:t>The Moat in the Machine  |  Dutchess Management  |  February 2026  |  Working Draft</a:t>
            </a:r>
            <a:endParaRPr lang="en-US" sz="800" dirty="0"/>
          </a:p>
        </p:txBody>
      </p:sp>
      <p:sp>
        <p:nvSpPr>
          <p:cNvPr id="3" name="Text 1"/>
          <p:cNvSpPr/>
          <p:nvPr/>
        </p:nvSpPr>
        <p:spPr>
          <a:xfrm>
            <a:off x="8412480" y="4828032"/>
            <a:ext cx="548640" cy="274320"/>
          </a:xfrm>
          <a:prstGeom prst="rect">
            <a:avLst/>
          </a:prstGeom>
          <a:noFill/>
          <a:ln/>
        </p:spPr>
        <p:txBody>
          <a:bodyPr wrap="square" lIns="0" tIns="0" rIns="0" bIns="0" rtlCol="0" anchor="ctr"/>
          <a:lstStyle/>
          <a:p>
            <a:pPr marL="0" indent="0" algn="r">
              <a:buNone/>
            </a:pPr>
            <a:endParaRPr lang="en-US" sz="900" dirty="0"/>
          </a:p>
        </p:txBody>
      </p:sp>
      <p:sp>
        <p:nvSpPr>
          <p:cNvPr id="4" name="Text 2"/>
          <p:cNvSpPr/>
          <p:nvPr/>
        </p:nvSpPr>
        <p:spPr>
          <a:xfrm>
            <a:off x="457200" y="246888"/>
            <a:ext cx="7863840" cy="365760"/>
          </a:xfrm>
          <a:prstGeom prst="rect">
            <a:avLst/>
          </a:prstGeom>
          <a:noFill/>
          <a:ln/>
        </p:spPr>
        <p:txBody>
          <a:bodyPr wrap="square" lIns="0" tIns="0" rIns="0" bIns="0" rtlCol="0" anchor="ctr"/>
          <a:lstStyle/>
          <a:p>
            <a:pPr marL="0" indent="0">
              <a:buNone/>
            </a:pPr>
            <a:r>
              <a:rPr lang="en-US" sz="1300" b="1" kern="0" spc="200" dirty="0">
                <a:solidFill>
                  <a:srgbClr val="E8563A"/>
                </a:solidFill>
                <a:latin typeface="Open Sauce One" pitchFamily="34" charset="0"/>
                <a:ea typeface="Open Sauce One" pitchFamily="34" charset="-122"/>
                <a:cs typeface="Open Sauce One" pitchFamily="34" charset="-120"/>
              </a:rPr>
              <a:t>SAME AI, DIFFERENT MOAT → DIFFERENT MOIC</a:t>
            </a:r>
            <a:endParaRPr lang="en-US" sz="1300" dirty="0"/>
          </a:p>
        </p:txBody>
      </p:sp>
      <p:pic>
        <p:nvPicPr>
          <p:cNvPr id="5" name="Image 0" descr="/sessions/nifty-wizardly-meitner/mnt/data_pack/figures/fig3_moic.png"/>
          <p:cNvPicPr>
            <a:picLocks noChangeAspect="1"/>
          </p:cNvPicPr>
          <p:nvPr/>
        </p:nvPicPr>
        <p:blipFill>
          <a:blip r:embed="rId3"/>
          <a:stretch>
            <a:fillRect/>
          </a:stretch>
        </p:blipFill>
        <p:spPr>
          <a:xfrm>
            <a:off x="457200" y="1280160"/>
            <a:ext cx="5029200" cy="2986571"/>
          </a:xfrm>
          <a:prstGeom prst="rect">
            <a:avLst/>
          </a:prstGeom>
        </p:spPr>
      </p:pic>
      <p:sp>
        <p:nvSpPr>
          <p:cNvPr id="6" name="Text 3"/>
          <p:cNvSpPr/>
          <p:nvPr/>
        </p:nvSpPr>
        <p:spPr>
          <a:xfrm>
            <a:off x="5669280" y="822960"/>
            <a:ext cx="3200400" cy="274320"/>
          </a:xfrm>
          <a:prstGeom prst="rect">
            <a:avLst/>
          </a:prstGeom>
          <a:noFill/>
          <a:ln/>
        </p:spPr>
        <p:txBody>
          <a:bodyPr wrap="square" lIns="0" tIns="0" rIns="0" bIns="0" rtlCol="0" anchor="ctr"/>
          <a:lstStyle/>
          <a:p>
            <a:pPr marL="0" indent="0">
              <a:buNone/>
            </a:pPr>
            <a:r>
              <a:rPr lang="en-US" sz="1000" b="1" kern="0" spc="100" dirty="0">
                <a:solidFill>
                  <a:srgbClr val="0F1B2D"/>
                </a:solidFill>
                <a:latin typeface="Open Sauce One" pitchFamily="34" charset="0"/>
                <a:ea typeface="Open Sauce One" pitchFamily="34" charset="-122"/>
                <a:cs typeface="Open Sauce One" pitchFamily="34" charset="-120"/>
              </a:rPr>
              <a:t>MARGIN RETENTION BY QUADRANT</a:t>
            </a:r>
            <a:endParaRPr lang="en-US" sz="1000" dirty="0"/>
          </a:p>
        </p:txBody>
      </p:sp>
      <p:sp>
        <p:nvSpPr>
          <p:cNvPr id="7" name="Shape 4"/>
          <p:cNvSpPr/>
          <p:nvPr/>
        </p:nvSpPr>
        <p:spPr>
          <a:xfrm>
            <a:off x="5669280" y="1326935"/>
            <a:ext cx="64008" cy="548640"/>
          </a:xfrm>
          <a:prstGeom prst="rect">
            <a:avLst/>
          </a:prstGeom>
          <a:solidFill>
            <a:srgbClr val="2E7D32"/>
          </a:solidFill>
          <a:ln/>
        </p:spPr>
        <p:txBody>
          <a:bodyPr/>
          <a:lstStyle/>
          <a:p>
            <a:endParaRPr lang="en-US"/>
          </a:p>
        </p:txBody>
      </p:sp>
      <p:sp>
        <p:nvSpPr>
          <p:cNvPr id="8" name="Text 5"/>
          <p:cNvSpPr/>
          <p:nvPr/>
        </p:nvSpPr>
        <p:spPr>
          <a:xfrm>
            <a:off x="5852160" y="1326935"/>
            <a:ext cx="1828800" cy="228600"/>
          </a:xfrm>
          <a:prstGeom prst="rect">
            <a:avLst/>
          </a:prstGeom>
          <a:noFill/>
          <a:ln/>
        </p:spPr>
        <p:txBody>
          <a:bodyPr wrap="square" lIns="0" tIns="0" rIns="0" bIns="0" rtlCol="0" anchor="ctr"/>
          <a:lstStyle/>
          <a:p>
            <a:pPr marL="0" indent="0">
              <a:buNone/>
            </a:pPr>
            <a:r>
              <a:rPr lang="en-US" sz="1000" b="1" dirty="0">
                <a:solidFill>
                  <a:srgbClr val="0F1B2D"/>
                </a:solidFill>
                <a:latin typeface="Open Sauce One" pitchFamily="34" charset="0"/>
                <a:ea typeface="Open Sauce One" pitchFamily="34" charset="-122"/>
                <a:cs typeface="Open Sauce One" pitchFamily="34" charset="-120"/>
              </a:rPr>
              <a:t>AI Goldmine</a:t>
            </a:r>
            <a:endParaRPr lang="en-US" sz="1000" dirty="0"/>
          </a:p>
        </p:txBody>
      </p:sp>
      <p:sp>
        <p:nvSpPr>
          <p:cNvPr id="9" name="Text 6"/>
          <p:cNvSpPr/>
          <p:nvPr/>
        </p:nvSpPr>
        <p:spPr>
          <a:xfrm>
            <a:off x="5852159" y="1555535"/>
            <a:ext cx="1645919" cy="228600"/>
          </a:xfrm>
          <a:prstGeom prst="rect">
            <a:avLst/>
          </a:prstGeom>
          <a:noFill/>
          <a:ln/>
        </p:spPr>
        <p:txBody>
          <a:bodyPr wrap="square" lIns="0" tIns="0" rIns="0" bIns="0" rtlCol="0" anchor="ctr"/>
          <a:lstStyle/>
          <a:p>
            <a:pPr marL="0" indent="0">
              <a:buNone/>
            </a:pPr>
            <a:r>
              <a:rPr lang="en-US" sz="1400" b="1" dirty="0">
                <a:solidFill>
                  <a:srgbClr val="2E7D32"/>
                </a:solidFill>
                <a:latin typeface="Open Sauce One" pitchFamily="34" charset="0"/>
                <a:ea typeface="Open Sauce One" pitchFamily="34" charset="-122"/>
                <a:cs typeface="Open Sauce One" pitchFamily="34" charset="-120"/>
              </a:rPr>
              <a:t>80–90% retention</a:t>
            </a:r>
            <a:endParaRPr lang="en-US" sz="1400" dirty="0"/>
          </a:p>
        </p:txBody>
      </p:sp>
      <p:sp>
        <p:nvSpPr>
          <p:cNvPr id="10" name="Text 7"/>
          <p:cNvSpPr/>
          <p:nvPr/>
        </p:nvSpPr>
        <p:spPr>
          <a:xfrm>
            <a:off x="7498080" y="1575043"/>
            <a:ext cx="1645920" cy="228600"/>
          </a:xfrm>
          <a:prstGeom prst="rect">
            <a:avLst/>
          </a:prstGeom>
          <a:noFill/>
          <a:ln/>
        </p:spPr>
        <p:txBody>
          <a:bodyPr wrap="square" lIns="0" tIns="0" rIns="0" bIns="0" rtlCol="0" anchor="ctr"/>
          <a:lstStyle/>
          <a:p>
            <a:pPr marL="0" indent="0">
              <a:buNone/>
            </a:pPr>
            <a:r>
              <a:rPr lang="en-US" sz="900" dirty="0">
                <a:solidFill>
                  <a:srgbClr val="8B95A5"/>
                </a:solidFill>
                <a:latin typeface="Open Sauce One" pitchFamily="34" charset="0"/>
                <a:ea typeface="Open Sauce One" pitchFamily="34" charset="-122"/>
                <a:cs typeface="Open Sauce One" pitchFamily="34" charset="-120"/>
              </a:rPr>
              <a:t>Margin Retention Rate</a:t>
            </a:r>
            <a:endParaRPr lang="en-US" sz="900" dirty="0"/>
          </a:p>
        </p:txBody>
      </p:sp>
      <p:sp>
        <p:nvSpPr>
          <p:cNvPr id="11" name="Shape 8"/>
          <p:cNvSpPr/>
          <p:nvPr/>
        </p:nvSpPr>
        <p:spPr>
          <a:xfrm>
            <a:off x="5669280" y="2012735"/>
            <a:ext cx="64008" cy="548640"/>
          </a:xfrm>
          <a:prstGeom prst="rect">
            <a:avLst/>
          </a:prstGeom>
          <a:solidFill>
            <a:srgbClr val="1565C0"/>
          </a:solidFill>
          <a:ln/>
        </p:spPr>
        <p:txBody>
          <a:bodyPr/>
          <a:lstStyle/>
          <a:p>
            <a:endParaRPr lang="en-US"/>
          </a:p>
        </p:txBody>
      </p:sp>
      <p:sp>
        <p:nvSpPr>
          <p:cNvPr id="12" name="Text 9"/>
          <p:cNvSpPr/>
          <p:nvPr/>
        </p:nvSpPr>
        <p:spPr>
          <a:xfrm>
            <a:off x="5852160" y="2012735"/>
            <a:ext cx="1828800" cy="228600"/>
          </a:xfrm>
          <a:prstGeom prst="rect">
            <a:avLst/>
          </a:prstGeom>
          <a:noFill/>
          <a:ln/>
        </p:spPr>
        <p:txBody>
          <a:bodyPr wrap="square" lIns="0" tIns="0" rIns="0" bIns="0" rtlCol="0" anchor="ctr"/>
          <a:lstStyle/>
          <a:p>
            <a:pPr marL="0" indent="0">
              <a:buNone/>
            </a:pPr>
            <a:r>
              <a:rPr lang="en-US" sz="1000" b="1" dirty="0">
                <a:solidFill>
                  <a:srgbClr val="0F1B2D"/>
                </a:solidFill>
                <a:latin typeface="Open Sauce One" pitchFamily="34" charset="0"/>
                <a:ea typeface="Open Sauce One" pitchFamily="34" charset="-122"/>
                <a:cs typeface="Open Sauce One" pitchFamily="34" charset="-120"/>
              </a:rPr>
              <a:t>Contrarian Bet</a:t>
            </a:r>
            <a:endParaRPr lang="en-US" sz="1000" dirty="0"/>
          </a:p>
        </p:txBody>
      </p:sp>
      <p:sp>
        <p:nvSpPr>
          <p:cNvPr id="13" name="Text 10"/>
          <p:cNvSpPr/>
          <p:nvPr/>
        </p:nvSpPr>
        <p:spPr>
          <a:xfrm>
            <a:off x="5852160" y="2241335"/>
            <a:ext cx="1371600" cy="228600"/>
          </a:xfrm>
          <a:prstGeom prst="rect">
            <a:avLst/>
          </a:prstGeom>
          <a:noFill/>
          <a:ln/>
        </p:spPr>
        <p:txBody>
          <a:bodyPr wrap="square" lIns="0" tIns="0" rIns="0" bIns="0" rtlCol="0" anchor="ctr"/>
          <a:lstStyle/>
          <a:p>
            <a:pPr marL="0" indent="0">
              <a:buNone/>
            </a:pPr>
            <a:r>
              <a:rPr lang="en-US" sz="1400" b="1" dirty="0">
                <a:solidFill>
                  <a:srgbClr val="1565C0"/>
                </a:solidFill>
                <a:latin typeface="Open Sauce One" pitchFamily="34" charset="0"/>
                <a:ea typeface="Open Sauce One" pitchFamily="34" charset="-122"/>
                <a:cs typeface="Open Sauce One" pitchFamily="34" charset="-120"/>
              </a:rPr>
              <a:t>85–95%</a:t>
            </a:r>
            <a:endParaRPr lang="en-US" sz="1400" dirty="0"/>
          </a:p>
        </p:txBody>
      </p:sp>
      <p:sp>
        <p:nvSpPr>
          <p:cNvPr id="15" name="Shape 12"/>
          <p:cNvSpPr/>
          <p:nvPr/>
        </p:nvSpPr>
        <p:spPr>
          <a:xfrm>
            <a:off x="5669280" y="2698535"/>
            <a:ext cx="64008" cy="548640"/>
          </a:xfrm>
          <a:prstGeom prst="rect">
            <a:avLst/>
          </a:prstGeom>
          <a:solidFill>
            <a:srgbClr val="F9A825"/>
          </a:solidFill>
          <a:ln/>
        </p:spPr>
        <p:txBody>
          <a:bodyPr/>
          <a:lstStyle/>
          <a:p>
            <a:endParaRPr lang="en-US"/>
          </a:p>
        </p:txBody>
      </p:sp>
      <p:sp>
        <p:nvSpPr>
          <p:cNvPr id="16" name="Text 13"/>
          <p:cNvSpPr/>
          <p:nvPr/>
        </p:nvSpPr>
        <p:spPr>
          <a:xfrm>
            <a:off x="5852160" y="2698535"/>
            <a:ext cx="1828800" cy="228600"/>
          </a:xfrm>
          <a:prstGeom prst="rect">
            <a:avLst/>
          </a:prstGeom>
          <a:noFill/>
          <a:ln/>
        </p:spPr>
        <p:txBody>
          <a:bodyPr wrap="square" lIns="0" tIns="0" rIns="0" bIns="0" rtlCol="0" anchor="ctr"/>
          <a:lstStyle/>
          <a:p>
            <a:pPr marL="0" indent="0">
              <a:buNone/>
            </a:pPr>
            <a:r>
              <a:rPr lang="en-US" sz="1000" b="1" dirty="0">
                <a:solidFill>
                  <a:srgbClr val="0F1B2D"/>
                </a:solidFill>
                <a:latin typeface="Open Sauce One" pitchFamily="34" charset="0"/>
                <a:ea typeface="Open Sauce One" pitchFamily="34" charset="-122"/>
                <a:cs typeface="Open Sauce One" pitchFamily="34" charset="-120"/>
              </a:rPr>
              <a:t>Rising Tide</a:t>
            </a:r>
            <a:endParaRPr lang="en-US" sz="1000" dirty="0"/>
          </a:p>
        </p:txBody>
      </p:sp>
      <p:sp>
        <p:nvSpPr>
          <p:cNvPr id="17" name="Text 14"/>
          <p:cNvSpPr/>
          <p:nvPr/>
        </p:nvSpPr>
        <p:spPr>
          <a:xfrm>
            <a:off x="5852160" y="2927135"/>
            <a:ext cx="1371600" cy="228600"/>
          </a:xfrm>
          <a:prstGeom prst="rect">
            <a:avLst/>
          </a:prstGeom>
          <a:noFill/>
          <a:ln/>
        </p:spPr>
        <p:txBody>
          <a:bodyPr wrap="square" lIns="0" tIns="0" rIns="0" bIns="0" rtlCol="0" anchor="ctr"/>
          <a:lstStyle/>
          <a:p>
            <a:pPr marL="0" indent="0">
              <a:buNone/>
            </a:pPr>
            <a:r>
              <a:rPr lang="en-US" sz="1400" b="1" dirty="0">
                <a:solidFill>
                  <a:srgbClr val="F9A825"/>
                </a:solidFill>
                <a:latin typeface="Open Sauce One" pitchFamily="34" charset="0"/>
                <a:ea typeface="Open Sauce One" pitchFamily="34" charset="-122"/>
                <a:cs typeface="Open Sauce One" pitchFamily="34" charset="-120"/>
              </a:rPr>
              <a:t>50–65%</a:t>
            </a:r>
            <a:endParaRPr lang="en-US" sz="1400" dirty="0"/>
          </a:p>
        </p:txBody>
      </p:sp>
      <p:sp>
        <p:nvSpPr>
          <p:cNvPr id="19" name="Shape 16"/>
          <p:cNvSpPr/>
          <p:nvPr/>
        </p:nvSpPr>
        <p:spPr>
          <a:xfrm>
            <a:off x="5669280" y="3384335"/>
            <a:ext cx="64008" cy="548640"/>
          </a:xfrm>
          <a:prstGeom prst="rect">
            <a:avLst/>
          </a:prstGeom>
          <a:solidFill>
            <a:srgbClr val="C62828"/>
          </a:solidFill>
          <a:ln/>
        </p:spPr>
        <p:txBody>
          <a:bodyPr/>
          <a:lstStyle/>
          <a:p>
            <a:endParaRPr lang="en-US"/>
          </a:p>
        </p:txBody>
      </p:sp>
      <p:sp>
        <p:nvSpPr>
          <p:cNvPr id="20" name="Text 17"/>
          <p:cNvSpPr/>
          <p:nvPr/>
        </p:nvSpPr>
        <p:spPr>
          <a:xfrm>
            <a:off x="5852160" y="3384335"/>
            <a:ext cx="1828800" cy="228600"/>
          </a:xfrm>
          <a:prstGeom prst="rect">
            <a:avLst/>
          </a:prstGeom>
          <a:noFill/>
          <a:ln/>
        </p:spPr>
        <p:txBody>
          <a:bodyPr wrap="square" lIns="0" tIns="0" rIns="0" bIns="0" rtlCol="0" anchor="ctr"/>
          <a:lstStyle/>
          <a:p>
            <a:pPr marL="0" indent="0">
              <a:buNone/>
            </a:pPr>
            <a:r>
              <a:rPr lang="en-US" sz="1000" b="1" dirty="0">
                <a:solidFill>
                  <a:srgbClr val="0F1B2D"/>
                </a:solidFill>
                <a:latin typeface="Open Sauce One" pitchFamily="34" charset="0"/>
                <a:ea typeface="Open Sauce One" pitchFamily="34" charset="-122"/>
                <a:cs typeface="Open Sauce One" pitchFamily="34" charset="-120"/>
              </a:rPr>
              <a:t>Sand Castle</a:t>
            </a:r>
            <a:endParaRPr lang="en-US" sz="1000" dirty="0"/>
          </a:p>
        </p:txBody>
      </p:sp>
      <p:sp>
        <p:nvSpPr>
          <p:cNvPr id="21" name="Text 18"/>
          <p:cNvSpPr/>
          <p:nvPr/>
        </p:nvSpPr>
        <p:spPr>
          <a:xfrm>
            <a:off x="5852160" y="3612935"/>
            <a:ext cx="1371600" cy="228600"/>
          </a:xfrm>
          <a:prstGeom prst="rect">
            <a:avLst/>
          </a:prstGeom>
          <a:noFill/>
          <a:ln/>
        </p:spPr>
        <p:txBody>
          <a:bodyPr wrap="square" lIns="0" tIns="0" rIns="0" bIns="0" rtlCol="0" anchor="ctr"/>
          <a:lstStyle/>
          <a:p>
            <a:pPr marL="0" indent="0">
              <a:buNone/>
            </a:pPr>
            <a:r>
              <a:rPr lang="en-US" sz="1400" b="1" dirty="0">
                <a:solidFill>
                  <a:srgbClr val="C62828"/>
                </a:solidFill>
                <a:latin typeface="Open Sauce One" pitchFamily="34" charset="0"/>
                <a:ea typeface="Open Sauce One" pitchFamily="34" charset="-122"/>
                <a:cs typeface="Open Sauce One" pitchFamily="34" charset="-120"/>
              </a:rPr>
              <a:t>25–40%</a:t>
            </a:r>
            <a:endParaRPr lang="en-US" sz="1400" dirty="0"/>
          </a:p>
        </p:txBody>
      </p:sp>
      <p:sp>
        <p:nvSpPr>
          <p:cNvPr id="22" name="Text 19"/>
          <p:cNvSpPr/>
          <p:nvPr/>
        </p:nvSpPr>
        <p:spPr>
          <a:xfrm>
            <a:off x="7498080" y="3612935"/>
            <a:ext cx="1645920" cy="228600"/>
          </a:xfrm>
          <a:prstGeom prst="rect">
            <a:avLst/>
          </a:prstGeom>
          <a:noFill/>
          <a:ln/>
        </p:spPr>
        <p:txBody>
          <a:bodyPr wrap="square" lIns="0" tIns="0" rIns="0" bIns="0" rtlCol="0" anchor="ctr"/>
          <a:lstStyle/>
          <a:p>
            <a:r>
              <a:rPr lang="en-US" sz="900" dirty="0">
                <a:solidFill>
                  <a:srgbClr val="8B95A5"/>
                </a:solidFill>
                <a:latin typeface="Open Sauce One" pitchFamily="34" charset="0"/>
                <a:ea typeface="Open Sauce One" pitchFamily="34" charset="-122"/>
                <a:cs typeface="Open Sauce One" pitchFamily="34" charset="-120"/>
              </a:rPr>
              <a:t>Margin Retention Rate</a:t>
            </a:r>
            <a:endParaRPr lang="en-US" sz="900" dirty="0"/>
          </a:p>
        </p:txBody>
      </p:sp>
      <p:grpSp>
        <p:nvGrpSpPr>
          <p:cNvPr id="25" name="Group 24">
            <a:extLst>
              <a:ext uri="{FF2B5EF4-FFF2-40B4-BE49-F238E27FC236}">
                <a16:creationId xmlns:a16="http://schemas.microsoft.com/office/drawing/2014/main" id="{92B5DC64-D59D-5D52-487C-5F9BCD243EF2}"/>
              </a:ext>
            </a:extLst>
          </p:cNvPr>
          <p:cNvGrpSpPr/>
          <p:nvPr/>
        </p:nvGrpSpPr>
        <p:grpSpPr>
          <a:xfrm>
            <a:off x="457200" y="640080"/>
            <a:ext cx="7863840" cy="457200"/>
            <a:chOff x="640080" y="4029415"/>
            <a:chExt cx="7863840" cy="457200"/>
          </a:xfrm>
        </p:grpSpPr>
        <p:sp>
          <p:nvSpPr>
            <p:cNvPr id="23" name="Shape 20"/>
            <p:cNvSpPr/>
            <p:nvPr/>
          </p:nvSpPr>
          <p:spPr>
            <a:xfrm>
              <a:off x="640080" y="4029415"/>
              <a:ext cx="7863840" cy="457200"/>
            </a:xfrm>
            <a:prstGeom prst="rect">
              <a:avLst/>
            </a:prstGeom>
            <a:solidFill>
              <a:srgbClr val="0F1B2D"/>
            </a:solidFill>
            <a:ln/>
          </p:spPr>
          <p:txBody>
            <a:bodyPr/>
            <a:lstStyle/>
            <a:p>
              <a:endParaRPr lang="en-US"/>
            </a:p>
          </p:txBody>
        </p:sp>
        <p:sp>
          <p:nvSpPr>
            <p:cNvPr id="24" name="Text 21"/>
            <p:cNvSpPr/>
            <p:nvPr/>
          </p:nvSpPr>
          <p:spPr>
            <a:xfrm>
              <a:off x="914400" y="4029415"/>
              <a:ext cx="7315200" cy="457200"/>
            </a:xfrm>
            <a:prstGeom prst="rect">
              <a:avLst/>
            </a:prstGeom>
            <a:noFill/>
            <a:ln/>
          </p:spPr>
          <p:txBody>
            <a:bodyPr wrap="square" lIns="0" tIns="0" rIns="0" bIns="0" rtlCol="0" anchor="ctr"/>
            <a:lstStyle/>
            <a:p>
              <a:pPr marL="0" indent="0">
                <a:buNone/>
              </a:pPr>
              <a:r>
                <a:rPr lang="en-US" sz="1200" b="1" dirty="0">
                  <a:solidFill>
                    <a:srgbClr val="FFFFFF"/>
                  </a:solidFill>
                  <a:latin typeface="Open Sauce One" pitchFamily="34" charset="0"/>
                  <a:ea typeface="Open Sauce One" pitchFamily="34" charset="-122"/>
                  <a:cs typeface="Open Sauce One" pitchFamily="34" charset="-120"/>
                </a:rPr>
                <a:t>The critical variable is not the size of the AI opportunity — it’s margin retention from AI savings.</a:t>
              </a:r>
              <a:endParaRPr lang="en-US" sz="1200" dirty="0"/>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4828032"/>
            <a:ext cx="7772400" cy="274320"/>
          </a:xfrm>
          <a:prstGeom prst="rect">
            <a:avLst/>
          </a:prstGeom>
          <a:noFill/>
          <a:ln/>
        </p:spPr>
        <p:txBody>
          <a:bodyPr wrap="square" lIns="0" tIns="0" rIns="0" bIns="0" rtlCol="0" anchor="ctr"/>
          <a:lstStyle/>
          <a:p>
            <a:pPr marL="0" indent="0">
              <a:buNone/>
            </a:pPr>
            <a:r>
              <a:rPr lang="en-US" sz="800" dirty="0">
                <a:solidFill>
                  <a:srgbClr val="FFFFFF"/>
                </a:solidFill>
                <a:latin typeface="Open Sauce One" pitchFamily="34" charset="0"/>
                <a:ea typeface="Open Sauce One" pitchFamily="34" charset="-122"/>
                <a:cs typeface="Open Sauce One" pitchFamily="34" charset="-120"/>
              </a:rPr>
              <a:t>The Moat in the Machine  |  Dutchess Management  |  February 2026  |  Working Draft</a:t>
            </a:r>
            <a:endParaRPr lang="en-US" sz="800" dirty="0"/>
          </a:p>
        </p:txBody>
      </p:sp>
      <p:sp>
        <p:nvSpPr>
          <p:cNvPr id="3" name="Text 1"/>
          <p:cNvSpPr/>
          <p:nvPr/>
        </p:nvSpPr>
        <p:spPr>
          <a:xfrm>
            <a:off x="8412480" y="4828032"/>
            <a:ext cx="548640" cy="274320"/>
          </a:xfrm>
          <a:prstGeom prst="rect">
            <a:avLst/>
          </a:prstGeom>
          <a:noFill/>
          <a:ln/>
        </p:spPr>
        <p:txBody>
          <a:bodyPr wrap="square" lIns="0" tIns="0" rIns="0" bIns="0" rtlCol="0" anchor="ctr"/>
          <a:lstStyle/>
          <a:p>
            <a:pPr marL="0" indent="0" algn="r">
              <a:buNone/>
            </a:pPr>
            <a:endParaRPr lang="en-US" sz="900" dirty="0"/>
          </a:p>
        </p:txBody>
      </p:sp>
      <p:sp>
        <p:nvSpPr>
          <p:cNvPr id="4" name="Text 2"/>
          <p:cNvSpPr/>
          <p:nvPr/>
        </p:nvSpPr>
        <p:spPr>
          <a:xfrm>
            <a:off x="640080" y="274320"/>
            <a:ext cx="7863840" cy="365760"/>
          </a:xfrm>
          <a:prstGeom prst="rect">
            <a:avLst/>
          </a:prstGeom>
          <a:noFill/>
          <a:ln/>
        </p:spPr>
        <p:txBody>
          <a:bodyPr wrap="square" lIns="0" tIns="0" rIns="0" bIns="0" rtlCol="0" anchor="ctr"/>
          <a:lstStyle/>
          <a:p>
            <a:pPr marL="0" indent="0">
              <a:buNone/>
            </a:pPr>
            <a:r>
              <a:rPr lang="en-US" sz="1300" b="1" kern="0" spc="300" dirty="0">
                <a:solidFill>
                  <a:srgbClr val="E8563A"/>
                </a:solidFill>
                <a:latin typeface="Open Sauce One" pitchFamily="34" charset="0"/>
                <a:ea typeface="Open Sauce One" pitchFamily="34" charset="-122"/>
                <a:cs typeface="Open Sauce One" pitchFamily="34" charset="-120"/>
              </a:rPr>
              <a:t>GENAI CREATED AN OBSERVABLE STRUCTURAL CHANGE</a:t>
            </a:r>
            <a:endParaRPr lang="en-US" sz="1300" dirty="0"/>
          </a:p>
        </p:txBody>
      </p:sp>
      <p:sp>
        <p:nvSpPr>
          <p:cNvPr id="5" name="Text 3"/>
          <p:cNvSpPr/>
          <p:nvPr/>
        </p:nvSpPr>
        <p:spPr>
          <a:xfrm>
            <a:off x="640080" y="658368"/>
            <a:ext cx="7863840" cy="320040"/>
          </a:xfrm>
          <a:prstGeom prst="rect">
            <a:avLst/>
          </a:prstGeom>
          <a:noFill/>
          <a:ln/>
        </p:spPr>
        <p:txBody>
          <a:bodyPr wrap="square" lIns="0" tIns="0" rIns="0" bIns="0" rtlCol="0" anchor="ctr"/>
          <a:lstStyle/>
          <a:p>
            <a:pPr marL="0" indent="0">
              <a:buNone/>
            </a:pPr>
            <a:r>
              <a:rPr lang="en-US" sz="1200" dirty="0">
                <a:solidFill>
                  <a:srgbClr val="5A6577"/>
                </a:solidFill>
                <a:latin typeface="Open Sauce One" pitchFamily="34" charset="0"/>
                <a:ea typeface="Open Sauce One" pitchFamily="34" charset="-122"/>
                <a:cs typeface="Open Sauce One" pitchFamily="34" charset="-120"/>
              </a:rPr>
              <a:t>The automation penalty appeared only after ChatGPT. A panel DID confirms the structural break where automation exposure drives lower returns.</a:t>
            </a:r>
            <a:endParaRPr lang="en-US" sz="1200" dirty="0"/>
          </a:p>
        </p:txBody>
      </p:sp>
      <p:pic>
        <p:nvPicPr>
          <p:cNvPr id="6" name="Image 0" descr="/sessions/nifty-wizardly-meitner/mnt/data_pack/figures/fig10_panel_did.png"/>
          <p:cNvPicPr>
            <a:picLocks noChangeAspect="1"/>
          </p:cNvPicPr>
          <p:nvPr/>
        </p:nvPicPr>
        <p:blipFill>
          <a:blip r:embed="rId3"/>
          <a:stretch>
            <a:fillRect/>
          </a:stretch>
        </p:blipFill>
        <p:spPr>
          <a:xfrm>
            <a:off x="1529046" y="1022718"/>
            <a:ext cx="5761931" cy="3404068"/>
          </a:xfrm>
          <a:prstGeom prst="rect">
            <a:avLst/>
          </a:prstGeom>
        </p:spPr>
      </p:pic>
      <p:sp>
        <p:nvSpPr>
          <p:cNvPr id="19" name="Text 16"/>
          <p:cNvSpPr/>
          <p:nvPr/>
        </p:nvSpPr>
        <p:spPr>
          <a:xfrm>
            <a:off x="2262383" y="4535969"/>
            <a:ext cx="8046720" cy="182880"/>
          </a:xfrm>
          <a:prstGeom prst="rect">
            <a:avLst/>
          </a:prstGeom>
          <a:noFill/>
          <a:ln/>
        </p:spPr>
        <p:txBody>
          <a:bodyPr wrap="square" lIns="0" tIns="0" rIns="0" bIns="0" rtlCol="0" anchor="ctr"/>
          <a:lstStyle/>
          <a:p>
            <a:pPr marL="0" indent="0">
              <a:buNone/>
            </a:pPr>
            <a:r>
              <a:rPr lang="en-US" sz="750" i="1" dirty="0">
                <a:solidFill>
                  <a:srgbClr val="8B95A5"/>
                </a:solidFill>
                <a:latin typeface="Open Sauce One" pitchFamily="34" charset="0"/>
                <a:ea typeface="Open Sauce One" pitchFamily="34" charset="-122"/>
                <a:cs typeface="Open Sauce One" pitchFamily="34" charset="-120"/>
              </a:rPr>
              <a:t>Panel DID with ticker &amp; month fixed effects. SEs clustered at ticker level. </a:t>
            </a:r>
            <a:r>
              <a:rPr lang="en-US" sz="750" b="1" i="1" dirty="0">
                <a:solidFill>
                  <a:srgbClr val="8B95A5"/>
                </a:solidFill>
                <a:latin typeface="Open Sauce One" pitchFamily="34" charset="0"/>
                <a:ea typeface="Open Sauce One" pitchFamily="34" charset="-122"/>
                <a:cs typeface="Open Sauce One" pitchFamily="34" charset="-120"/>
              </a:rPr>
              <a:t>Break date: Nov 30, 2022.</a:t>
            </a:r>
            <a:endParaRPr lang="en-US" sz="750" b="1"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4828032"/>
            <a:ext cx="7772400" cy="274320"/>
          </a:xfrm>
          <a:prstGeom prst="rect">
            <a:avLst/>
          </a:prstGeom>
          <a:noFill/>
          <a:ln/>
        </p:spPr>
        <p:txBody>
          <a:bodyPr wrap="square" lIns="0" tIns="0" rIns="0" bIns="0" rtlCol="0" anchor="ctr"/>
          <a:lstStyle/>
          <a:p>
            <a:pPr marL="0" indent="0">
              <a:buNone/>
            </a:pPr>
            <a:r>
              <a:rPr lang="en-US" sz="800" dirty="0">
                <a:solidFill>
                  <a:srgbClr val="FFFFFF"/>
                </a:solidFill>
                <a:latin typeface="Open Sauce One" pitchFamily="34" charset="0"/>
                <a:ea typeface="Open Sauce One" pitchFamily="34" charset="-122"/>
                <a:cs typeface="Open Sauce One" pitchFamily="34" charset="-120"/>
              </a:rPr>
              <a:t>The Moat in the Machine  |  Dutchess Management  |  February 2026  |  Working Draft</a:t>
            </a:r>
            <a:endParaRPr lang="en-US" sz="800" dirty="0"/>
          </a:p>
        </p:txBody>
      </p:sp>
      <p:sp>
        <p:nvSpPr>
          <p:cNvPr id="3" name="Text 1"/>
          <p:cNvSpPr/>
          <p:nvPr/>
        </p:nvSpPr>
        <p:spPr>
          <a:xfrm>
            <a:off x="8412480" y="4828032"/>
            <a:ext cx="548640" cy="274320"/>
          </a:xfrm>
          <a:prstGeom prst="rect">
            <a:avLst/>
          </a:prstGeom>
          <a:noFill/>
          <a:ln/>
        </p:spPr>
        <p:txBody>
          <a:bodyPr wrap="square" lIns="0" tIns="0" rIns="0" bIns="0" rtlCol="0" anchor="ctr"/>
          <a:lstStyle/>
          <a:p>
            <a:pPr marL="0" indent="0" algn="r">
              <a:buNone/>
            </a:pPr>
            <a:endParaRPr lang="en-US" sz="900" dirty="0"/>
          </a:p>
        </p:txBody>
      </p:sp>
      <p:sp>
        <p:nvSpPr>
          <p:cNvPr id="4" name="Text 2"/>
          <p:cNvSpPr/>
          <p:nvPr/>
        </p:nvSpPr>
        <p:spPr>
          <a:xfrm>
            <a:off x="640080" y="274320"/>
            <a:ext cx="7863840" cy="365760"/>
          </a:xfrm>
          <a:prstGeom prst="rect">
            <a:avLst/>
          </a:prstGeom>
          <a:noFill/>
          <a:ln/>
        </p:spPr>
        <p:txBody>
          <a:bodyPr wrap="square" lIns="0" tIns="0" rIns="0" bIns="0" rtlCol="0" anchor="ctr"/>
          <a:lstStyle/>
          <a:p>
            <a:pPr marL="0" indent="0">
              <a:buNone/>
            </a:pPr>
            <a:r>
              <a:rPr lang="en-US" sz="1300" b="1" kern="0" spc="300" dirty="0">
                <a:solidFill>
                  <a:srgbClr val="E8563A"/>
                </a:solidFill>
                <a:latin typeface="Open Sauce One" pitchFamily="34" charset="0"/>
                <a:ea typeface="Open Sauce One" pitchFamily="34" charset="-122"/>
                <a:cs typeface="Open Sauce One" pitchFamily="34" charset="-120"/>
              </a:rPr>
              <a:t>BUYER BEWARE</a:t>
            </a:r>
            <a:endParaRPr lang="en-US" sz="1300" dirty="0"/>
          </a:p>
        </p:txBody>
      </p:sp>
      <p:sp>
        <p:nvSpPr>
          <p:cNvPr id="5" name="Text 3"/>
          <p:cNvSpPr/>
          <p:nvPr/>
        </p:nvSpPr>
        <p:spPr>
          <a:xfrm>
            <a:off x="640080" y="658368"/>
            <a:ext cx="8321040" cy="320040"/>
          </a:xfrm>
          <a:prstGeom prst="rect">
            <a:avLst/>
          </a:prstGeom>
          <a:noFill/>
          <a:ln/>
        </p:spPr>
        <p:txBody>
          <a:bodyPr wrap="square" lIns="0" tIns="0" rIns="0" bIns="0" rtlCol="0" anchor="ctr"/>
          <a:lstStyle/>
          <a:p>
            <a:pPr marL="0" indent="0">
              <a:buNone/>
            </a:pPr>
            <a:r>
              <a:rPr lang="en-US" sz="1300" b="1" dirty="0">
                <a:solidFill>
                  <a:srgbClr val="0F1B2D"/>
                </a:solidFill>
                <a:latin typeface="Open Sauce One" pitchFamily="34" charset="0"/>
                <a:ea typeface="Open Sauce One" pitchFamily="34" charset="-122"/>
                <a:cs typeface="Open Sauce One" pitchFamily="34" charset="-120"/>
              </a:rPr>
              <a:t>PE M&amp;A data vs Automation scoring shows buyers were paying premium multiples for Sand Castles.</a:t>
            </a:r>
            <a:endParaRPr lang="en-US" sz="1300" dirty="0"/>
          </a:p>
        </p:txBody>
      </p:sp>
      <p:pic>
        <p:nvPicPr>
          <p:cNvPr id="6" name="Image 0" descr="/sessions/nifty-wizardly-meitner/mnt/data_pack/figures/fig11_ev_vs_returns.png"/>
          <p:cNvPicPr>
            <a:picLocks noChangeAspect="1"/>
          </p:cNvPicPr>
          <p:nvPr/>
        </p:nvPicPr>
        <p:blipFill>
          <a:blip r:embed="rId3"/>
          <a:stretch>
            <a:fillRect/>
          </a:stretch>
        </p:blipFill>
        <p:spPr>
          <a:xfrm>
            <a:off x="1540196" y="1097280"/>
            <a:ext cx="6063609" cy="2743200"/>
          </a:xfrm>
          <a:prstGeom prst="rect">
            <a:avLst/>
          </a:prstGeom>
        </p:spPr>
      </p:pic>
      <p:sp>
        <p:nvSpPr>
          <p:cNvPr id="7" name="Shape 4"/>
          <p:cNvSpPr/>
          <p:nvPr/>
        </p:nvSpPr>
        <p:spPr>
          <a:xfrm>
            <a:off x="640080" y="3931920"/>
            <a:ext cx="3749040" cy="548640"/>
          </a:xfrm>
          <a:prstGeom prst="rect">
            <a:avLst/>
          </a:prstGeom>
          <a:solidFill>
            <a:srgbClr val="0F1B2D"/>
          </a:solidFill>
          <a:ln/>
        </p:spPr>
        <p:txBody>
          <a:bodyPr/>
          <a:lstStyle/>
          <a:p>
            <a:endParaRPr lang="en-US"/>
          </a:p>
        </p:txBody>
      </p:sp>
      <p:sp>
        <p:nvSpPr>
          <p:cNvPr id="8" name="Text 5"/>
          <p:cNvSpPr/>
          <p:nvPr/>
        </p:nvSpPr>
        <p:spPr>
          <a:xfrm>
            <a:off x="822960" y="3931920"/>
            <a:ext cx="3383280" cy="548640"/>
          </a:xfrm>
          <a:prstGeom prst="rect">
            <a:avLst/>
          </a:prstGeom>
          <a:noFill/>
          <a:ln/>
        </p:spPr>
        <p:txBody>
          <a:bodyPr wrap="square" lIns="0" tIns="0" rIns="0" bIns="0" rtlCol="0" anchor="ctr"/>
          <a:lstStyle/>
          <a:p>
            <a:pPr marL="0" indent="0">
              <a:buNone/>
            </a:pPr>
            <a:r>
              <a:rPr lang="en-US" sz="1000" dirty="0">
                <a:solidFill>
                  <a:srgbClr val="C5CCD6"/>
                </a:solidFill>
                <a:latin typeface="Open Sauce One" pitchFamily="34" charset="0"/>
                <a:ea typeface="Open Sauce One" pitchFamily="34" charset="-122"/>
                <a:cs typeface="Open Sauce One" pitchFamily="34" charset="-120"/>
              </a:rPr>
              <a:t>EV/EBITDA vs. automation: </a:t>
            </a:r>
            <a:r>
              <a:rPr lang="en-US" sz="1100" b="1" dirty="0">
                <a:solidFill>
                  <a:srgbClr val="E8563A"/>
                </a:solidFill>
                <a:latin typeface="Open Sauce One" pitchFamily="34" charset="0"/>
                <a:ea typeface="Open Sauce One" pitchFamily="34" charset="-122"/>
                <a:cs typeface="Open Sauce One" pitchFamily="34" charset="-120"/>
              </a:rPr>
              <a:t>ρ = +0.474 (p = 0.0001)</a:t>
            </a:r>
            <a:endParaRPr lang="en-US" sz="1000" dirty="0"/>
          </a:p>
        </p:txBody>
      </p:sp>
      <p:sp>
        <p:nvSpPr>
          <p:cNvPr id="9" name="Shape 6"/>
          <p:cNvSpPr/>
          <p:nvPr/>
        </p:nvSpPr>
        <p:spPr>
          <a:xfrm>
            <a:off x="4754880" y="3931920"/>
            <a:ext cx="3749040" cy="548640"/>
          </a:xfrm>
          <a:prstGeom prst="rect">
            <a:avLst/>
          </a:prstGeom>
          <a:solidFill>
            <a:srgbClr val="0F1B2D"/>
          </a:solidFill>
          <a:ln/>
        </p:spPr>
        <p:txBody>
          <a:bodyPr/>
          <a:lstStyle/>
          <a:p>
            <a:endParaRPr lang="en-US"/>
          </a:p>
        </p:txBody>
      </p:sp>
      <p:sp>
        <p:nvSpPr>
          <p:cNvPr id="10" name="Text 7"/>
          <p:cNvSpPr/>
          <p:nvPr/>
        </p:nvSpPr>
        <p:spPr>
          <a:xfrm>
            <a:off x="4937760" y="3931920"/>
            <a:ext cx="3383280" cy="548640"/>
          </a:xfrm>
          <a:prstGeom prst="rect">
            <a:avLst/>
          </a:prstGeom>
          <a:noFill/>
          <a:ln/>
        </p:spPr>
        <p:txBody>
          <a:bodyPr wrap="square" lIns="0" tIns="0" rIns="0" bIns="0" rtlCol="0" anchor="ctr"/>
          <a:lstStyle/>
          <a:p>
            <a:pPr marL="0" indent="0">
              <a:buNone/>
            </a:pPr>
            <a:r>
              <a:rPr lang="en-US" sz="1000" dirty="0">
                <a:solidFill>
                  <a:srgbClr val="C5CCD6"/>
                </a:solidFill>
                <a:latin typeface="Open Sauce One" pitchFamily="34" charset="0"/>
                <a:ea typeface="Open Sauce One" pitchFamily="34" charset="-122"/>
                <a:cs typeface="Open Sauce One" pitchFamily="34" charset="-120"/>
              </a:rPr>
              <a:t>Returns vs. automation: </a:t>
            </a:r>
            <a:r>
              <a:rPr lang="en-US" sz="1100" b="1" dirty="0">
                <a:solidFill>
                  <a:srgbClr val="E8563A"/>
                </a:solidFill>
                <a:latin typeface="Open Sauce One" pitchFamily="34" charset="0"/>
                <a:ea typeface="Open Sauce One" pitchFamily="34" charset="-122"/>
                <a:cs typeface="Open Sauce One" pitchFamily="34" charset="-120"/>
              </a:rPr>
              <a:t>ρ = −0.584 (p = 0.018)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4828032"/>
            <a:ext cx="7772400" cy="274320"/>
          </a:xfrm>
          <a:prstGeom prst="rect">
            <a:avLst/>
          </a:prstGeom>
          <a:noFill/>
          <a:ln/>
        </p:spPr>
        <p:txBody>
          <a:bodyPr wrap="square" lIns="0" tIns="0" rIns="0" bIns="0" rtlCol="0" anchor="ctr"/>
          <a:lstStyle/>
          <a:p>
            <a:pPr marL="0" indent="0">
              <a:buNone/>
            </a:pPr>
            <a:r>
              <a:rPr lang="en-US" sz="800" dirty="0">
                <a:solidFill>
                  <a:srgbClr val="FFFFFF"/>
                </a:solidFill>
                <a:latin typeface="Open Sauce One" pitchFamily="34" charset="0"/>
                <a:ea typeface="Open Sauce One" pitchFamily="34" charset="-122"/>
                <a:cs typeface="Open Sauce One" pitchFamily="34" charset="-120"/>
              </a:rPr>
              <a:t>The Moat in the Machine  |  Dutchess Management  |  February 2026  |  Working Draft</a:t>
            </a:r>
            <a:endParaRPr lang="en-US" sz="800" dirty="0"/>
          </a:p>
        </p:txBody>
      </p:sp>
      <p:sp>
        <p:nvSpPr>
          <p:cNvPr id="3" name="Text 1"/>
          <p:cNvSpPr/>
          <p:nvPr/>
        </p:nvSpPr>
        <p:spPr>
          <a:xfrm>
            <a:off x="8412480" y="4828032"/>
            <a:ext cx="548640" cy="274320"/>
          </a:xfrm>
          <a:prstGeom prst="rect">
            <a:avLst/>
          </a:prstGeom>
          <a:noFill/>
          <a:ln/>
        </p:spPr>
        <p:txBody>
          <a:bodyPr wrap="square" lIns="0" tIns="0" rIns="0" bIns="0" rtlCol="0" anchor="ctr"/>
          <a:lstStyle/>
          <a:p>
            <a:pPr marL="0" indent="0" algn="r">
              <a:buNone/>
            </a:pPr>
            <a:endParaRPr lang="en-US" sz="900" dirty="0"/>
          </a:p>
        </p:txBody>
      </p:sp>
      <p:sp>
        <p:nvSpPr>
          <p:cNvPr id="4" name="Text 2"/>
          <p:cNvSpPr/>
          <p:nvPr/>
        </p:nvSpPr>
        <p:spPr>
          <a:xfrm>
            <a:off x="640080" y="274320"/>
            <a:ext cx="8321040" cy="365760"/>
          </a:xfrm>
          <a:prstGeom prst="rect">
            <a:avLst/>
          </a:prstGeom>
          <a:noFill/>
          <a:ln/>
        </p:spPr>
        <p:txBody>
          <a:bodyPr wrap="square" lIns="0" tIns="0" rIns="0" bIns="0" rtlCol="0" anchor="ctr"/>
          <a:lstStyle/>
          <a:p>
            <a:pPr marL="0" indent="0">
              <a:buNone/>
            </a:pPr>
            <a:r>
              <a:rPr lang="en-US" sz="1300" b="1" kern="0" spc="200" dirty="0">
                <a:solidFill>
                  <a:srgbClr val="E8563A"/>
                </a:solidFill>
                <a:latin typeface="Open Sauce One" pitchFamily="34" charset="0"/>
                <a:ea typeface="Open Sauce One" pitchFamily="34" charset="-122"/>
                <a:cs typeface="Open Sauce One" pitchFamily="34" charset="-120"/>
              </a:rPr>
              <a:t>AND LOWER MARKET RETURN DRIVEN BY EXPOSURE IS STATISTICALLY OBSERVABLE AS REPRICING PICKS UP PACE</a:t>
            </a:r>
            <a:endParaRPr lang="en-US" sz="1300" dirty="0"/>
          </a:p>
        </p:txBody>
      </p:sp>
      <p:pic>
        <p:nvPicPr>
          <p:cNvPr id="5" name="Image 0" descr="/sessions/nifty-wizardly-meitner/mnt/data_pack/figures/fig2_returns.png"/>
          <p:cNvPicPr>
            <a:picLocks noChangeAspect="1"/>
          </p:cNvPicPr>
          <p:nvPr/>
        </p:nvPicPr>
        <p:blipFill>
          <a:blip r:embed="rId3"/>
          <a:stretch>
            <a:fillRect/>
          </a:stretch>
        </p:blipFill>
        <p:spPr>
          <a:xfrm>
            <a:off x="1259572" y="674872"/>
            <a:ext cx="6279686" cy="3566427"/>
          </a:xfrm>
          <a:prstGeom prst="rect">
            <a:avLst/>
          </a:prstGeom>
        </p:spPr>
      </p:pic>
      <p:sp>
        <p:nvSpPr>
          <p:cNvPr id="6" name="Text 3"/>
          <p:cNvSpPr/>
          <p:nvPr/>
        </p:nvSpPr>
        <p:spPr>
          <a:xfrm>
            <a:off x="640080" y="4265836"/>
            <a:ext cx="8046720" cy="182880"/>
          </a:xfrm>
          <a:prstGeom prst="rect">
            <a:avLst/>
          </a:prstGeom>
          <a:noFill/>
          <a:ln/>
        </p:spPr>
        <p:txBody>
          <a:bodyPr wrap="square" lIns="0" tIns="0" rIns="0" bIns="0" rtlCol="0" anchor="ctr"/>
          <a:lstStyle/>
          <a:p>
            <a:pPr marL="0" indent="0">
              <a:buNone/>
            </a:pPr>
            <a:r>
              <a:rPr lang="en-US" sz="750" i="1" dirty="0">
                <a:solidFill>
                  <a:srgbClr val="8B95A5"/>
                </a:solidFill>
                <a:latin typeface="Open Sauce One" pitchFamily="34" charset="0"/>
                <a:ea typeface="Open Sauce One" pitchFamily="34" charset="-122"/>
                <a:cs typeface="Open Sauce One" pitchFamily="34" charset="-120"/>
              </a:rPr>
              <a:t>Yahoo Finance proxy baskets, Mar 2023–Feb 2026. tickers.</a:t>
            </a:r>
            <a:endParaRPr lang="en-US" sz="750" dirty="0"/>
          </a:p>
        </p:txBody>
      </p:sp>
      <p:sp>
        <p:nvSpPr>
          <p:cNvPr id="7" name="Text 4"/>
          <p:cNvSpPr/>
          <p:nvPr/>
        </p:nvSpPr>
        <p:spPr>
          <a:xfrm>
            <a:off x="640080" y="4492759"/>
            <a:ext cx="7863840" cy="274320"/>
          </a:xfrm>
          <a:prstGeom prst="rect">
            <a:avLst/>
          </a:prstGeom>
          <a:noFill/>
          <a:ln/>
        </p:spPr>
        <p:txBody>
          <a:bodyPr wrap="square" lIns="0" tIns="0" rIns="0" bIns="0" rtlCol="0" anchor="ctr"/>
          <a:lstStyle/>
          <a:p>
            <a:r>
              <a:rPr lang="en-US" sz="1000" b="1" dirty="0">
                <a:solidFill>
                  <a:srgbClr val="0F1B2D"/>
                </a:solidFill>
                <a:latin typeface="Open Sauce One" pitchFamily="34" charset="0"/>
                <a:ea typeface="Open Sauce One" pitchFamily="34" charset="-122"/>
                <a:cs typeface="Open Sauce One" pitchFamily="34" charset="-120"/>
              </a:rPr>
              <a:t>Task automatability vs. return: </a:t>
            </a:r>
            <a:r>
              <a:rPr lang="en-US" sz="1000" dirty="0">
                <a:solidFill>
                  <a:srgbClr val="0F1B2D"/>
                </a:solidFill>
                <a:latin typeface="Open Sauce One" pitchFamily="34" charset="0"/>
                <a:ea typeface="Open Sauce One" pitchFamily="34" charset="-122"/>
                <a:cs typeface="Open Sauce One" pitchFamily="34" charset="-120"/>
              </a:rPr>
              <a:t>Sand Castles avg. −43% (excl. macro-confounded). Contrarian Bets avg. +44%. </a:t>
            </a:r>
            <a:br>
              <a:rPr lang="en-US" sz="1000" dirty="0">
                <a:solidFill>
                  <a:srgbClr val="0F1B2D"/>
                </a:solidFill>
                <a:latin typeface="Open Sauce One" pitchFamily="34" charset="0"/>
                <a:ea typeface="Open Sauce One" pitchFamily="34" charset="-122"/>
                <a:cs typeface="Open Sauce One" pitchFamily="34" charset="-120"/>
              </a:rPr>
            </a:br>
            <a:r>
              <a:rPr lang="en-US" sz="1000" dirty="0" err="1">
                <a:solidFill>
                  <a:srgbClr val="0F1B2D"/>
                </a:solidFill>
                <a:latin typeface="Open Sauce One" pitchFamily="34" charset="0"/>
                <a:ea typeface="Open Sauce One" pitchFamily="34" charset="-122"/>
                <a:cs typeface="Open Sauce One" pitchFamily="34" charset="-120"/>
              </a:rPr>
              <a:t>ρ</a:t>
            </a:r>
            <a:r>
              <a:rPr lang="en-US" sz="1000" dirty="0">
                <a:solidFill>
                  <a:srgbClr val="0F1B2D"/>
                </a:solidFill>
                <a:latin typeface="Open Sauce One" pitchFamily="34" charset="0"/>
                <a:ea typeface="Open Sauce One" pitchFamily="34" charset="-122"/>
                <a:cs typeface="Open Sauce One" pitchFamily="34" charset="-120"/>
              </a:rPr>
              <a:t> = −0.584, p = 0.018. </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4828032"/>
            <a:ext cx="7772400" cy="274320"/>
          </a:xfrm>
          <a:prstGeom prst="rect">
            <a:avLst/>
          </a:prstGeom>
          <a:noFill/>
          <a:ln/>
        </p:spPr>
        <p:txBody>
          <a:bodyPr wrap="square" lIns="0" tIns="0" rIns="0" bIns="0" rtlCol="0" anchor="ctr"/>
          <a:lstStyle/>
          <a:p>
            <a:pPr marL="0" indent="0">
              <a:buNone/>
            </a:pPr>
            <a:r>
              <a:rPr lang="en-US" sz="800" dirty="0">
                <a:solidFill>
                  <a:srgbClr val="FFFFFF"/>
                </a:solidFill>
                <a:latin typeface="Open Sauce One" pitchFamily="34" charset="0"/>
                <a:ea typeface="Open Sauce One" pitchFamily="34" charset="-122"/>
                <a:cs typeface="Open Sauce One" pitchFamily="34" charset="-120"/>
              </a:rPr>
              <a:t>The Moat in the Machine  |  Dutchess Management  |  February 2026  |  Working Draft</a:t>
            </a:r>
            <a:endParaRPr lang="en-US" sz="800" dirty="0"/>
          </a:p>
        </p:txBody>
      </p:sp>
      <p:sp>
        <p:nvSpPr>
          <p:cNvPr id="3" name="Text 1"/>
          <p:cNvSpPr/>
          <p:nvPr/>
        </p:nvSpPr>
        <p:spPr>
          <a:xfrm>
            <a:off x="8412480" y="4828032"/>
            <a:ext cx="548640" cy="274320"/>
          </a:xfrm>
          <a:prstGeom prst="rect">
            <a:avLst/>
          </a:prstGeom>
          <a:noFill/>
          <a:ln/>
        </p:spPr>
        <p:txBody>
          <a:bodyPr wrap="square" lIns="0" tIns="0" rIns="0" bIns="0" rtlCol="0" anchor="ctr"/>
          <a:lstStyle/>
          <a:p>
            <a:pPr marL="0" indent="0" algn="r">
              <a:buNone/>
            </a:pPr>
            <a:endParaRPr lang="en-US" sz="900" dirty="0"/>
          </a:p>
        </p:txBody>
      </p:sp>
      <p:sp>
        <p:nvSpPr>
          <p:cNvPr id="4" name="Text 2"/>
          <p:cNvSpPr/>
          <p:nvPr/>
        </p:nvSpPr>
        <p:spPr>
          <a:xfrm>
            <a:off x="640080" y="274320"/>
            <a:ext cx="7863840" cy="365760"/>
          </a:xfrm>
          <a:prstGeom prst="rect">
            <a:avLst/>
          </a:prstGeom>
          <a:noFill/>
          <a:ln/>
        </p:spPr>
        <p:txBody>
          <a:bodyPr wrap="square" lIns="0" tIns="0" rIns="0" bIns="0" rtlCol="0" anchor="ctr"/>
          <a:lstStyle/>
          <a:p>
            <a:pPr marL="0" indent="0">
              <a:buNone/>
            </a:pPr>
            <a:r>
              <a:rPr lang="en-US" sz="1300" b="1" kern="0" spc="300" dirty="0">
                <a:solidFill>
                  <a:srgbClr val="E8563A"/>
                </a:solidFill>
                <a:latin typeface="Open Sauce One" pitchFamily="34" charset="0"/>
                <a:ea typeface="Open Sauce One" pitchFamily="34" charset="-122"/>
                <a:cs typeface="Open Sauce One" pitchFamily="34" charset="-120"/>
              </a:rPr>
              <a:t>WHAT WE TESTED AND WHAT FAILED</a:t>
            </a:r>
            <a:endParaRPr lang="en-US" sz="1300" dirty="0"/>
          </a:p>
        </p:txBody>
      </p:sp>
      <p:sp>
        <p:nvSpPr>
          <p:cNvPr id="5" name="Text 3"/>
          <p:cNvSpPr/>
          <p:nvPr/>
        </p:nvSpPr>
        <p:spPr>
          <a:xfrm>
            <a:off x="640080" y="658368"/>
            <a:ext cx="7863840" cy="320040"/>
          </a:xfrm>
          <a:prstGeom prst="rect">
            <a:avLst/>
          </a:prstGeom>
          <a:noFill/>
          <a:ln/>
        </p:spPr>
        <p:txBody>
          <a:bodyPr wrap="square" lIns="0" tIns="0" rIns="0" bIns="0" rtlCol="0" anchor="ctr"/>
          <a:lstStyle/>
          <a:p>
            <a:pPr marL="0" indent="0">
              <a:buNone/>
            </a:pPr>
            <a:r>
              <a:rPr lang="en-US" sz="1200" dirty="0">
                <a:solidFill>
                  <a:srgbClr val="5A6577"/>
                </a:solidFill>
                <a:latin typeface="Open Sauce One" pitchFamily="34" charset="0"/>
                <a:ea typeface="Open Sauce One" pitchFamily="34" charset="-122"/>
                <a:cs typeface="Open Sauce One" pitchFamily="34" charset="-120"/>
              </a:rPr>
              <a:t>We started with every variable we could source and ran correlations against EV/EBITDA. Most failed.</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2963202358"/>
              </p:ext>
            </p:extLst>
          </p:nvPr>
        </p:nvGraphicFramePr>
        <p:xfrm>
          <a:off x="640080" y="1623060"/>
          <a:ext cx="7863840" cy="2798064"/>
        </p:xfrm>
        <a:graphic>
          <a:graphicData uri="http://schemas.openxmlformats.org/drawingml/2006/table">
            <a:tbl>
              <a:tblPr/>
              <a:tblGrid>
                <a:gridCol w="256032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3108960">
                  <a:extLst>
                    <a:ext uri="{9D8B030D-6E8A-4147-A177-3AD203B41FA5}">
                      <a16:colId xmlns:a16="http://schemas.microsoft.com/office/drawing/2014/main" val="20003"/>
                    </a:ext>
                  </a:extLst>
                </a:gridCol>
              </a:tblGrid>
              <a:tr h="365760">
                <a:tc>
                  <a:txBody>
                    <a:bodyPr/>
                    <a:lstStyle/>
                    <a:p>
                      <a:pPr marL="0" indent="0">
                        <a:buNone/>
                      </a:pPr>
                      <a:r>
                        <a:rPr lang="en-US" sz="1100" b="1" dirty="0">
                          <a:solidFill>
                            <a:srgbClr val="FFFFFF"/>
                          </a:solidFill>
                          <a:latin typeface="Open Sauce One" pitchFamily="34" charset="0"/>
                          <a:ea typeface="Open Sauce One" pitchFamily="34" charset="-122"/>
                          <a:cs typeface="Open Sauce One" pitchFamily="34" charset="-120"/>
                        </a:rPr>
                        <a:t>Variable</a:t>
                      </a:r>
                      <a:endParaRPr lang="en-US" sz="1100" dirty="0">
                        <a:latin typeface="Open Sauce One" charset="0"/>
                        <a:ea typeface="Open Sauce One" charset="0"/>
                        <a:cs typeface="Open Sauce One" charset="0"/>
                      </a:endParaRPr>
                    </a:p>
                  </a:txBody>
                  <a:tcPr>
                    <a:lnL w="6350" cap="flat" cmpd="sng" algn="ctr">
                      <a:solidFill>
                        <a:srgbClr val="C5CCD6"/>
                      </a:solidFill>
                      <a:prstDash val="solid"/>
                      <a:round/>
                      <a:headEnd type="none" w="med" len="med"/>
                      <a:tailEnd type="none" w="med" len="med"/>
                    </a:lnL>
                    <a:lnR w="6350" cap="flat" cmpd="sng" algn="ctr">
                      <a:solidFill>
                        <a:srgbClr val="C5CCD6"/>
                      </a:solidFill>
                      <a:prstDash val="solid"/>
                      <a:round/>
                      <a:headEnd type="none" w="med" len="med"/>
                      <a:tailEnd type="none" w="med" len="med"/>
                    </a:lnR>
                    <a:lnT w="6350" cap="flat" cmpd="sng" algn="ctr">
                      <a:solidFill>
                        <a:srgbClr val="C5CCD6"/>
                      </a:solidFill>
                      <a:prstDash val="solid"/>
                      <a:round/>
                      <a:headEnd type="none" w="med" len="med"/>
                      <a:tailEnd type="none" w="med" len="med"/>
                    </a:lnT>
                    <a:lnB w="6350" cap="flat" cmpd="sng" algn="ctr">
                      <a:solidFill>
                        <a:srgbClr val="C5CCD6"/>
                      </a:solidFill>
                      <a:prstDash val="solid"/>
                      <a:round/>
                      <a:headEnd type="none" w="med" len="med"/>
                      <a:tailEnd type="none" w="med" len="med"/>
                    </a:lnB>
                    <a:solidFill>
                      <a:srgbClr val="0F1B2D"/>
                    </a:solidFill>
                  </a:tcPr>
                </a:tc>
                <a:tc>
                  <a:txBody>
                    <a:bodyPr/>
                    <a:lstStyle/>
                    <a:p>
                      <a:pPr marL="0" indent="0" algn="ctr">
                        <a:buNone/>
                      </a:pPr>
                      <a:r>
                        <a:rPr lang="en-US" sz="1100" b="1" dirty="0">
                          <a:solidFill>
                            <a:srgbClr val="FFFFFF"/>
                          </a:solidFill>
                          <a:latin typeface="Open Sauce One" pitchFamily="34" charset="0"/>
                          <a:ea typeface="Open Sauce One" pitchFamily="34" charset="-122"/>
                          <a:cs typeface="Open Sauce One" pitchFamily="34" charset="-120"/>
                        </a:rPr>
                        <a:t>ρ</a:t>
                      </a:r>
                      <a:endParaRPr lang="en-US" sz="1100" dirty="0">
                        <a:latin typeface="Open Sauce One" charset="0"/>
                        <a:ea typeface="Open Sauce One" charset="0"/>
                        <a:cs typeface="Open Sauce One" charset="0"/>
                      </a:endParaRPr>
                    </a:p>
                  </a:txBody>
                  <a:tcPr>
                    <a:lnL w="6350" cap="flat" cmpd="sng" algn="ctr">
                      <a:solidFill>
                        <a:srgbClr val="C5CCD6"/>
                      </a:solidFill>
                      <a:prstDash val="solid"/>
                      <a:round/>
                      <a:headEnd type="none" w="med" len="med"/>
                      <a:tailEnd type="none" w="med" len="med"/>
                    </a:lnL>
                    <a:lnR w="6350" cap="flat" cmpd="sng" algn="ctr">
                      <a:solidFill>
                        <a:srgbClr val="C5CCD6"/>
                      </a:solidFill>
                      <a:prstDash val="solid"/>
                      <a:round/>
                      <a:headEnd type="none" w="med" len="med"/>
                      <a:tailEnd type="none" w="med" len="med"/>
                    </a:lnR>
                    <a:lnT w="6350" cap="flat" cmpd="sng" algn="ctr">
                      <a:solidFill>
                        <a:srgbClr val="C5CCD6"/>
                      </a:solidFill>
                      <a:prstDash val="solid"/>
                      <a:round/>
                      <a:headEnd type="none" w="med" len="med"/>
                      <a:tailEnd type="none" w="med" len="med"/>
                    </a:lnT>
                    <a:lnB w="6350" cap="flat" cmpd="sng" algn="ctr">
                      <a:solidFill>
                        <a:srgbClr val="C5CCD6"/>
                      </a:solidFill>
                      <a:prstDash val="solid"/>
                      <a:round/>
                      <a:headEnd type="none" w="med" len="med"/>
                      <a:tailEnd type="none" w="med" len="med"/>
                    </a:lnB>
                    <a:solidFill>
                      <a:srgbClr val="0F1B2D"/>
                    </a:solidFill>
                  </a:tcPr>
                </a:tc>
                <a:tc>
                  <a:txBody>
                    <a:bodyPr/>
                    <a:lstStyle/>
                    <a:p>
                      <a:pPr marL="0" indent="0" algn="ctr">
                        <a:buNone/>
                      </a:pPr>
                      <a:r>
                        <a:rPr lang="en-US" sz="1100" b="1" dirty="0">
                          <a:solidFill>
                            <a:srgbClr val="FFFFFF"/>
                          </a:solidFill>
                          <a:latin typeface="Open Sauce One" pitchFamily="34" charset="0"/>
                          <a:ea typeface="Open Sauce One" pitchFamily="34" charset="-122"/>
                          <a:cs typeface="Open Sauce One" pitchFamily="34" charset="-120"/>
                        </a:rPr>
                        <a:t>p-value</a:t>
                      </a:r>
                      <a:endParaRPr lang="en-US" sz="1100" dirty="0">
                        <a:latin typeface="Open Sauce One" charset="0"/>
                        <a:ea typeface="Open Sauce One" charset="0"/>
                        <a:cs typeface="Open Sauce One" charset="0"/>
                      </a:endParaRPr>
                    </a:p>
                  </a:txBody>
                  <a:tcPr>
                    <a:lnL w="6350" cap="flat" cmpd="sng" algn="ctr">
                      <a:solidFill>
                        <a:srgbClr val="C5CCD6"/>
                      </a:solidFill>
                      <a:prstDash val="solid"/>
                      <a:round/>
                      <a:headEnd type="none" w="med" len="med"/>
                      <a:tailEnd type="none" w="med" len="med"/>
                    </a:lnL>
                    <a:lnR w="6350" cap="flat" cmpd="sng" algn="ctr">
                      <a:solidFill>
                        <a:srgbClr val="C5CCD6"/>
                      </a:solidFill>
                      <a:prstDash val="solid"/>
                      <a:round/>
                      <a:headEnd type="none" w="med" len="med"/>
                      <a:tailEnd type="none" w="med" len="med"/>
                    </a:lnR>
                    <a:lnT w="6350" cap="flat" cmpd="sng" algn="ctr">
                      <a:solidFill>
                        <a:srgbClr val="C5CCD6"/>
                      </a:solidFill>
                      <a:prstDash val="solid"/>
                      <a:round/>
                      <a:headEnd type="none" w="med" len="med"/>
                      <a:tailEnd type="none" w="med" len="med"/>
                    </a:lnT>
                    <a:lnB w="6350" cap="flat" cmpd="sng" algn="ctr">
                      <a:solidFill>
                        <a:srgbClr val="C5CCD6"/>
                      </a:solidFill>
                      <a:prstDash val="solid"/>
                      <a:round/>
                      <a:headEnd type="none" w="med" len="med"/>
                      <a:tailEnd type="none" w="med" len="med"/>
                    </a:lnB>
                    <a:solidFill>
                      <a:srgbClr val="0F1B2D"/>
                    </a:solidFill>
                  </a:tcPr>
                </a:tc>
                <a:tc>
                  <a:txBody>
                    <a:bodyPr/>
                    <a:lstStyle/>
                    <a:p>
                      <a:pPr marL="0" indent="0" algn="ctr">
                        <a:buNone/>
                      </a:pPr>
                      <a:r>
                        <a:rPr lang="en-US" sz="1100" b="1" dirty="0">
                          <a:solidFill>
                            <a:srgbClr val="FFFFFF"/>
                          </a:solidFill>
                          <a:latin typeface="Open Sauce One" pitchFamily="34" charset="0"/>
                          <a:ea typeface="Open Sauce One" pitchFamily="34" charset="-122"/>
                          <a:cs typeface="Open Sauce One" pitchFamily="34" charset="-120"/>
                        </a:rPr>
                        <a:t>Verdict</a:t>
                      </a:r>
                      <a:endParaRPr lang="en-US" sz="1100" dirty="0">
                        <a:latin typeface="Open Sauce One" charset="0"/>
                        <a:ea typeface="Open Sauce One" charset="0"/>
                        <a:cs typeface="Open Sauce One" charset="0"/>
                      </a:endParaRPr>
                    </a:p>
                  </a:txBody>
                  <a:tcPr>
                    <a:lnL w="6350" cap="flat" cmpd="sng" algn="ctr">
                      <a:solidFill>
                        <a:srgbClr val="C5CCD6"/>
                      </a:solidFill>
                      <a:prstDash val="solid"/>
                      <a:round/>
                      <a:headEnd type="none" w="med" len="med"/>
                      <a:tailEnd type="none" w="med" len="med"/>
                    </a:lnL>
                    <a:lnR w="6350" cap="flat" cmpd="sng" algn="ctr">
                      <a:solidFill>
                        <a:srgbClr val="C5CCD6"/>
                      </a:solidFill>
                      <a:prstDash val="solid"/>
                      <a:round/>
                      <a:headEnd type="none" w="med" len="med"/>
                      <a:tailEnd type="none" w="med" len="med"/>
                    </a:lnR>
                    <a:lnT w="6350" cap="flat" cmpd="sng" algn="ctr">
                      <a:solidFill>
                        <a:srgbClr val="C5CCD6"/>
                      </a:solidFill>
                      <a:prstDash val="solid"/>
                      <a:round/>
                      <a:headEnd type="none" w="med" len="med"/>
                      <a:tailEnd type="none" w="med" len="med"/>
                    </a:lnT>
                    <a:lnB w="6350" cap="flat" cmpd="sng" algn="ctr">
                      <a:solidFill>
                        <a:srgbClr val="C5CCD6"/>
                      </a:solidFill>
                      <a:prstDash val="solid"/>
                      <a:round/>
                      <a:headEnd type="none" w="med" len="med"/>
                      <a:tailEnd type="none" w="med" len="med"/>
                    </a:lnB>
                    <a:solidFill>
                      <a:srgbClr val="0F1B2D"/>
                    </a:solidFill>
                  </a:tcPr>
                </a:tc>
                <a:extLst>
                  <a:ext uri="{0D108BD9-81ED-4DB2-BD59-A6C34878D82A}">
                    <a16:rowId xmlns:a16="http://schemas.microsoft.com/office/drawing/2014/main" val="10000"/>
                  </a:ext>
                </a:extLst>
              </a:tr>
              <a:tr h="347472">
                <a:tc>
                  <a:txBody>
                    <a:bodyPr/>
                    <a:lstStyle/>
                    <a:p>
                      <a:pPr marL="0" indent="0">
                        <a:buNone/>
                      </a:pPr>
                      <a:r>
                        <a:rPr lang="en-US" sz="1100" dirty="0">
                          <a:solidFill>
                            <a:srgbClr val="5A6577"/>
                          </a:solidFill>
                          <a:latin typeface="Open Sauce One" pitchFamily="34" charset="0"/>
                          <a:ea typeface="Open Sauce One" pitchFamily="34" charset="-122"/>
                          <a:cs typeface="Open Sauce One" pitchFamily="34" charset="-120"/>
                        </a:rPr>
                        <a:t>Task Automatability</a:t>
                      </a:r>
                      <a:endParaRPr lang="en-US" sz="1100" dirty="0">
                        <a:latin typeface="Open Sauce One" charset="0"/>
                        <a:ea typeface="Open Sauce One" charset="0"/>
                        <a:cs typeface="Open Sauce One" charset="0"/>
                      </a:endParaRPr>
                    </a:p>
                  </a:txBody>
                  <a:tcPr>
                    <a:lnL w="6350" cap="flat" cmpd="sng" algn="ctr">
                      <a:solidFill>
                        <a:srgbClr val="C5CCD6"/>
                      </a:solidFill>
                      <a:prstDash val="solid"/>
                      <a:round/>
                      <a:headEnd type="none" w="med" len="med"/>
                      <a:tailEnd type="none" w="med" len="med"/>
                    </a:lnL>
                    <a:lnR w="6350" cap="flat" cmpd="sng" algn="ctr">
                      <a:solidFill>
                        <a:srgbClr val="C5CCD6"/>
                      </a:solidFill>
                      <a:prstDash val="solid"/>
                      <a:round/>
                      <a:headEnd type="none" w="med" len="med"/>
                      <a:tailEnd type="none" w="med" len="med"/>
                    </a:lnR>
                    <a:lnT w="6350" cap="flat" cmpd="sng" algn="ctr">
                      <a:solidFill>
                        <a:srgbClr val="C5CCD6"/>
                      </a:solidFill>
                      <a:prstDash val="solid"/>
                      <a:round/>
                      <a:headEnd type="none" w="med" len="med"/>
                      <a:tailEnd type="none" w="med" len="med"/>
                    </a:lnT>
                    <a:lnB w="6350" cap="flat" cmpd="sng" algn="ctr">
                      <a:solidFill>
                        <a:srgbClr val="C5CCD6"/>
                      </a:solidFill>
                      <a:prstDash val="solid"/>
                      <a:round/>
                      <a:headEnd type="none" w="med" len="med"/>
                      <a:tailEnd type="none" w="med" len="med"/>
                    </a:lnB>
                  </a:tcPr>
                </a:tc>
                <a:tc>
                  <a:txBody>
                    <a:bodyPr/>
                    <a:lstStyle/>
                    <a:p>
                      <a:pPr marL="0" indent="0" algn="ctr">
                        <a:buNone/>
                      </a:pPr>
                      <a:r>
                        <a:rPr lang="en-US" sz="1100" dirty="0">
                          <a:solidFill>
                            <a:srgbClr val="5A6577"/>
                          </a:solidFill>
                          <a:latin typeface="Open Sauce One" pitchFamily="34" charset="0"/>
                          <a:ea typeface="Open Sauce One" pitchFamily="34" charset="-122"/>
                          <a:cs typeface="Open Sauce One" pitchFamily="34" charset="-120"/>
                        </a:rPr>
                        <a:t>−0.119</a:t>
                      </a:r>
                      <a:endParaRPr lang="en-US" sz="1100" dirty="0">
                        <a:latin typeface="Open Sauce One" charset="0"/>
                        <a:ea typeface="Open Sauce One" charset="0"/>
                        <a:cs typeface="Open Sauce One" charset="0"/>
                      </a:endParaRPr>
                    </a:p>
                  </a:txBody>
                  <a:tcPr>
                    <a:lnL w="6350" cap="flat" cmpd="sng" algn="ctr">
                      <a:solidFill>
                        <a:srgbClr val="C5CCD6"/>
                      </a:solidFill>
                      <a:prstDash val="solid"/>
                      <a:round/>
                      <a:headEnd type="none" w="med" len="med"/>
                      <a:tailEnd type="none" w="med" len="med"/>
                    </a:lnL>
                    <a:lnR w="6350" cap="flat" cmpd="sng" algn="ctr">
                      <a:solidFill>
                        <a:srgbClr val="C5CCD6"/>
                      </a:solidFill>
                      <a:prstDash val="solid"/>
                      <a:round/>
                      <a:headEnd type="none" w="med" len="med"/>
                      <a:tailEnd type="none" w="med" len="med"/>
                    </a:lnR>
                    <a:lnT w="6350" cap="flat" cmpd="sng" algn="ctr">
                      <a:solidFill>
                        <a:srgbClr val="C5CCD6"/>
                      </a:solidFill>
                      <a:prstDash val="solid"/>
                      <a:round/>
                      <a:headEnd type="none" w="med" len="med"/>
                      <a:tailEnd type="none" w="med" len="med"/>
                    </a:lnT>
                    <a:lnB w="6350" cap="flat" cmpd="sng" algn="ctr">
                      <a:solidFill>
                        <a:srgbClr val="C5CCD6"/>
                      </a:solidFill>
                      <a:prstDash val="solid"/>
                      <a:round/>
                      <a:headEnd type="none" w="med" len="med"/>
                      <a:tailEnd type="none" w="med" len="med"/>
                    </a:lnB>
                  </a:tcPr>
                </a:tc>
                <a:tc>
                  <a:txBody>
                    <a:bodyPr/>
                    <a:lstStyle/>
                    <a:p>
                      <a:pPr marL="0" indent="0" algn="ctr">
                        <a:buNone/>
                      </a:pPr>
                      <a:r>
                        <a:rPr lang="en-US" sz="1100" dirty="0">
                          <a:solidFill>
                            <a:srgbClr val="5A6577"/>
                          </a:solidFill>
                          <a:latin typeface="Open Sauce One" pitchFamily="34" charset="0"/>
                          <a:ea typeface="Open Sauce One" pitchFamily="34" charset="-122"/>
                          <a:cs typeface="Open Sauce One" pitchFamily="34" charset="-120"/>
                        </a:rPr>
                        <a:t>0.661</a:t>
                      </a:r>
                      <a:endParaRPr lang="en-US" sz="1100" dirty="0">
                        <a:latin typeface="Open Sauce One" charset="0"/>
                        <a:ea typeface="Open Sauce One" charset="0"/>
                        <a:cs typeface="Open Sauce One" charset="0"/>
                      </a:endParaRPr>
                    </a:p>
                  </a:txBody>
                  <a:tcPr>
                    <a:lnL w="6350" cap="flat" cmpd="sng" algn="ctr">
                      <a:solidFill>
                        <a:srgbClr val="C5CCD6"/>
                      </a:solidFill>
                      <a:prstDash val="solid"/>
                      <a:round/>
                      <a:headEnd type="none" w="med" len="med"/>
                      <a:tailEnd type="none" w="med" len="med"/>
                    </a:lnL>
                    <a:lnR w="6350" cap="flat" cmpd="sng" algn="ctr">
                      <a:solidFill>
                        <a:srgbClr val="C5CCD6"/>
                      </a:solidFill>
                      <a:prstDash val="solid"/>
                      <a:round/>
                      <a:headEnd type="none" w="med" len="med"/>
                      <a:tailEnd type="none" w="med" len="med"/>
                    </a:lnR>
                    <a:lnT w="6350" cap="flat" cmpd="sng" algn="ctr">
                      <a:solidFill>
                        <a:srgbClr val="C5CCD6"/>
                      </a:solidFill>
                      <a:prstDash val="solid"/>
                      <a:round/>
                      <a:headEnd type="none" w="med" len="med"/>
                      <a:tailEnd type="none" w="med" len="med"/>
                    </a:lnT>
                    <a:lnB w="6350" cap="flat" cmpd="sng" algn="ctr">
                      <a:solidFill>
                        <a:srgbClr val="C5CCD6"/>
                      </a:solidFill>
                      <a:prstDash val="solid"/>
                      <a:round/>
                      <a:headEnd type="none" w="med" len="med"/>
                      <a:tailEnd type="none" w="med" len="med"/>
                    </a:lnB>
                  </a:tcPr>
                </a:tc>
                <a:tc>
                  <a:txBody>
                    <a:bodyPr/>
                    <a:lstStyle/>
                    <a:p>
                      <a:pPr marL="0" indent="0" algn="ctr">
                        <a:buNone/>
                      </a:pPr>
                      <a:r>
                        <a:rPr lang="en-US" sz="1100" dirty="0">
                          <a:solidFill>
                            <a:srgbClr val="C62828"/>
                          </a:solidFill>
                          <a:latin typeface="Open Sauce One" pitchFamily="34" charset="0"/>
                          <a:ea typeface="Open Sauce One" pitchFamily="34" charset="-122"/>
                          <a:cs typeface="Open Sauce One" pitchFamily="34" charset="-120"/>
                        </a:rPr>
                        <a:t>✗  No signal</a:t>
                      </a:r>
                      <a:endParaRPr lang="en-US" sz="1100" dirty="0">
                        <a:latin typeface="Open Sauce One" charset="0"/>
                        <a:ea typeface="Open Sauce One" charset="0"/>
                        <a:cs typeface="Open Sauce One" charset="0"/>
                      </a:endParaRPr>
                    </a:p>
                  </a:txBody>
                  <a:tcPr>
                    <a:lnL w="6350" cap="flat" cmpd="sng" algn="ctr">
                      <a:solidFill>
                        <a:srgbClr val="C5CCD6"/>
                      </a:solidFill>
                      <a:prstDash val="solid"/>
                      <a:round/>
                      <a:headEnd type="none" w="med" len="med"/>
                      <a:tailEnd type="none" w="med" len="med"/>
                    </a:lnL>
                    <a:lnR w="6350" cap="flat" cmpd="sng" algn="ctr">
                      <a:solidFill>
                        <a:srgbClr val="C5CCD6"/>
                      </a:solidFill>
                      <a:prstDash val="solid"/>
                      <a:round/>
                      <a:headEnd type="none" w="med" len="med"/>
                      <a:tailEnd type="none" w="med" len="med"/>
                    </a:lnR>
                    <a:lnT w="6350" cap="flat" cmpd="sng" algn="ctr">
                      <a:solidFill>
                        <a:srgbClr val="C5CCD6"/>
                      </a:solidFill>
                      <a:prstDash val="solid"/>
                      <a:round/>
                      <a:headEnd type="none" w="med" len="med"/>
                      <a:tailEnd type="none" w="med" len="med"/>
                    </a:lnT>
                    <a:lnB w="6350" cap="flat" cmpd="sng" algn="ctr">
                      <a:solidFill>
                        <a:srgbClr val="C5CCD6"/>
                      </a:solidFill>
                      <a:prstDash val="solid"/>
                      <a:round/>
                      <a:headEnd type="none" w="med" len="med"/>
                      <a:tailEnd type="none" w="med" len="med"/>
                    </a:lnB>
                  </a:tcPr>
                </a:tc>
                <a:extLst>
                  <a:ext uri="{0D108BD9-81ED-4DB2-BD59-A6C34878D82A}">
                    <a16:rowId xmlns:a16="http://schemas.microsoft.com/office/drawing/2014/main" val="10001"/>
                  </a:ext>
                </a:extLst>
              </a:tr>
              <a:tr h="347472">
                <a:tc>
                  <a:txBody>
                    <a:bodyPr/>
                    <a:lstStyle/>
                    <a:p>
                      <a:pPr marL="0" indent="0">
                        <a:buNone/>
                      </a:pPr>
                      <a:r>
                        <a:rPr lang="en-US" sz="1100" dirty="0">
                          <a:solidFill>
                            <a:srgbClr val="5A6577"/>
                          </a:solidFill>
                          <a:latin typeface="Open Sauce One" pitchFamily="34" charset="0"/>
                          <a:ea typeface="Open Sauce One" pitchFamily="34" charset="-122"/>
                          <a:cs typeface="Open Sauce One" pitchFamily="34" charset="-120"/>
                        </a:rPr>
                        <a:t>AI Startup Density</a:t>
                      </a:r>
                      <a:endParaRPr lang="en-US" sz="1100" dirty="0">
                        <a:latin typeface="Open Sauce One" charset="0"/>
                        <a:ea typeface="Open Sauce One" charset="0"/>
                        <a:cs typeface="Open Sauce One" charset="0"/>
                      </a:endParaRPr>
                    </a:p>
                  </a:txBody>
                  <a:tcPr>
                    <a:lnL w="6350" cap="flat" cmpd="sng" algn="ctr">
                      <a:solidFill>
                        <a:srgbClr val="C5CCD6"/>
                      </a:solidFill>
                      <a:prstDash val="solid"/>
                      <a:round/>
                      <a:headEnd type="none" w="med" len="med"/>
                      <a:tailEnd type="none" w="med" len="med"/>
                    </a:lnL>
                    <a:lnR w="6350" cap="flat" cmpd="sng" algn="ctr">
                      <a:solidFill>
                        <a:srgbClr val="C5CCD6"/>
                      </a:solidFill>
                      <a:prstDash val="solid"/>
                      <a:round/>
                      <a:headEnd type="none" w="med" len="med"/>
                      <a:tailEnd type="none" w="med" len="med"/>
                    </a:lnR>
                    <a:lnT w="6350" cap="flat" cmpd="sng" algn="ctr">
                      <a:solidFill>
                        <a:srgbClr val="C5CCD6"/>
                      </a:solidFill>
                      <a:prstDash val="solid"/>
                      <a:round/>
                      <a:headEnd type="none" w="med" len="med"/>
                      <a:tailEnd type="none" w="med" len="med"/>
                    </a:lnT>
                    <a:lnB w="6350" cap="flat" cmpd="sng" algn="ctr">
                      <a:solidFill>
                        <a:srgbClr val="C5CCD6"/>
                      </a:solidFill>
                      <a:prstDash val="solid"/>
                      <a:round/>
                      <a:headEnd type="none" w="med" len="med"/>
                      <a:tailEnd type="none" w="med" len="med"/>
                    </a:lnB>
                  </a:tcPr>
                </a:tc>
                <a:tc>
                  <a:txBody>
                    <a:bodyPr/>
                    <a:lstStyle/>
                    <a:p>
                      <a:pPr marL="0" indent="0" algn="ctr">
                        <a:buNone/>
                      </a:pPr>
                      <a:r>
                        <a:rPr lang="en-US" sz="1100" dirty="0">
                          <a:solidFill>
                            <a:srgbClr val="5A6577"/>
                          </a:solidFill>
                          <a:latin typeface="Open Sauce One" pitchFamily="34" charset="0"/>
                          <a:ea typeface="Open Sauce One" pitchFamily="34" charset="-122"/>
                          <a:cs typeface="Open Sauce One" pitchFamily="34" charset="-120"/>
                        </a:rPr>
                        <a:t>+0.203</a:t>
                      </a:r>
                      <a:endParaRPr lang="en-US" sz="1100" dirty="0">
                        <a:latin typeface="Open Sauce One" charset="0"/>
                        <a:ea typeface="Open Sauce One" charset="0"/>
                        <a:cs typeface="Open Sauce One" charset="0"/>
                      </a:endParaRPr>
                    </a:p>
                  </a:txBody>
                  <a:tcPr>
                    <a:lnL w="6350" cap="flat" cmpd="sng" algn="ctr">
                      <a:solidFill>
                        <a:srgbClr val="C5CCD6"/>
                      </a:solidFill>
                      <a:prstDash val="solid"/>
                      <a:round/>
                      <a:headEnd type="none" w="med" len="med"/>
                      <a:tailEnd type="none" w="med" len="med"/>
                    </a:lnL>
                    <a:lnR w="6350" cap="flat" cmpd="sng" algn="ctr">
                      <a:solidFill>
                        <a:srgbClr val="C5CCD6"/>
                      </a:solidFill>
                      <a:prstDash val="solid"/>
                      <a:round/>
                      <a:headEnd type="none" w="med" len="med"/>
                      <a:tailEnd type="none" w="med" len="med"/>
                    </a:lnR>
                    <a:lnT w="6350" cap="flat" cmpd="sng" algn="ctr">
                      <a:solidFill>
                        <a:srgbClr val="C5CCD6"/>
                      </a:solidFill>
                      <a:prstDash val="solid"/>
                      <a:round/>
                      <a:headEnd type="none" w="med" len="med"/>
                      <a:tailEnd type="none" w="med" len="med"/>
                    </a:lnT>
                    <a:lnB w="6350" cap="flat" cmpd="sng" algn="ctr">
                      <a:solidFill>
                        <a:srgbClr val="C5CCD6"/>
                      </a:solidFill>
                      <a:prstDash val="solid"/>
                      <a:round/>
                      <a:headEnd type="none" w="med" len="med"/>
                      <a:tailEnd type="none" w="med" len="med"/>
                    </a:lnB>
                  </a:tcPr>
                </a:tc>
                <a:tc>
                  <a:txBody>
                    <a:bodyPr/>
                    <a:lstStyle/>
                    <a:p>
                      <a:pPr marL="0" indent="0" algn="ctr">
                        <a:buNone/>
                      </a:pPr>
                      <a:r>
                        <a:rPr lang="en-US" sz="1100" dirty="0">
                          <a:solidFill>
                            <a:srgbClr val="5A6577"/>
                          </a:solidFill>
                          <a:latin typeface="Open Sauce One" pitchFamily="34" charset="0"/>
                          <a:ea typeface="Open Sauce One" pitchFamily="34" charset="-122"/>
                          <a:cs typeface="Open Sauce One" pitchFamily="34" charset="-120"/>
                        </a:rPr>
                        <a:t>0.451</a:t>
                      </a:r>
                      <a:endParaRPr lang="en-US" sz="1100" dirty="0">
                        <a:latin typeface="Open Sauce One" charset="0"/>
                        <a:ea typeface="Open Sauce One" charset="0"/>
                        <a:cs typeface="Open Sauce One" charset="0"/>
                      </a:endParaRPr>
                    </a:p>
                  </a:txBody>
                  <a:tcPr>
                    <a:lnL w="6350" cap="flat" cmpd="sng" algn="ctr">
                      <a:solidFill>
                        <a:srgbClr val="C5CCD6"/>
                      </a:solidFill>
                      <a:prstDash val="solid"/>
                      <a:round/>
                      <a:headEnd type="none" w="med" len="med"/>
                      <a:tailEnd type="none" w="med" len="med"/>
                    </a:lnL>
                    <a:lnR w="6350" cap="flat" cmpd="sng" algn="ctr">
                      <a:solidFill>
                        <a:srgbClr val="C5CCD6"/>
                      </a:solidFill>
                      <a:prstDash val="solid"/>
                      <a:round/>
                      <a:headEnd type="none" w="med" len="med"/>
                      <a:tailEnd type="none" w="med" len="med"/>
                    </a:lnR>
                    <a:lnT w="6350" cap="flat" cmpd="sng" algn="ctr">
                      <a:solidFill>
                        <a:srgbClr val="C5CCD6"/>
                      </a:solidFill>
                      <a:prstDash val="solid"/>
                      <a:round/>
                      <a:headEnd type="none" w="med" len="med"/>
                      <a:tailEnd type="none" w="med" len="med"/>
                    </a:lnT>
                    <a:lnB w="6350" cap="flat" cmpd="sng" algn="ctr">
                      <a:solidFill>
                        <a:srgbClr val="C5CCD6"/>
                      </a:solidFill>
                      <a:prstDash val="solid"/>
                      <a:round/>
                      <a:headEnd type="none" w="med" len="med"/>
                      <a:tailEnd type="none" w="med" len="med"/>
                    </a:lnB>
                  </a:tcPr>
                </a:tc>
                <a:tc>
                  <a:txBody>
                    <a:bodyPr/>
                    <a:lstStyle/>
                    <a:p>
                      <a:pPr marL="0" indent="0" algn="ctr">
                        <a:buNone/>
                      </a:pPr>
                      <a:r>
                        <a:rPr lang="en-US" sz="1100" dirty="0">
                          <a:solidFill>
                            <a:srgbClr val="C62828"/>
                          </a:solidFill>
                          <a:latin typeface="Open Sauce One" pitchFamily="34" charset="0"/>
                          <a:ea typeface="Open Sauce One" pitchFamily="34" charset="-122"/>
                          <a:cs typeface="Open Sauce One" pitchFamily="34" charset="-120"/>
                        </a:rPr>
                        <a:t>✗  No signal</a:t>
                      </a:r>
                      <a:endParaRPr lang="en-US" sz="1100" dirty="0">
                        <a:latin typeface="Open Sauce One" charset="0"/>
                        <a:ea typeface="Open Sauce One" charset="0"/>
                        <a:cs typeface="Open Sauce One" charset="0"/>
                      </a:endParaRPr>
                    </a:p>
                  </a:txBody>
                  <a:tcPr>
                    <a:lnL w="6350" cap="flat" cmpd="sng" algn="ctr">
                      <a:solidFill>
                        <a:srgbClr val="C5CCD6"/>
                      </a:solidFill>
                      <a:prstDash val="solid"/>
                      <a:round/>
                      <a:headEnd type="none" w="med" len="med"/>
                      <a:tailEnd type="none" w="med" len="med"/>
                    </a:lnL>
                    <a:lnR w="6350" cap="flat" cmpd="sng" algn="ctr">
                      <a:solidFill>
                        <a:srgbClr val="C5CCD6"/>
                      </a:solidFill>
                      <a:prstDash val="solid"/>
                      <a:round/>
                      <a:headEnd type="none" w="med" len="med"/>
                      <a:tailEnd type="none" w="med" len="med"/>
                    </a:lnR>
                    <a:lnT w="6350" cap="flat" cmpd="sng" algn="ctr">
                      <a:solidFill>
                        <a:srgbClr val="C5CCD6"/>
                      </a:solidFill>
                      <a:prstDash val="solid"/>
                      <a:round/>
                      <a:headEnd type="none" w="med" len="med"/>
                      <a:tailEnd type="none" w="med" len="med"/>
                    </a:lnT>
                    <a:lnB w="6350" cap="flat" cmpd="sng" algn="ctr">
                      <a:solidFill>
                        <a:srgbClr val="C5CCD6"/>
                      </a:solidFill>
                      <a:prstDash val="solid"/>
                      <a:round/>
                      <a:headEnd type="none" w="med" len="med"/>
                      <a:tailEnd type="none" w="med" len="med"/>
                    </a:lnB>
                  </a:tcPr>
                </a:tc>
                <a:extLst>
                  <a:ext uri="{0D108BD9-81ED-4DB2-BD59-A6C34878D82A}">
                    <a16:rowId xmlns:a16="http://schemas.microsoft.com/office/drawing/2014/main" val="10002"/>
                  </a:ext>
                </a:extLst>
              </a:tr>
              <a:tr h="347472">
                <a:tc>
                  <a:txBody>
                    <a:bodyPr/>
                    <a:lstStyle/>
                    <a:p>
                      <a:pPr marL="0" indent="0">
                        <a:buNone/>
                      </a:pPr>
                      <a:r>
                        <a:rPr lang="en-US" sz="1100" dirty="0">
                          <a:solidFill>
                            <a:srgbClr val="5A6577"/>
                          </a:solidFill>
                          <a:latin typeface="Open Sauce One" pitchFamily="34" charset="0"/>
                          <a:ea typeface="Open Sauce One" pitchFamily="34" charset="-122"/>
                          <a:cs typeface="Open Sauce One" pitchFamily="34" charset="-120"/>
                        </a:rPr>
                        <a:t>Revenue Growth</a:t>
                      </a:r>
                      <a:endParaRPr lang="en-US" sz="1100" dirty="0">
                        <a:latin typeface="Open Sauce One" charset="0"/>
                        <a:ea typeface="Open Sauce One" charset="0"/>
                        <a:cs typeface="Open Sauce One" charset="0"/>
                      </a:endParaRPr>
                    </a:p>
                  </a:txBody>
                  <a:tcPr>
                    <a:lnL w="6350" cap="flat" cmpd="sng" algn="ctr">
                      <a:solidFill>
                        <a:srgbClr val="C5CCD6"/>
                      </a:solidFill>
                      <a:prstDash val="solid"/>
                      <a:round/>
                      <a:headEnd type="none" w="med" len="med"/>
                      <a:tailEnd type="none" w="med" len="med"/>
                    </a:lnL>
                    <a:lnR w="6350" cap="flat" cmpd="sng" algn="ctr">
                      <a:solidFill>
                        <a:srgbClr val="C5CCD6"/>
                      </a:solidFill>
                      <a:prstDash val="solid"/>
                      <a:round/>
                      <a:headEnd type="none" w="med" len="med"/>
                      <a:tailEnd type="none" w="med" len="med"/>
                    </a:lnR>
                    <a:lnT w="6350" cap="flat" cmpd="sng" algn="ctr">
                      <a:solidFill>
                        <a:srgbClr val="C5CCD6"/>
                      </a:solidFill>
                      <a:prstDash val="solid"/>
                      <a:round/>
                      <a:headEnd type="none" w="med" len="med"/>
                      <a:tailEnd type="none" w="med" len="med"/>
                    </a:lnT>
                    <a:lnB w="6350" cap="flat" cmpd="sng" algn="ctr">
                      <a:solidFill>
                        <a:srgbClr val="C5CCD6"/>
                      </a:solidFill>
                      <a:prstDash val="solid"/>
                      <a:round/>
                      <a:headEnd type="none" w="med" len="med"/>
                      <a:tailEnd type="none" w="med" len="med"/>
                    </a:lnB>
                  </a:tcPr>
                </a:tc>
                <a:tc>
                  <a:txBody>
                    <a:bodyPr/>
                    <a:lstStyle/>
                    <a:p>
                      <a:pPr marL="0" indent="0" algn="ctr">
                        <a:buNone/>
                      </a:pPr>
                      <a:r>
                        <a:rPr lang="en-US" sz="1100" dirty="0">
                          <a:solidFill>
                            <a:srgbClr val="5A6577"/>
                          </a:solidFill>
                          <a:latin typeface="Open Sauce One" pitchFamily="34" charset="0"/>
                          <a:ea typeface="Open Sauce One" pitchFamily="34" charset="-122"/>
                          <a:cs typeface="Open Sauce One" pitchFamily="34" charset="-120"/>
                        </a:rPr>
                        <a:t>+0.089</a:t>
                      </a:r>
                      <a:endParaRPr lang="en-US" sz="1100" dirty="0">
                        <a:latin typeface="Open Sauce One" charset="0"/>
                        <a:ea typeface="Open Sauce One" charset="0"/>
                        <a:cs typeface="Open Sauce One" charset="0"/>
                      </a:endParaRPr>
                    </a:p>
                  </a:txBody>
                  <a:tcPr>
                    <a:lnL w="6350" cap="flat" cmpd="sng" algn="ctr">
                      <a:solidFill>
                        <a:srgbClr val="C5CCD6"/>
                      </a:solidFill>
                      <a:prstDash val="solid"/>
                      <a:round/>
                      <a:headEnd type="none" w="med" len="med"/>
                      <a:tailEnd type="none" w="med" len="med"/>
                    </a:lnL>
                    <a:lnR w="6350" cap="flat" cmpd="sng" algn="ctr">
                      <a:solidFill>
                        <a:srgbClr val="C5CCD6"/>
                      </a:solidFill>
                      <a:prstDash val="solid"/>
                      <a:round/>
                      <a:headEnd type="none" w="med" len="med"/>
                      <a:tailEnd type="none" w="med" len="med"/>
                    </a:lnR>
                    <a:lnT w="6350" cap="flat" cmpd="sng" algn="ctr">
                      <a:solidFill>
                        <a:srgbClr val="C5CCD6"/>
                      </a:solidFill>
                      <a:prstDash val="solid"/>
                      <a:round/>
                      <a:headEnd type="none" w="med" len="med"/>
                      <a:tailEnd type="none" w="med" len="med"/>
                    </a:lnT>
                    <a:lnB w="6350" cap="flat" cmpd="sng" algn="ctr">
                      <a:solidFill>
                        <a:srgbClr val="C5CCD6"/>
                      </a:solidFill>
                      <a:prstDash val="solid"/>
                      <a:round/>
                      <a:headEnd type="none" w="med" len="med"/>
                      <a:tailEnd type="none" w="med" len="med"/>
                    </a:lnB>
                  </a:tcPr>
                </a:tc>
                <a:tc>
                  <a:txBody>
                    <a:bodyPr/>
                    <a:lstStyle/>
                    <a:p>
                      <a:pPr marL="0" indent="0" algn="ctr">
                        <a:buNone/>
                      </a:pPr>
                      <a:r>
                        <a:rPr lang="en-US" sz="1100" dirty="0">
                          <a:solidFill>
                            <a:srgbClr val="5A6577"/>
                          </a:solidFill>
                          <a:latin typeface="Open Sauce One" pitchFamily="34" charset="0"/>
                          <a:ea typeface="Open Sauce One" pitchFamily="34" charset="-122"/>
                          <a:cs typeface="Open Sauce One" pitchFamily="34" charset="-120"/>
                        </a:rPr>
                        <a:t>0.744</a:t>
                      </a:r>
                      <a:endParaRPr lang="en-US" sz="1100" dirty="0">
                        <a:latin typeface="Open Sauce One" charset="0"/>
                        <a:ea typeface="Open Sauce One" charset="0"/>
                        <a:cs typeface="Open Sauce One" charset="0"/>
                      </a:endParaRPr>
                    </a:p>
                  </a:txBody>
                  <a:tcPr>
                    <a:lnL w="6350" cap="flat" cmpd="sng" algn="ctr">
                      <a:solidFill>
                        <a:srgbClr val="C5CCD6"/>
                      </a:solidFill>
                      <a:prstDash val="solid"/>
                      <a:round/>
                      <a:headEnd type="none" w="med" len="med"/>
                      <a:tailEnd type="none" w="med" len="med"/>
                    </a:lnL>
                    <a:lnR w="6350" cap="flat" cmpd="sng" algn="ctr">
                      <a:solidFill>
                        <a:srgbClr val="C5CCD6"/>
                      </a:solidFill>
                      <a:prstDash val="solid"/>
                      <a:round/>
                      <a:headEnd type="none" w="med" len="med"/>
                      <a:tailEnd type="none" w="med" len="med"/>
                    </a:lnR>
                    <a:lnT w="6350" cap="flat" cmpd="sng" algn="ctr">
                      <a:solidFill>
                        <a:srgbClr val="C5CCD6"/>
                      </a:solidFill>
                      <a:prstDash val="solid"/>
                      <a:round/>
                      <a:headEnd type="none" w="med" len="med"/>
                      <a:tailEnd type="none" w="med" len="med"/>
                    </a:lnT>
                    <a:lnB w="6350" cap="flat" cmpd="sng" algn="ctr">
                      <a:solidFill>
                        <a:srgbClr val="C5CCD6"/>
                      </a:solidFill>
                      <a:prstDash val="solid"/>
                      <a:round/>
                      <a:headEnd type="none" w="med" len="med"/>
                      <a:tailEnd type="none" w="med" len="med"/>
                    </a:lnB>
                  </a:tcPr>
                </a:tc>
                <a:tc>
                  <a:txBody>
                    <a:bodyPr/>
                    <a:lstStyle/>
                    <a:p>
                      <a:pPr marL="0" indent="0" algn="ctr">
                        <a:buNone/>
                      </a:pPr>
                      <a:r>
                        <a:rPr lang="en-US" sz="1100" dirty="0">
                          <a:solidFill>
                            <a:srgbClr val="C62828"/>
                          </a:solidFill>
                          <a:latin typeface="Open Sauce One" pitchFamily="34" charset="0"/>
                          <a:ea typeface="Open Sauce One" pitchFamily="34" charset="-122"/>
                          <a:cs typeface="Open Sauce One" pitchFamily="34" charset="-120"/>
                        </a:rPr>
                        <a:t>✗  No signal</a:t>
                      </a:r>
                      <a:endParaRPr lang="en-US" sz="1100" dirty="0">
                        <a:latin typeface="Open Sauce One" charset="0"/>
                        <a:ea typeface="Open Sauce One" charset="0"/>
                        <a:cs typeface="Open Sauce One" charset="0"/>
                      </a:endParaRPr>
                    </a:p>
                  </a:txBody>
                  <a:tcPr>
                    <a:lnL w="6350" cap="flat" cmpd="sng" algn="ctr">
                      <a:solidFill>
                        <a:srgbClr val="C5CCD6"/>
                      </a:solidFill>
                      <a:prstDash val="solid"/>
                      <a:round/>
                      <a:headEnd type="none" w="med" len="med"/>
                      <a:tailEnd type="none" w="med" len="med"/>
                    </a:lnL>
                    <a:lnR w="6350" cap="flat" cmpd="sng" algn="ctr">
                      <a:solidFill>
                        <a:srgbClr val="C5CCD6"/>
                      </a:solidFill>
                      <a:prstDash val="solid"/>
                      <a:round/>
                      <a:headEnd type="none" w="med" len="med"/>
                      <a:tailEnd type="none" w="med" len="med"/>
                    </a:lnR>
                    <a:lnT w="6350" cap="flat" cmpd="sng" algn="ctr">
                      <a:solidFill>
                        <a:srgbClr val="C5CCD6"/>
                      </a:solidFill>
                      <a:prstDash val="solid"/>
                      <a:round/>
                      <a:headEnd type="none" w="med" len="med"/>
                      <a:tailEnd type="none" w="med" len="med"/>
                    </a:lnT>
                    <a:lnB w="6350" cap="flat" cmpd="sng" algn="ctr">
                      <a:solidFill>
                        <a:srgbClr val="C5CCD6"/>
                      </a:solidFill>
                      <a:prstDash val="solid"/>
                      <a:round/>
                      <a:headEnd type="none" w="med" len="med"/>
                      <a:tailEnd type="none" w="med" len="med"/>
                    </a:lnB>
                  </a:tcPr>
                </a:tc>
                <a:extLst>
                  <a:ext uri="{0D108BD9-81ED-4DB2-BD59-A6C34878D82A}">
                    <a16:rowId xmlns:a16="http://schemas.microsoft.com/office/drawing/2014/main" val="10003"/>
                  </a:ext>
                </a:extLst>
              </a:tr>
              <a:tr h="347472">
                <a:tc>
                  <a:txBody>
                    <a:bodyPr/>
                    <a:lstStyle/>
                    <a:p>
                      <a:pPr marL="0" indent="0">
                        <a:buNone/>
                      </a:pPr>
                      <a:r>
                        <a:rPr lang="en-US" sz="1100" dirty="0">
                          <a:solidFill>
                            <a:srgbClr val="5A6577"/>
                          </a:solidFill>
                          <a:latin typeface="Open Sauce One" pitchFamily="34" charset="0"/>
                          <a:ea typeface="Open Sauce One" pitchFamily="34" charset="-122"/>
                          <a:cs typeface="Open Sauce One" pitchFamily="34" charset="-120"/>
                        </a:rPr>
                        <a:t>SG&amp;A Ratio</a:t>
                      </a:r>
                      <a:endParaRPr lang="en-US" sz="1100" dirty="0">
                        <a:latin typeface="Open Sauce One" charset="0"/>
                        <a:ea typeface="Open Sauce One" charset="0"/>
                        <a:cs typeface="Open Sauce One" charset="0"/>
                      </a:endParaRPr>
                    </a:p>
                  </a:txBody>
                  <a:tcPr>
                    <a:lnL w="6350" cap="flat" cmpd="sng" algn="ctr">
                      <a:solidFill>
                        <a:srgbClr val="C5CCD6"/>
                      </a:solidFill>
                      <a:prstDash val="solid"/>
                      <a:round/>
                      <a:headEnd type="none" w="med" len="med"/>
                      <a:tailEnd type="none" w="med" len="med"/>
                    </a:lnL>
                    <a:lnR w="6350" cap="flat" cmpd="sng" algn="ctr">
                      <a:solidFill>
                        <a:srgbClr val="C5CCD6"/>
                      </a:solidFill>
                      <a:prstDash val="solid"/>
                      <a:round/>
                      <a:headEnd type="none" w="med" len="med"/>
                      <a:tailEnd type="none" w="med" len="med"/>
                    </a:lnR>
                    <a:lnT w="6350" cap="flat" cmpd="sng" algn="ctr">
                      <a:solidFill>
                        <a:srgbClr val="C5CCD6"/>
                      </a:solidFill>
                      <a:prstDash val="solid"/>
                      <a:round/>
                      <a:headEnd type="none" w="med" len="med"/>
                      <a:tailEnd type="none" w="med" len="med"/>
                    </a:lnT>
                    <a:lnB w="6350" cap="flat" cmpd="sng" algn="ctr">
                      <a:solidFill>
                        <a:srgbClr val="C5CCD6"/>
                      </a:solidFill>
                      <a:prstDash val="solid"/>
                      <a:round/>
                      <a:headEnd type="none" w="med" len="med"/>
                      <a:tailEnd type="none" w="med" len="med"/>
                    </a:lnB>
                  </a:tcPr>
                </a:tc>
                <a:tc>
                  <a:txBody>
                    <a:bodyPr/>
                    <a:lstStyle/>
                    <a:p>
                      <a:pPr marL="0" indent="0" algn="ctr">
                        <a:buNone/>
                      </a:pPr>
                      <a:r>
                        <a:rPr lang="en-US" sz="1100" dirty="0">
                          <a:solidFill>
                            <a:srgbClr val="5A6577"/>
                          </a:solidFill>
                          <a:latin typeface="Open Sauce One" pitchFamily="34" charset="0"/>
                          <a:ea typeface="Open Sauce One" pitchFamily="34" charset="-122"/>
                          <a:cs typeface="Open Sauce One" pitchFamily="34" charset="-120"/>
                        </a:rPr>
                        <a:t>−0.156</a:t>
                      </a:r>
                      <a:endParaRPr lang="en-US" sz="1100" dirty="0">
                        <a:latin typeface="Open Sauce One" charset="0"/>
                        <a:ea typeface="Open Sauce One" charset="0"/>
                        <a:cs typeface="Open Sauce One" charset="0"/>
                      </a:endParaRPr>
                    </a:p>
                  </a:txBody>
                  <a:tcPr>
                    <a:lnL w="6350" cap="flat" cmpd="sng" algn="ctr">
                      <a:solidFill>
                        <a:srgbClr val="C5CCD6"/>
                      </a:solidFill>
                      <a:prstDash val="solid"/>
                      <a:round/>
                      <a:headEnd type="none" w="med" len="med"/>
                      <a:tailEnd type="none" w="med" len="med"/>
                    </a:lnL>
                    <a:lnR w="6350" cap="flat" cmpd="sng" algn="ctr">
                      <a:solidFill>
                        <a:srgbClr val="C5CCD6"/>
                      </a:solidFill>
                      <a:prstDash val="solid"/>
                      <a:round/>
                      <a:headEnd type="none" w="med" len="med"/>
                      <a:tailEnd type="none" w="med" len="med"/>
                    </a:lnR>
                    <a:lnT w="6350" cap="flat" cmpd="sng" algn="ctr">
                      <a:solidFill>
                        <a:srgbClr val="C5CCD6"/>
                      </a:solidFill>
                      <a:prstDash val="solid"/>
                      <a:round/>
                      <a:headEnd type="none" w="med" len="med"/>
                      <a:tailEnd type="none" w="med" len="med"/>
                    </a:lnT>
                    <a:lnB w="6350" cap="flat" cmpd="sng" algn="ctr">
                      <a:solidFill>
                        <a:srgbClr val="C5CCD6"/>
                      </a:solidFill>
                      <a:prstDash val="solid"/>
                      <a:round/>
                      <a:headEnd type="none" w="med" len="med"/>
                      <a:tailEnd type="none" w="med" len="med"/>
                    </a:lnB>
                  </a:tcPr>
                </a:tc>
                <a:tc>
                  <a:txBody>
                    <a:bodyPr/>
                    <a:lstStyle/>
                    <a:p>
                      <a:pPr marL="0" indent="0" algn="ctr">
                        <a:buNone/>
                      </a:pPr>
                      <a:r>
                        <a:rPr lang="en-US" sz="1100" dirty="0">
                          <a:solidFill>
                            <a:srgbClr val="5A6577"/>
                          </a:solidFill>
                          <a:latin typeface="Open Sauce One" pitchFamily="34" charset="0"/>
                          <a:ea typeface="Open Sauce One" pitchFamily="34" charset="-122"/>
                          <a:cs typeface="Open Sauce One" pitchFamily="34" charset="-120"/>
                        </a:rPr>
                        <a:t>0.564</a:t>
                      </a:r>
                      <a:endParaRPr lang="en-US" sz="1100" dirty="0">
                        <a:latin typeface="Open Sauce One" charset="0"/>
                        <a:ea typeface="Open Sauce One" charset="0"/>
                        <a:cs typeface="Open Sauce One" charset="0"/>
                      </a:endParaRPr>
                    </a:p>
                  </a:txBody>
                  <a:tcPr>
                    <a:lnL w="6350" cap="flat" cmpd="sng" algn="ctr">
                      <a:solidFill>
                        <a:srgbClr val="C5CCD6"/>
                      </a:solidFill>
                      <a:prstDash val="solid"/>
                      <a:round/>
                      <a:headEnd type="none" w="med" len="med"/>
                      <a:tailEnd type="none" w="med" len="med"/>
                    </a:lnL>
                    <a:lnR w="6350" cap="flat" cmpd="sng" algn="ctr">
                      <a:solidFill>
                        <a:srgbClr val="C5CCD6"/>
                      </a:solidFill>
                      <a:prstDash val="solid"/>
                      <a:round/>
                      <a:headEnd type="none" w="med" len="med"/>
                      <a:tailEnd type="none" w="med" len="med"/>
                    </a:lnR>
                    <a:lnT w="6350" cap="flat" cmpd="sng" algn="ctr">
                      <a:solidFill>
                        <a:srgbClr val="C5CCD6"/>
                      </a:solidFill>
                      <a:prstDash val="solid"/>
                      <a:round/>
                      <a:headEnd type="none" w="med" len="med"/>
                      <a:tailEnd type="none" w="med" len="med"/>
                    </a:lnT>
                    <a:lnB w="6350" cap="flat" cmpd="sng" algn="ctr">
                      <a:solidFill>
                        <a:srgbClr val="C5CCD6"/>
                      </a:solidFill>
                      <a:prstDash val="solid"/>
                      <a:round/>
                      <a:headEnd type="none" w="med" len="med"/>
                      <a:tailEnd type="none" w="med" len="med"/>
                    </a:lnB>
                  </a:tcPr>
                </a:tc>
                <a:tc>
                  <a:txBody>
                    <a:bodyPr/>
                    <a:lstStyle/>
                    <a:p>
                      <a:pPr marL="0" indent="0" algn="ctr">
                        <a:buNone/>
                      </a:pPr>
                      <a:r>
                        <a:rPr lang="en-US" sz="1100" dirty="0">
                          <a:solidFill>
                            <a:srgbClr val="C62828"/>
                          </a:solidFill>
                          <a:latin typeface="Open Sauce One" pitchFamily="34" charset="0"/>
                          <a:ea typeface="Open Sauce One" pitchFamily="34" charset="-122"/>
                          <a:cs typeface="Open Sauce One" pitchFamily="34" charset="-120"/>
                        </a:rPr>
                        <a:t>✗  No signal</a:t>
                      </a:r>
                      <a:endParaRPr lang="en-US" sz="1100" dirty="0">
                        <a:latin typeface="Open Sauce One" charset="0"/>
                        <a:ea typeface="Open Sauce One" charset="0"/>
                        <a:cs typeface="Open Sauce One" charset="0"/>
                      </a:endParaRPr>
                    </a:p>
                  </a:txBody>
                  <a:tcPr>
                    <a:lnL w="6350" cap="flat" cmpd="sng" algn="ctr">
                      <a:solidFill>
                        <a:srgbClr val="C5CCD6"/>
                      </a:solidFill>
                      <a:prstDash val="solid"/>
                      <a:round/>
                      <a:headEnd type="none" w="med" len="med"/>
                      <a:tailEnd type="none" w="med" len="med"/>
                    </a:lnL>
                    <a:lnR w="6350" cap="flat" cmpd="sng" algn="ctr">
                      <a:solidFill>
                        <a:srgbClr val="C5CCD6"/>
                      </a:solidFill>
                      <a:prstDash val="solid"/>
                      <a:round/>
                      <a:headEnd type="none" w="med" len="med"/>
                      <a:tailEnd type="none" w="med" len="med"/>
                    </a:lnR>
                    <a:lnT w="6350" cap="flat" cmpd="sng" algn="ctr">
                      <a:solidFill>
                        <a:srgbClr val="C5CCD6"/>
                      </a:solidFill>
                      <a:prstDash val="solid"/>
                      <a:round/>
                      <a:headEnd type="none" w="med" len="med"/>
                      <a:tailEnd type="none" w="med" len="med"/>
                    </a:lnT>
                    <a:lnB w="6350" cap="flat" cmpd="sng" algn="ctr">
                      <a:solidFill>
                        <a:srgbClr val="C5CCD6"/>
                      </a:solidFill>
                      <a:prstDash val="solid"/>
                      <a:round/>
                      <a:headEnd type="none" w="med" len="med"/>
                      <a:tailEnd type="none" w="med" len="med"/>
                    </a:lnB>
                  </a:tcPr>
                </a:tc>
                <a:extLst>
                  <a:ext uri="{0D108BD9-81ED-4DB2-BD59-A6C34878D82A}">
                    <a16:rowId xmlns:a16="http://schemas.microsoft.com/office/drawing/2014/main" val="10004"/>
                  </a:ext>
                </a:extLst>
              </a:tr>
              <a:tr h="347472">
                <a:tc>
                  <a:txBody>
                    <a:bodyPr/>
                    <a:lstStyle/>
                    <a:p>
                      <a:pPr marL="0" indent="0">
                        <a:buNone/>
                      </a:pPr>
                      <a:r>
                        <a:rPr lang="en-US" sz="1100" b="1" dirty="0">
                          <a:solidFill>
                            <a:srgbClr val="0F1B2D"/>
                          </a:solidFill>
                          <a:latin typeface="Open Sauce One" pitchFamily="34" charset="0"/>
                          <a:ea typeface="Open Sauce One" pitchFamily="34" charset="-122"/>
                          <a:cs typeface="Open Sauce One" pitchFamily="34" charset="-120"/>
                        </a:rPr>
                        <a:t>Defensibility Index</a:t>
                      </a:r>
                      <a:endParaRPr lang="en-US" sz="1100" dirty="0">
                        <a:latin typeface="Open Sauce One" charset="0"/>
                        <a:ea typeface="Open Sauce One" charset="0"/>
                        <a:cs typeface="Open Sauce One" charset="0"/>
                      </a:endParaRPr>
                    </a:p>
                  </a:txBody>
                  <a:tcPr>
                    <a:lnL w="6350" cap="flat" cmpd="sng" algn="ctr">
                      <a:solidFill>
                        <a:srgbClr val="C5CCD6"/>
                      </a:solidFill>
                      <a:prstDash val="solid"/>
                      <a:round/>
                      <a:headEnd type="none" w="med" len="med"/>
                      <a:tailEnd type="none" w="med" len="med"/>
                    </a:lnL>
                    <a:lnR w="6350" cap="flat" cmpd="sng" algn="ctr">
                      <a:solidFill>
                        <a:srgbClr val="C5CCD6"/>
                      </a:solidFill>
                      <a:prstDash val="solid"/>
                      <a:round/>
                      <a:headEnd type="none" w="med" len="med"/>
                      <a:tailEnd type="none" w="med" len="med"/>
                    </a:lnR>
                    <a:lnT w="6350" cap="flat" cmpd="sng" algn="ctr">
                      <a:solidFill>
                        <a:srgbClr val="C5CCD6"/>
                      </a:solidFill>
                      <a:prstDash val="solid"/>
                      <a:round/>
                      <a:headEnd type="none" w="med" len="med"/>
                      <a:tailEnd type="none" w="med" len="med"/>
                    </a:lnT>
                    <a:lnB w="6350" cap="flat" cmpd="sng" algn="ctr">
                      <a:solidFill>
                        <a:srgbClr val="C5CCD6"/>
                      </a:solidFill>
                      <a:prstDash val="solid"/>
                      <a:round/>
                      <a:headEnd type="none" w="med" len="med"/>
                      <a:tailEnd type="none" w="med" len="med"/>
                    </a:lnB>
                  </a:tcPr>
                </a:tc>
                <a:tc>
                  <a:txBody>
                    <a:bodyPr/>
                    <a:lstStyle/>
                    <a:p>
                      <a:pPr marL="0" indent="0" algn="ctr">
                        <a:buNone/>
                      </a:pPr>
                      <a:r>
                        <a:rPr lang="en-US" sz="1100" b="1" dirty="0">
                          <a:solidFill>
                            <a:srgbClr val="0F1B2D"/>
                          </a:solidFill>
                          <a:latin typeface="Open Sauce One" pitchFamily="34" charset="0"/>
                          <a:ea typeface="Open Sauce One" pitchFamily="34" charset="-122"/>
                          <a:cs typeface="Open Sauce One" pitchFamily="34" charset="-120"/>
                        </a:rPr>
                        <a:t>+0.493</a:t>
                      </a:r>
                      <a:endParaRPr lang="en-US" sz="1100" dirty="0">
                        <a:latin typeface="Open Sauce One" charset="0"/>
                        <a:ea typeface="Open Sauce One" charset="0"/>
                        <a:cs typeface="Open Sauce One" charset="0"/>
                      </a:endParaRPr>
                    </a:p>
                  </a:txBody>
                  <a:tcPr>
                    <a:lnL w="6350" cap="flat" cmpd="sng" algn="ctr">
                      <a:solidFill>
                        <a:srgbClr val="C5CCD6"/>
                      </a:solidFill>
                      <a:prstDash val="solid"/>
                      <a:round/>
                      <a:headEnd type="none" w="med" len="med"/>
                      <a:tailEnd type="none" w="med" len="med"/>
                    </a:lnL>
                    <a:lnR w="6350" cap="flat" cmpd="sng" algn="ctr">
                      <a:solidFill>
                        <a:srgbClr val="C5CCD6"/>
                      </a:solidFill>
                      <a:prstDash val="solid"/>
                      <a:round/>
                      <a:headEnd type="none" w="med" len="med"/>
                      <a:tailEnd type="none" w="med" len="med"/>
                    </a:lnR>
                    <a:lnT w="6350" cap="flat" cmpd="sng" algn="ctr">
                      <a:solidFill>
                        <a:srgbClr val="C5CCD6"/>
                      </a:solidFill>
                      <a:prstDash val="solid"/>
                      <a:round/>
                      <a:headEnd type="none" w="med" len="med"/>
                      <a:tailEnd type="none" w="med" len="med"/>
                    </a:lnT>
                    <a:lnB w="6350" cap="flat" cmpd="sng" algn="ctr">
                      <a:solidFill>
                        <a:srgbClr val="C5CCD6"/>
                      </a:solidFill>
                      <a:prstDash val="solid"/>
                      <a:round/>
                      <a:headEnd type="none" w="med" len="med"/>
                      <a:tailEnd type="none" w="med" len="med"/>
                    </a:lnB>
                  </a:tcPr>
                </a:tc>
                <a:tc>
                  <a:txBody>
                    <a:bodyPr/>
                    <a:lstStyle/>
                    <a:p>
                      <a:pPr marL="0" indent="0" algn="ctr">
                        <a:buNone/>
                      </a:pPr>
                      <a:r>
                        <a:rPr lang="en-US" sz="1100" b="1" dirty="0">
                          <a:solidFill>
                            <a:srgbClr val="0F1B2D"/>
                          </a:solidFill>
                          <a:latin typeface="Open Sauce One" pitchFamily="34" charset="0"/>
                          <a:ea typeface="Open Sauce One" pitchFamily="34" charset="-122"/>
                          <a:cs typeface="Open Sauce One" pitchFamily="34" charset="-120"/>
                        </a:rPr>
                        <a:t>0.050</a:t>
                      </a:r>
                      <a:endParaRPr lang="en-US" sz="1100" dirty="0">
                        <a:latin typeface="Open Sauce One" charset="0"/>
                        <a:ea typeface="Open Sauce One" charset="0"/>
                        <a:cs typeface="Open Sauce One" charset="0"/>
                      </a:endParaRPr>
                    </a:p>
                  </a:txBody>
                  <a:tcPr>
                    <a:lnL w="6350" cap="flat" cmpd="sng" algn="ctr">
                      <a:solidFill>
                        <a:srgbClr val="C5CCD6"/>
                      </a:solidFill>
                      <a:prstDash val="solid"/>
                      <a:round/>
                      <a:headEnd type="none" w="med" len="med"/>
                      <a:tailEnd type="none" w="med" len="med"/>
                    </a:lnL>
                    <a:lnR w="6350" cap="flat" cmpd="sng" algn="ctr">
                      <a:solidFill>
                        <a:srgbClr val="C5CCD6"/>
                      </a:solidFill>
                      <a:prstDash val="solid"/>
                      <a:round/>
                      <a:headEnd type="none" w="med" len="med"/>
                      <a:tailEnd type="none" w="med" len="med"/>
                    </a:lnR>
                    <a:lnT w="6350" cap="flat" cmpd="sng" algn="ctr">
                      <a:solidFill>
                        <a:srgbClr val="C5CCD6"/>
                      </a:solidFill>
                      <a:prstDash val="solid"/>
                      <a:round/>
                      <a:headEnd type="none" w="med" len="med"/>
                      <a:tailEnd type="none" w="med" len="med"/>
                    </a:lnT>
                    <a:lnB w="6350" cap="flat" cmpd="sng" algn="ctr">
                      <a:solidFill>
                        <a:srgbClr val="C5CCD6"/>
                      </a:solidFill>
                      <a:prstDash val="solid"/>
                      <a:round/>
                      <a:headEnd type="none" w="med" len="med"/>
                      <a:tailEnd type="none" w="med" len="med"/>
                    </a:lnB>
                  </a:tcPr>
                </a:tc>
                <a:tc>
                  <a:txBody>
                    <a:bodyPr/>
                    <a:lstStyle/>
                    <a:p>
                      <a:pPr marL="0" indent="0" algn="ctr">
                        <a:buNone/>
                      </a:pPr>
                      <a:r>
                        <a:rPr lang="en-US" sz="1100" b="1" dirty="0">
                          <a:solidFill>
                            <a:srgbClr val="2E7D32"/>
                          </a:solidFill>
                          <a:latin typeface="Open Sauce One" pitchFamily="34" charset="0"/>
                          <a:ea typeface="Open Sauce One" pitchFamily="34" charset="-122"/>
                          <a:cs typeface="Open Sauce One" pitchFamily="34" charset="-120"/>
                        </a:rPr>
                        <a:t>✓  Significant</a:t>
                      </a:r>
                      <a:endParaRPr lang="en-US" sz="1100" dirty="0">
                        <a:latin typeface="Open Sauce One" charset="0"/>
                        <a:ea typeface="Open Sauce One" charset="0"/>
                        <a:cs typeface="Open Sauce One" charset="0"/>
                      </a:endParaRPr>
                    </a:p>
                  </a:txBody>
                  <a:tcPr>
                    <a:lnL w="6350" cap="flat" cmpd="sng" algn="ctr">
                      <a:solidFill>
                        <a:srgbClr val="C5CCD6"/>
                      </a:solidFill>
                      <a:prstDash val="solid"/>
                      <a:round/>
                      <a:headEnd type="none" w="med" len="med"/>
                      <a:tailEnd type="none" w="med" len="med"/>
                    </a:lnL>
                    <a:lnR w="6350" cap="flat" cmpd="sng" algn="ctr">
                      <a:solidFill>
                        <a:srgbClr val="C5CCD6"/>
                      </a:solidFill>
                      <a:prstDash val="solid"/>
                      <a:round/>
                      <a:headEnd type="none" w="med" len="med"/>
                      <a:tailEnd type="none" w="med" len="med"/>
                    </a:lnR>
                    <a:lnT w="6350" cap="flat" cmpd="sng" algn="ctr">
                      <a:solidFill>
                        <a:srgbClr val="C5CCD6"/>
                      </a:solidFill>
                      <a:prstDash val="solid"/>
                      <a:round/>
                      <a:headEnd type="none" w="med" len="med"/>
                      <a:tailEnd type="none" w="med" len="med"/>
                    </a:lnT>
                    <a:lnB w="6350" cap="flat" cmpd="sng" algn="ctr">
                      <a:solidFill>
                        <a:srgbClr val="C5CCD6"/>
                      </a:solidFill>
                      <a:prstDash val="solid"/>
                      <a:round/>
                      <a:headEnd type="none" w="med" len="med"/>
                      <a:tailEnd type="none" w="med" len="med"/>
                    </a:lnB>
                  </a:tcPr>
                </a:tc>
                <a:extLst>
                  <a:ext uri="{0D108BD9-81ED-4DB2-BD59-A6C34878D82A}">
                    <a16:rowId xmlns:a16="http://schemas.microsoft.com/office/drawing/2014/main" val="10005"/>
                  </a:ext>
                </a:extLst>
              </a:tr>
              <a:tr h="347472">
                <a:tc>
                  <a:txBody>
                    <a:bodyPr/>
                    <a:lstStyle/>
                    <a:p>
                      <a:pPr marL="0" indent="0">
                        <a:buNone/>
                      </a:pPr>
                      <a:r>
                        <a:rPr lang="en-US" sz="1100" b="1" dirty="0">
                          <a:solidFill>
                            <a:srgbClr val="0F1B2D"/>
                          </a:solidFill>
                          <a:latin typeface="Open Sauce One" pitchFamily="34" charset="0"/>
                          <a:ea typeface="Open Sauce One" pitchFamily="34" charset="-122"/>
                          <a:cs typeface="Open Sauce One" pitchFamily="34" charset="-120"/>
                        </a:rPr>
                        <a:t>Licensing Requirement</a:t>
                      </a:r>
                      <a:endParaRPr lang="en-US" sz="1100" dirty="0">
                        <a:latin typeface="Open Sauce One" charset="0"/>
                        <a:ea typeface="Open Sauce One" charset="0"/>
                        <a:cs typeface="Open Sauce One" charset="0"/>
                      </a:endParaRPr>
                    </a:p>
                  </a:txBody>
                  <a:tcPr>
                    <a:lnL w="6350" cap="flat" cmpd="sng" algn="ctr">
                      <a:solidFill>
                        <a:srgbClr val="C5CCD6"/>
                      </a:solidFill>
                      <a:prstDash val="solid"/>
                      <a:round/>
                      <a:headEnd type="none" w="med" len="med"/>
                      <a:tailEnd type="none" w="med" len="med"/>
                    </a:lnL>
                    <a:lnR w="6350" cap="flat" cmpd="sng" algn="ctr">
                      <a:solidFill>
                        <a:srgbClr val="C5CCD6"/>
                      </a:solidFill>
                      <a:prstDash val="solid"/>
                      <a:round/>
                      <a:headEnd type="none" w="med" len="med"/>
                      <a:tailEnd type="none" w="med" len="med"/>
                    </a:lnR>
                    <a:lnT w="6350" cap="flat" cmpd="sng" algn="ctr">
                      <a:solidFill>
                        <a:srgbClr val="C5CCD6"/>
                      </a:solidFill>
                      <a:prstDash val="solid"/>
                      <a:round/>
                      <a:headEnd type="none" w="med" len="med"/>
                      <a:tailEnd type="none" w="med" len="med"/>
                    </a:lnT>
                    <a:lnB w="6350" cap="flat" cmpd="sng" algn="ctr">
                      <a:solidFill>
                        <a:srgbClr val="C5CCD6"/>
                      </a:solidFill>
                      <a:prstDash val="solid"/>
                      <a:round/>
                      <a:headEnd type="none" w="med" len="med"/>
                      <a:tailEnd type="none" w="med" len="med"/>
                    </a:lnB>
                  </a:tcPr>
                </a:tc>
                <a:tc>
                  <a:txBody>
                    <a:bodyPr/>
                    <a:lstStyle/>
                    <a:p>
                      <a:pPr marL="0" indent="0" algn="ctr">
                        <a:buNone/>
                      </a:pPr>
                      <a:r>
                        <a:rPr lang="en-US" sz="1100" b="1" dirty="0">
                          <a:solidFill>
                            <a:srgbClr val="0F1B2D"/>
                          </a:solidFill>
                          <a:latin typeface="Open Sauce One" pitchFamily="34" charset="0"/>
                          <a:ea typeface="Open Sauce One" pitchFamily="34" charset="-122"/>
                          <a:cs typeface="Open Sauce One" pitchFamily="34" charset="-120"/>
                        </a:rPr>
                        <a:t>+0.495</a:t>
                      </a:r>
                      <a:endParaRPr lang="en-US" sz="1100" dirty="0">
                        <a:latin typeface="Open Sauce One" charset="0"/>
                        <a:ea typeface="Open Sauce One" charset="0"/>
                        <a:cs typeface="Open Sauce One" charset="0"/>
                      </a:endParaRPr>
                    </a:p>
                  </a:txBody>
                  <a:tcPr>
                    <a:lnL w="6350" cap="flat" cmpd="sng" algn="ctr">
                      <a:solidFill>
                        <a:srgbClr val="C5CCD6"/>
                      </a:solidFill>
                      <a:prstDash val="solid"/>
                      <a:round/>
                      <a:headEnd type="none" w="med" len="med"/>
                      <a:tailEnd type="none" w="med" len="med"/>
                    </a:lnL>
                    <a:lnR w="6350" cap="flat" cmpd="sng" algn="ctr">
                      <a:solidFill>
                        <a:srgbClr val="C5CCD6"/>
                      </a:solidFill>
                      <a:prstDash val="solid"/>
                      <a:round/>
                      <a:headEnd type="none" w="med" len="med"/>
                      <a:tailEnd type="none" w="med" len="med"/>
                    </a:lnR>
                    <a:lnT w="6350" cap="flat" cmpd="sng" algn="ctr">
                      <a:solidFill>
                        <a:srgbClr val="C5CCD6"/>
                      </a:solidFill>
                      <a:prstDash val="solid"/>
                      <a:round/>
                      <a:headEnd type="none" w="med" len="med"/>
                      <a:tailEnd type="none" w="med" len="med"/>
                    </a:lnT>
                    <a:lnB w="6350" cap="flat" cmpd="sng" algn="ctr">
                      <a:solidFill>
                        <a:srgbClr val="C5CCD6"/>
                      </a:solidFill>
                      <a:prstDash val="solid"/>
                      <a:round/>
                      <a:headEnd type="none" w="med" len="med"/>
                      <a:tailEnd type="none" w="med" len="med"/>
                    </a:lnB>
                  </a:tcPr>
                </a:tc>
                <a:tc>
                  <a:txBody>
                    <a:bodyPr/>
                    <a:lstStyle/>
                    <a:p>
                      <a:pPr marL="0" indent="0" algn="ctr">
                        <a:buNone/>
                      </a:pPr>
                      <a:r>
                        <a:rPr lang="en-US" sz="1100" b="1" dirty="0">
                          <a:solidFill>
                            <a:srgbClr val="0F1B2D"/>
                          </a:solidFill>
                          <a:latin typeface="Open Sauce One" pitchFamily="34" charset="0"/>
                          <a:ea typeface="Open Sauce One" pitchFamily="34" charset="-122"/>
                          <a:cs typeface="Open Sauce One" pitchFamily="34" charset="-120"/>
                        </a:rPr>
                        <a:t>0.052</a:t>
                      </a:r>
                      <a:endParaRPr lang="en-US" sz="1100" dirty="0">
                        <a:latin typeface="Open Sauce One" charset="0"/>
                        <a:ea typeface="Open Sauce One" charset="0"/>
                        <a:cs typeface="Open Sauce One" charset="0"/>
                      </a:endParaRPr>
                    </a:p>
                  </a:txBody>
                  <a:tcPr>
                    <a:lnL w="6350" cap="flat" cmpd="sng" algn="ctr">
                      <a:solidFill>
                        <a:srgbClr val="C5CCD6"/>
                      </a:solidFill>
                      <a:prstDash val="solid"/>
                      <a:round/>
                      <a:headEnd type="none" w="med" len="med"/>
                      <a:tailEnd type="none" w="med" len="med"/>
                    </a:lnL>
                    <a:lnR w="6350" cap="flat" cmpd="sng" algn="ctr">
                      <a:solidFill>
                        <a:srgbClr val="C5CCD6"/>
                      </a:solidFill>
                      <a:prstDash val="solid"/>
                      <a:round/>
                      <a:headEnd type="none" w="med" len="med"/>
                      <a:tailEnd type="none" w="med" len="med"/>
                    </a:lnR>
                    <a:lnT w="6350" cap="flat" cmpd="sng" algn="ctr">
                      <a:solidFill>
                        <a:srgbClr val="C5CCD6"/>
                      </a:solidFill>
                      <a:prstDash val="solid"/>
                      <a:round/>
                      <a:headEnd type="none" w="med" len="med"/>
                      <a:tailEnd type="none" w="med" len="med"/>
                    </a:lnT>
                    <a:lnB w="6350" cap="flat" cmpd="sng" algn="ctr">
                      <a:solidFill>
                        <a:srgbClr val="C5CCD6"/>
                      </a:solidFill>
                      <a:prstDash val="solid"/>
                      <a:round/>
                      <a:headEnd type="none" w="med" len="med"/>
                      <a:tailEnd type="none" w="med" len="med"/>
                    </a:lnB>
                  </a:tcPr>
                </a:tc>
                <a:tc>
                  <a:txBody>
                    <a:bodyPr/>
                    <a:lstStyle/>
                    <a:p>
                      <a:pPr marL="0" indent="0" algn="ctr">
                        <a:buNone/>
                      </a:pPr>
                      <a:r>
                        <a:rPr lang="en-US" sz="1100" b="1" dirty="0">
                          <a:solidFill>
                            <a:srgbClr val="2E7D32"/>
                          </a:solidFill>
                          <a:latin typeface="Open Sauce One" pitchFamily="34" charset="0"/>
                          <a:ea typeface="Open Sauce One" pitchFamily="34" charset="-122"/>
                          <a:cs typeface="Open Sauce One" pitchFamily="34" charset="-120"/>
                        </a:rPr>
                        <a:t>✓  Marginal</a:t>
                      </a:r>
                      <a:endParaRPr lang="en-US" sz="1100" dirty="0">
                        <a:latin typeface="Open Sauce One" charset="0"/>
                        <a:ea typeface="Open Sauce One" charset="0"/>
                        <a:cs typeface="Open Sauce One" charset="0"/>
                      </a:endParaRPr>
                    </a:p>
                  </a:txBody>
                  <a:tcPr>
                    <a:lnL w="6350" cap="flat" cmpd="sng" algn="ctr">
                      <a:solidFill>
                        <a:srgbClr val="C5CCD6"/>
                      </a:solidFill>
                      <a:prstDash val="solid"/>
                      <a:round/>
                      <a:headEnd type="none" w="med" len="med"/>
                      <a:tailEnd type="none" w="med" len="med"/>
                    </a:lnL>
                    <a:lnR w="6350" cap="flat" cmpd="sng" algn="ctr">
                      <a:solidFill>
                        <a:srgbClr val="C5CCD6"/>
                      </a:solidFill>
                      <a:prstDash val="solid"/>
                      <a:round/>
                      <a:headEnd type="none" w="med" len="med"/>
                      <a:tailEnd type="none" w="med" len="med"/>
                    </a:lnR>
                    <a:lnT w="6350" cap="flat" cmpd="sng" algn="ctr">
                      <a:solidFill>
                        <a:srgbClr val="C5CCD6"/>
                      </a:solidFill>
                      <a:prstDash val="solid"/>
                      <a:round/>
                      <a:headEnd type="none" w="med" len="med"/>
                      <a:tailEnd type="none" w="med" len="med"/>
                    </a:lnT>
                    <a:lnB w="6350" cap="flat" cmpd="sng" algn="ctr">
                      <a:solidFill>
                        <a:srgbClr val="C5CCD6"/>
                      </a:solidFill>
                      <a:prstDash val="solid"/>
                      <a:round/>
                      <a:headEnd type="none" w="med" len="med"/>
                      <a:tailEnd type="none" w="med" len="med"/>
                    </a:lnB>
                  </a:tcPr>
                </a:tc>
                <a:extLst>
                  <a:ext uri="{0D108BD9-81ED-4DB2-BD59-A6C34878D82A}">
                    <a16:rowId xmlns:a16="http://schemas.microsoft.com/office/drawing/2014/main" val="10006"/>
                  </a:ext>
                </a:extLst>
              </a:tr>
              <a:tr h="347472">
                <a:tc>
                  <a:txBody>
                    <a:bodyPr/>
                    <a:lstStyle/>
                    <a:p>
                      <a:pPr marL="0" indent="0">
                        <a:buNone/>
                      </a:pPr>
                      <a:r>
                        <a:rPr lang="en-US" sz="1100" b="1" dirty="0">
                          <a:solidFill>
                            <a:srgbClr val="0F1B2D"/>
                          </a:solidFill>
                          <a:latin typeface="Open Sauce One" pitchFamily="34" charset="0"/>
                          <a:ea typeface="Open Sauce One" pitchFamily="34" charset="-122"/>
                          <a:cs typeface="Open Sauce One" pitchFamily="34" charset="-120"/>
                        </a:rPr>
                        <a:t>Composite Score</a:t>
                      </a:r>
                      <a:endParaRPr lang="en-US" sz="1100" dirty="0">
                        <a:latin typeface="Open Sauce One" charset="0"/>
                        <a:ea typeface="Open Sauce One" charset="0"/>
                        <a:cs typeface="Open Sauce One" charset="0"/>
                      </a:endParaRPr>
                    </a:p>
                  </a:txBody>
                  <a:tcPr>
                    <a:lnL w="6350" cap="flat" cmpd="sng" algn="ctr">
                      <a:solidFill>
                        <a:srgbClr val="C5CCD6"/>
                      </a:solidFill>
                      <a:prstDash val="solid"/>
                      <a:round/>
                      <a:headEnd type="none" w="med" len="med"/>
                      <a:tailEnd type="none" w="med" len="med"/>
                    </a:lnL>
                    <a:lnR w="6350" cap="flat" cmpd="sng" algn="ctr">
                      <a:solidFill>
                        <a:srgbClr val="C5CCD6"/>
                      </a:solidFill>
                      <a:prstDash val="solid"/>
                      <a:round/>
                      <a:headEnd type="none" w="med" len="med"/>
                      <a:tailEnd type="none" w="med" len="med"/>
                    </a:lnR>
                    <a:lnT w="6350" cap="flat" cmpd="sng" algn="ctr">
                      <a:solidFill>
                        <a:srgbClr val="C5CCD6"/>
                      </a:solidFill>
                      <a:prstDash val="solid"/>
                      <a:round/>
                      <a:headEnd type="none" w="med" len="med"/>
                      <a:tailEnd type="none" w="med" len="med"/>
                    </a:lnT>
                    <a:lnB w="6350" cap="flat" cmpd="sng" algn="ctr">
                      <a:solidFill>
                        <a:srgbClr val="C5CCD6"/>
                      </a:solidFill>
                      <a:prstDash val="solid"/>
                      <a:round/>
                      <a:headEnd type="none" w="med" len="med"/>
                      <a:tailEnd type="none" w="med" len="med"/>
                    </a:lnB>
                  </a:tcPr>
                </a:tc>
                <a:tc>
                  <a:txBody>
                    <a:bodyPr/>
                    <a:lstStyle/>
                    <a:p>
                      <a:pPr marL="0" indent="0" algn="ctr">
                        <a:buNone/>
                      </a:pPr>
                      <a:r>
                        <a:rPr lang="en-US" sz="1100" b="1" dirty="0">
                          <a:solidFill>
                            <a:srgbClr val="0F1B2D"/>
                          </a:solidFill>
                          <a:latin typeface="Open Sauce One" pitchFamily="34" charset="0"/>
                          <a:ea typeface="Open Sauce One" pitchFamily="34" charset="-122"/>
                          <a:cs typeface="Open Sauce One" pitchFamily="34" charset="-120"/>
                        </a:rPr>
                        <a:t>+0.574</a:t>
                      </a:r>
                      <a:endParaRPr lang="en-US" sz="1100" dirty="0">
                        <a:latin typeface="Open Sauce One" charset="0"/>
                        <a:ea typeface="Open Sauce One" charset="0"/>
                        <a:cs typeface="Open Sauce One" charset="0"/>
                      </a:endParaRPr>
                    </a:p>
                  </a:txBody>
                  <a:tcPr>
                    <a:lnL w="6350" cap="flat" cmpd="sng" algn="ctr">
                      <a:solidFill>
                        <a:srgbClr val="C5CCD6"/>
                      </a:solidFill>
                      <a:prstDash val="solid"/>
                      <a:round/>
                      <a:headEnd type="none" w="med" len="med"/>
                      <a:tailEnd type="none" w="med" len="med"/>
                    </a:lnL>
                    <a:lnR w="6350" cap="flat" cmpd="sng" algn="ctr">
                      <a:solidFill>
                        <a:srgbClr val="C5CCD6"/>
                      </a:solidFill>
                      <a:prstDash val="solid"/>
                      <a:round/>
                      <a:headEnd type="none" w="med" len="med"/>
                      <a:tailEnd type="none" w="med" len="med"/>
                    </a:lnR>
                    <a:lnT w="6350" cap="flat" cmpd="sng" algn="ctr">
                      <a:solidFill>
                        <a:srgbClr val="C5CCD6"/>
                      </a:solidFill>
                      <a:prstDash val="solid"/>
                      <a:round/>
                      <a:headEnd type="none" w="med" len="med"/>
                      <a:tailEnd type="none" w="med" len="med"/>
                    </a:lnT>
                    <a:lnB w="6350" cap="flat" cmpd="sng" algn="ctr">
                      <a:solidFill>
                        <a:srgbClr val="C5CCD6"/>
                      </a:solidFill>
                      <a:prstDash val="solid"/>
                      <a:round/>
                      <a:headEnd type="none" w="med" len="med"/>
                      <a:tailEnd type="none" w="med" len="med"/>
                    </a:lnB>
                  </a:tcPr>
                </a:tc>
                <a:tc>
                  <a:txBody>
                    <a:bodyPr/>
                    <a:lstStyle/>
                    <a:p>
                      <a:pPr marL="0" indent="0" algn="ctr">
                        <a:buNone/>
                      </a:pPr>
                      <a:r>
                        <a:rPr lang="en-US" sz="1100" b="1" dirty="0">
                          <a:solidFill>
                            <a:srgbClr val="0F1B2D"/>
                          </a:solidFill>
                          <a:latin typeface="Open Sauce One" pitchFamily="34" charset="0"/>
                          <a:ea typeface="Open Sauce One" pitchFamily="34" charset="-122"/>
                          <a:cs typeface="Open Sauce One" pitchFamily="34" charset="-120"/>
                        </a:rPr>
                        <a:t>0.021</a:t>
                      </a:r>
                      <a:endParaRPr lang="en-US" sz="1100" dirty="0">
                        <a:latin typeface="Open Sauce One" charset="0"/>
                        <a:ea typeface="Open Sauce One" charset="0"/>
                        <a:cs typeface="Open Sauce One" charset="0"/>
                      </a:endParaRPr>
                    </a:p>
                  </a:txBody>
                  <a:tcPr>
                    <a:lnL w="6350" cap="flat" cmpd="sng" algn="ctr">
                      <a:solidFill>
                        <a:srgbClr val="C5CCD6"/>
                      </a:solidFill>
                      <a:prstDash val="solid"/>
                      <a:round/>
                      <a:headEnd type="none" w="med" len="med"/>
                      <a:tailEnd type="none" w="med" len="med"/>
                    </a:lnL>
                    <a:lnR w="6350" cap="flat" cmpd="sng" algn="ctr">
                      <a:solidFill>
                        <a:srgbClr val="C5CCD6"/>
                      </a:solidFill>
                      <a:prstDash val="solid"/>
                      <a:round/>
                      <a:headEnd type="none" w="med" len="med"/>
                      <a:tailEnd type="none" w="med" len="med"/>
                    </a:lnR>
                    <a:lnT w="6350" cap="flat" cmpd="sng" algn="ctr">
                      <a:solidFill>
                        <a:srgbClr val="C5CCD6"/>
                      </a:solidFill>
                      <a:prstDash val="solid"/>
                      <a:round/>
                      <a:headEnd type="none" w="med" len="med"/>
                      <a:tailEnd type="none" w="med" len="med"/>
                    </a:lnT>
                    <a:lnB w="6350" cap="flat" cmpd="sng" algn="ctr">
                      <a:solidFill>
                        <a:srgbClr val="C5CCD6"/>
                      </a:solidFill>
                      <a:prstDash val="solid"/>
                      <a:round/>
                      <a:headEnd type="none" w="med" len="med"/>
                      <a:tailEnd type="none" w="med" len="med"/>
                    </a:lnB>
                  </a:tcPr>
                </a:tc>
                <a:tc>
                  <a:txBody>
                    <a:bodyPr/>
                    <a:lstStyle/>
                    <a:p>
                      <a:pPr marL="0" indent="0" algn="ctr">
                        <a:buNone/>
                      </a:pPr>
                      <a:r>
                        <a:rPr lang="en-US" sz="1100" b="1" dirty="0">
                          <a:solidFill>
                            <a:srgbClr val="2E7D32"/>
                          </a:solidFill>
                          <a:latin typeface="Open Sauce One" pitchFamily="34" charset="0"/>
                          <a:ea typeface="Open Sauce One" pitchFamily="34" charset="-122"/>
                          <a:cs typeface="Open Sauce One" pitchFamily="34" charset="-120"/>
                        </a:rPr>
                        <a:t>✓  Significant</a:t>
                      </a:r>
                      <a:endParaRPr lang="en-US" sz="1100" dirty="0">
                        <a:latin typeface="Open Sauce One" charset="0"/>
                        <a:ea typeface="Open Sauce One" charset="0"/>
                        <a:cs typeface="Open Sauce One" charset="0"/>
                      </a:endParaRPr>
                    </a:p>
                  </a:txBody>
                  <a:tcPr>
                    <a:lnL w="6350" cap="flat" cmpd="sng" algn="ctr">
                      <a:solidFill>
                        <a:srgbClr val="C5CCD6"/>
                      </a:solidFill>
                      <a:prstDash val="solid"/>
                      <a:round/>
                      <a:headEnd type="none" w="med" len="med"/>
                      <a:tailEnd type="none" w="med" len="med"/>
                    </a:lnL>
                    <a:lnR w="6350" cap="flat" cmpd="sng" algn="ctr">
                      <a:solidFill>
                        <a:srgbClr val="C5CCD6"/>
                      </a:solidFill>
                      <a:prstDash val="solid"/>
                      <a:round/>
                      <a:headEnd type="none" w="med" len="med"/>
                      <a:tailEnd type="none" w="med" len="med"/>
                    </a:lnR>
                    <a:lnT w="6350" cap="flat" cmpd="sng" algn="ctr">
                      <a:solidFill>
                        <a:srgbClr val="C5CCD6"/>
                      </a:solidFill>
                      <a:prstDash val="solid"/>
                      <a:round/>
                      <a:headEnd type="none" w="med" len="med"/>
                      <a:tailEnd type="none" w="med" len="med"/>
                    </a:lnT>
                    <a:lnB w="6350" cap="flat" cmpd="sng" algn="ctr">
                      <a:solidFill>
                        <a:srgbClr val="C5CCD6"/>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grpSp>
        <p:nvGrpSpPr>
          <p:cNvPr id="6" name="Group 5">
            <a:extLst>
              <a:ext uri="{FF2B5EF4-FFF2-40B4-BE49-F238E27FC236}">
                <a16:creationId xmlns:a16="http://schemas.microsoft.com/office/drawing/2014/main" id="{F63BA5EF-E30A-C479-3B1C-5B5E44C6B7BB}"/>
              </a:ext>
            </a:extLst>
          </p:cNvPr>
          <p:cNvGrpSpPr/>
          <p:nvPr/>
        </p:nvGrpSpPr>
        <p:grpSpPr>
          <a:xfrm>
            <a:off x="640080" y="1056132"/>
            <a:ext cx="7863840" cy="457200"/>
            <a:chOff x="391799" y="4393692"/>
            <a:chExt cx="7863840" cy="457200"/>
          </a:xfrm>
        </p:grpSpPr>
        <p:sp>
          <p:nvSpPr>
            <p:cNvPr id="7" name="Shape 4"/>
            <p:cNvSpPr/>
            <p:nvPr/>
          </p:nvSpPr>
          <p:spPr>
            <a:xfrm>
              <a:off x="391799" y="4393692"/>
              <a:ext cx="7863840" cy="457200"/>
            </a:xfrm>
            <a:prstGeom prst="rect">
              <a:avLst/>
            </a:prstGeom>
            <a:solidFill>
              <a:srgbClr val="0F1B2D"/>
            </a:solidFill>
            <a:ln/>
          </p:spPr>
          <p:txBody>
            <a:bodyPr/>
            <a:lstStyle/>
            <a:p>
              <a:endParaRPr lang="en-US"/>
            </a:p>
          </p:txBody>
        </p:sp>
        <p:sp>
          <p:nvSpPr>
            <p:cNvPr id="8" name="Text 5"/>
            <p:cNvSpPr/>
            <p:nvPr/>
          </p:nvSpPr>
          <p:spPr>
            <a:xfrm>
              <a:off x="666119" y="4393692"/>
              <a:ext cx="7315200" cy="457200"/>
            </a:xfrm>
            <a:prstGeom prst="rect">
              <a:avLst/>
            </a:prstGeom>
            <a:noFill/>
            <a:ln/>
          </p:spPr>
          <p:txBody>
            <a:bodyPr wrap="square" lIns="0" tIns="0" rIns="0" bIns="0" rtlCol="0" anchor="ctr"/>
            <a:lstStyle/>
            <a:p>
              <a:pPr marL="0" indent="0">
                <a:buNone/>
              </a:pPr>
              <a:r>
                <a:rPr lang="en-US" sz="1300" b="1" dirty="0">
                  <a:solidFill>
                    <a:srgbClr val="FFFFFF"/>
                  </a:solidFill>
                  <a:latin typeface="Open Sauce One" pitchFamily="34" charset="0"/>
                  <a:ea typeface="Open Sauce One" pitchFamily="34" charset="-122"/>
                  <a:cs typeface="Open Sauce One" pitchFamily="34" charset="-120"/>
                </a:rPr>
                <a:t>The market doesn’t reward AI upside. It rewards the ability to keep it.</a:t>
              </a:r>
              <a:endParaRPr lang="en-US" sz="1300" dirty="0"/>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4828032"/>
            <a:ext cx="7772400" cy="274320"/>
          </a:xfrm>
          <a:prstGeom prst="rect">
            <a:avLst/>
          </a:prstGeom>
          <a:noFill/>
          <a:ln/>
        </p:spPr>
        <p:txBody>
          <a:bodyPr wrap="square" lIns="0" tIns="0" rIns="0" bIns="0" rtlCol="0" anchor="ctr"/>
          <a:lstStyle/>
          <a:p>
            <a:pPr marL="0" indent="0">
              <a:buNone/>
            </a:pPr>
            <a:r>
              <a:rPr lang="en-US" sz="800" dirty="0">
                <a:solidFill>
                  <a:srgbClr val="FFFFFF"/>
                </a:solidFill>
                <a:latin typeface="Open Sauce One" pitchFamily="34" charset="0"/>
                <a:ea typeface="Open Sauce One" pitchFamily="34" charset="-122"/>
                <a:cs typeface="Open Sauce One" pitchFamily="34" charset="-120"/>
              </a:rPr>
              <a:t>The Moat in the Machine  |  Dutchess Management  |  February 2026  |  Working Draft</a:t>
            </a:r>
            <a:endParaRPr lang="en-US" sz="800" dirty="0"/>
          </a:p>
        </p:txBody>
      </p:sp>
      <p:sp>
        <p:nvSpPr>
          <p:cNvPr id="3" name="Text 1"/>
          <p:cNvSpPr/>
          <p:nvPr/>
        </p:nvSpPr>
        <p:spPr>
          <a:xfrm>
            <a:off x="8412480" y="4828032"/>
            <a:ext cx="548640" cy="274320"/>
          </a:xfrm>
          <a:prstGeom prst="rect">
            <a:avLst/>
          </a:prstGeom>
          <a:noFill/>
          <a:ln/>
        </p:spPr>
        <p:txBody>
          <a:bodyPr wrap="square" lIns="0" tIns="0" rIns="0" bIns="0" rtlCol="0" anchor="ctr"/>
          <a:lstStyle/>
          <a:p>
            <a:pPr marL="0" indent="0" algn="r">
              <a:buNone/>
            </a:pPr>
            <a:endParaRPr lang="en-US" sz="900" dirty="0"/>
          </a:p>
        </p:txBody>
      </p:sp>
      <p:sp>
        <p:nvSpPr>
          <p:cNvPr id="4" name="Text 2"/>
          <p:cNvSpPr/>
          <p:nvPr/>
        </p:nvSpPr>
        <p:spPr>
          <a:xfrm>
            <a:off x="640080" y="320040"/>
            <a:ext cx="7863840" cy="365760"/>
          </a:xfrm>
          <a:prstGeom prst="rect">
            <a:avLst/>
          </a:prstGeom>
          <a:noFill/>
          <a:ln/>
        </p:spPr>
        <p:txBody>
          <a:bodyPr wrap="square" lIns="0" tIns="0" rIns="0" bIns="0" rtlCol="0" anchor="ctr"/>
          <a:lstStyle/>
          <a:p>
            <a:pPr marL="0" indent="0">
              <a:buNone/>
            </a:pPr>
            <a:r>
              <a:rPr lang="en-US" sz="1300" b="1" kern="0" spc="300" dirty="0">
                <a:solidFill>
                  <a:srgbClr val="E8563A"/>
                </a:solidFill>
                <a:latin typeface="Open Sauce One" pitchFamily="34" charset="0"/>
                <a:ea typeface="Open Sauce One" pitchFamily="34" charset="-122"/>
                <a:cs typeface="Open Sauce One" pitchFamily="34" charset="-120"/>
              </a:rPr>
              <a:t>IC DECISION BANDS(SEGMENT/VERTICAL LEVEL)</a:t>
            </a:r>
            <a:endParaRPr lang="en-US" sz="1300" dirty="0"/>
          </a:p>
        </p:txBody>
      </p:sp>
      <p:sp>
        <p:nvSpPr>
          <p:cNvPr id="5" name="Text 3"/>
          <p:cNvSpPr/>
          <p:nvPr/>
        </p:nvSpPr>
        <p:spPr>
          <a:xfrm>
            <a:off x="640080" y="713232"/>
            <a:ext cx="7315200" cy="320040"/>
          </a:xfrm>
          <a:prstGeom prst="rect">
            <a:avLst/>
          </a:prstGeom>
          <a:noFill/>
          <a:ln/>
        </p:spPr>
        <p:txBody>
          <a:bodyPr wrap="square" lIns="0" tIns="0" rIns="0" bIns="0" rtlCol="0" anchor="ctr"/>
          <a:lstStyle/>
          <a:p>
            <a:pPr marL="0" indent="0">
              <a:buNone/>
            </a:pPr>
            <a:r>
              <a:rPr lang="en-US" sz="1100" dirty="0">
                <a:solidFill>
                  <a:srgbClr val="C5CCD6"/>
                </a:solidFill>
                <a:latin typeface="Open Sauce One" pitchFamily="34" charset="0"/>
                <a:ea typeface="Open Sauce One" pitchFamily="34" charset="-122"/>
                <a:cs typeface="Open Sauce One" pitchFamily="34" charset="-120"/>
              </a:rPr>
              <a:t>Convert the composite score into default IC action. Bands calibrated valuation spread data</a:t>
            </a:r>
            <a:endParaRPr lang="en-US" sz="1100" dirty="0"/>
          </a:p>
        </p:txBody>
      </p:sp>
      <p:sp>
        <p:nvSpPr>
          <p:cNvPr id="6" name="Shape 4"/>
          <p:cNvSpPr/>
          <p:nvPr/>
        </p:nvSpPr>
        <p:spPr>
          <a:xfrm>
            <a:off x="640080" y="1280160"/>
            <a:ext cx="7863840" cy="640080"/>
          </a:xfrm>
          <a:prstGeom prst="rect">
            <a:avLst/>
          </a:prstGeom>
          <a:solidFill>
            <a:srgbClr val="1A2942"/>
          </a:solidFill>
          <a:ln/>
        </p:spPr>
        <p:txBody>
          <a:bodyPr/>
          <a:lstStyle/>
          <a:p>
            <a:endParaRPr lang="en-US"/>
          </a:p>
        </p:txBody>
      </p:sp>
      <p:sp>
        <p:nvSpPr>
          <p:cNvPr id="7" name="Shape 5"/>
          <p:cNvSpPr/>
          <p:nvPr/>
        </p:nvSpPr>
        <p:spPr>
          <a:xfrm>
            <a:off x="640080" y="1280160"/>
            <a:ext cx="64008" cy="640080"/>
          </a:xfrm>
          <a:prstGeom prst="rect">
            <a:avLst/>
          </a:prstGeom>
          <a:solidFill>
            <a:srgbClr val="2E7D32"/>
          </a:solidFill>
          <a:ln/>
        </p:spPr>
        <p:txBody>
          <a:bodyPr/>
          <a:lstStyle/>
          <a:p>
            <a:endParaRPr lang="en-US"/>
          </a:p>
        </p:txBody>
      </p:sp>
      <p:sp>
        <p:nvSpPr>
          <p:cNvPr id="8" name="Text 6"/>
          <p:cNvSpPr/>
          <p:nvPr/>
        </p:nvSpPr>
        <p:spPr>
          <a:xfrm>
            <a:off x="1005840" y="1280160"/>
            <a:ext cx="2011680" cy="640080"/>
          </a:xfrm>
          <a:prstGeom prst="rect">
            <a:avLst/>
          </a:prstGeom>
          <a:noFill/>
          <a:ln/>
        </p:spPr>
        <p:txBody>
          <a:bodyPr wrap="square" lIns="0" tIns="0" rIns="0" bIns="0" rtlCol="0" anchor="ctr"/>
          <a:lstStyle/>
          <a:p>
            <a:pPr marL="0" indent="0">
              <a:buNone/>
            </a:pPr>
            <a:r>
              <a:rPr lang="en-US" sz="2000" b="1" dirty="0">
                <a:solidFill>
                  <a:srgbClr val="2E7D32"/>
                </a:solidFill>
                <a:latin typeface="Open Sauce One" pitchFamily="34" charset="0"/>
                <a:ea typeface="Open Sauce One" pitchFamily="34" charset="-122"/>
                <a:cs typeface="Open Sauce One" pitchFamily="34" charset="-120"/>
              </a:rPr>
              <a:t>GO</a:t>
            </a:r>
            <a:endParaRPr lang="en-US" sz="2000" dirty="0"/>
          </a:p>
        </p:txBody>
      </p:sp>
      <p:sp>
        <p:nvSpPr>
          <p:cNvPr id="9" name="Text 7"/>
          <p:cNvSpPr/>
          <p:nvPr/>
        </p:nvSpPr>
        <p:spPr>
          <a:xfrm>
            <a:off x="3017520" y="1280160"/>
            <a:ext cx="1371600" cy="640080"/>
          </a:xfrm>
          <a:prstGeom prst="rect">
            <a:avLst/>
          </a:prstGeom>
          <a:noFill/>
          <a:ln/>
        </p:spPr>
        <p:txBody>
          <a:bodyPr wrap="square" lIns="0" tIns="0" rIns="0" bIns="0" rtlCol="0" anchor="ctr"/>
          <a:lstStyle/>
          <a:p>
            <a:pPr marL="0" indent="0" algn="ctr">
              <a:buNone/>
            </a:pPr>
            <a:r>
              <a:rPr lang="en-US" sz="1800" b="1" dirty="0">
                <a:solidFill>
                  <a:srgbClr val="FFFFFF"/>
                </a:solidFill>
                <a:latin typeface="Open Sauce One" pitchFamily="34" charset="0"/>
                <a:ea typeface="Open Sauce One" pitchFamily="34" charset="-122"/>
                <a:cs typeface="Open Sauce One" pitchFamily="34" charset="-120"/>
              </a:rPr>
              <a:t>85–100</a:t>
            </a:r>
            <a:endParaRPr lang="en-US" sz="1800" dirty="0"/>
          </a:p>
        </p:txBody>
      </p:sp>
      <p:sp>
        <p:nvSpPr>
          <p:cNvPr id="10" name="Text 8"/>
          <p:cNvSpPr/>
          <p:nvPr/>
        </p:nvSpPr>
        <p:spPr>
          <a:xfrm>
            <a:off x="4572000" y="1280160"/>
            <a:ext cx="3657600" cy="640080"/>
          </a:xfrm>
          <a:prstGeom prst="rect">
            <a:avLst/>
          </a:prstGeom>
          <a:noFill/>
          <a:ln/>
        </p:spPr>
        <p:txBody>
          <a:bodyPr wrap="square" lIns="0" tIns="0" rIns="0" bIns="0" rtlCol="0" anchor="ctr"/>
          <a:lstStyle/>
          <a:p>
            <a:pPr marL="0" indent="0">
              <a:buNone/>
            </a:pPr>
            <a:r>
              <a:rPr lang="en-US" sz="1200" dirty="0">
                <a:solidFill>
                  <a:srgbClr val="FFFFFF"/>
                </a:solidFill>
                <a:latin typeface="Open Sauce One" pitchFamily="34" charset="0"/>
                <a:ea typeface="Open Sauce One" pitchFamily="34" charset="-122"/>
                <a:cs typeface="Open Sauce One" pitchFamily="34" charset="-120"/>
              </a:rPr>
              <a:t>Proceed with standard diligence</a:t>
            </a:r>
            <a:endParaRPr lang="en-US" sz="1200" dirty="0"/>
          </a:p>
        </p:txBody>
      </p:sp>
      <p:sp>
        <p:nvSpPr>
          <p:cNvPr id="11" name="Shape 9"/>
          <p:cNvSpPr/>
          <p:nvPr/>
        </p:nvSpPr>
        <p:spPr>
          <a:xfrm>
            <a:off x="640080" y="2103120"/>
            <a:ext cx="7863840" cy="640080"/>
          </a:xfrm>
          <a:prstGeom prst="rect">
            <a:avLst/>
          </a:prstGeom>
          <a:solidFill>
            <a:srgbClr val="1A2942"/>
          </a:solidFill>
          <a:ln/>
        </p:spPr>
        <p:txBody>
          <a:bodyPr/>
          <a:lstStyle/>
          <a:p>
            <a:endParaRPr lang="en-US"/>
          </a:p>
        </p:txBody>
      </p:sp>
      <p:sp>
        <p:nvSpPr>
          <p:cNvPr id="12" name="Shape 10"/>
          <p:cNvSpPr/>
          <p:nvPr/>
        </p:nvSpPr>
        <p:spPr>
          <a:xfrm>
            <a:off x="640080" y="2103120"/>
            <a:ext cx="64008" cy="640080"/>
          </a:xfrm>
          <a:prstGeom prst="rect">
            <a:avLst/>
          </a:prstGeom>
          <a:solidFill>
            <a:srgbClr val="D4A843"/>
          </a:solidFill>
          <a:ln/>
        </p:spPr>
        <p:txBody>
          <a:bodyPr/>
          <a:lstStyle/>
          <a:p>
            <a:endParaRPr lang="en-US"/>
          </a:p>
        </p:txBody>
      </p:sp>
      <p:sp>
        <p:nvSpPr>
          <p:cNvPr id="13" name="Text 11"/>
          <p:cNvSpPr/>
          <p:nvPr/>
        </p:nvSpPr>
        <p:spPr>
          <a:xfrm>
            <a:off x="1005840" y="2103120"/>
            <a:ext cx="2011680" cy="640080"/>
          </a:xfrm>
          <a:prstGeom prst="rect">
            <a:avLst/>
          </a:prstGeom>
          <a:noFill/>
          <a:ln/>
        </p:spPr>
        <p:txBody>
          <a:bodyPr wrap="square" lIns="0" tIns="0" rIns="0" bIns="0" rtlCol="0" anchor="ctr"/>
          <a:lstStyle/>
          <a:p>
            <a:pPr marL="0" indent="0">
              <a:buNone/>
            </a:pPr>
            <a:r>
              <a:rPr lang="en-US" sz="2000" b="1" dirty="0">
                <a:solidFill>
                  <a:srgbClr val="D4A843"/>
                </a:solidFill>
                <a:latin typeface="Open Sauce One" pitchFamily="34" charset="0"/>
                <a:ea typeface="Open Sauce One" pitchFamily="34" charset="-122"/>
                <a:cs typeface="Open Sauce One" pitchFamily="34" charset="-120"/>
              </a:rPr>
              <a:t>CONDITIONAL</a:t>
            </a:r>
            <a:endParaRPr lang="en-US" sz="2000" dirty="0"/>
          </a:p>
        </p:txBody>
      </p:sp>
      <p:sp>
        <p:nvSpPr>
          <p:cNvPr id="14" name="Text 12"/>
          <p:cNvSpPr/>
          <p:nvPr/>
        </p:nvSpPr>
        <p:spPr>
          <a:xfrm>
            <a:off x="3017520" y="2103120"/>
            <a:ext cx="1371600" cy="640080"/>
          </a:xfrm>
          <a:prstGeom prst="rect">
            <a:avLst/>
          </a:prstGeom>
          <a:noFill/>
          <a:ln/>
        </p:spPr>
        <p:txBody>
          <a:bodyPr wrap="square" lIns="0" tIns="0" rIns="0" bIns="0" rtlCol="0" anchor="ctr"/>
          <a:lstStyle/>
          <a:p>
            <a:pPr marL="0" indent="0" algn="ctr">
              <a:buNone/>
            </a:pPr>
            <a:r>
              <a:rPr lang="en-US" sz="1800" b="1" dirty="0">
                <a:solidFill>
                  <a:srgbClr val="FFFFFF"/>
                </a:solidFill>
                <a:latin typeface="Open Sauce One" pitchFamily="34" charset="0"/>
                <a:ea typeface="Open Sauce One" pitchFamily="34" charset="-122"/>
                <a:cs typeface="Open Sauce One" pitchFamily="34" charset="-120"/>
              </a:rPr>
              <a:t>70–84</a:t>
            </a:r>
            <a:endParaRPr lang="en-US" sz="1800" dirty="0"/>
          </a:p>
        </p:txBody>
      </p:sp>
      <p:sp>
        <p:nvSpPr>
          <p:cNvPr id="15" name="Text 13"/>
          <p:cNvSpPr/>
          <p:nvPr/>
        </p:nvSpPr>
        <p:spPr>
          <a:xfrm>
            <a:off x="4572000" y="2103120"/>
            <a:ext cx="3657600" cy="640080"/>
          </a:xfrm>
          <a:prstGeom prst="rect">
            <a:avLst/>
          </a:prstGeom>
          <a:noFill/>
          <a:ln/>
        </p:spPr>
        <p:txBody>
          <a:bodyPr wrap="square" lIns="0" tIns="0" rIns="0" bIns="0" rtlCol="0" anchor="ctr"/>
          <a:lstStyle/>
          <a:p>
            <a:pPr marL="0" indent="0">
              <a:buNone/>
            </a:pPr>
            <a:r>
              <a:rPr lang="en-US" sz="1200" dirty="0">
                <a:solidFill>
                  <a:srgbClr val="FFFFFF"/>
                </a:solidFill>
                <a:latin typeface="Open Sauce One" pitchFamily="34" charset="0"/>
                <a:ea typeface="Open Sauce One" pitchFamily="34" charset="-122"/>
                <a:cs typeface="Open Sauce One" pitchFamily="34" charset="-120"/>
              </a:rPr>
              <a:t>Proceed with explicit AI-risk mitigations</a:t>
            </a:r>
            <a:endParaRPr lang="en-US" sz="1200" dirty="0"/>
          </a:p>
        </p:txBody>
      </p:sp>
      <p:sp>
        <p:nvSpPr>
          <p:cNvPr id="16" name="Shape 14"/>
          <p:cNvSpPr/>
          <p:nvPr/>
        </p:nvSpPr>
        <p:spPr>
          <a:xfrm>
            <a:off x="640080" y="2926080"/>
            <a:ext cx="7863840" cy="640080"/>
          </a:xfrm>
          <a:prstGeom prst="rect">
            <a:avLst/>
          </a:prstGeom>
          <a:solidFill>
            <a:srgbClr val="1A2942"/>
          </a:solidFill>
          <a:ln/>
        </p:spPr>
        <p:txBody>
          <a:bodyPr/>
          <a:lstStyle/>
          <a:p>
            <a:endParaRPr lang="en-US"/>
          </a:p>
        </p:txBody>
      </p:sp>
      <p:sp>
        <p:nvSpPr>
          <p:cNvPr id="17" name="Shape 15"/>
          <p:cNvSpPr/>
          <p:nvPr/>
        </p:nvSpPr>
        <p:spPr>
          <a:xfrm>
            <a:off x="640080" y="2926080"/>
            <a:ext cx="64008" cy="640080"/>
          </a:xfrm>
          <a:prstGeom prst="rect">
            <a:avLst/>
          </a:prstGeom>
          <a:solidFill>
            <a:srgbClr val="E07B39"/>
          </a:solidFill>
          <a:ln/>
        </p:spPr>
        <p:txBody>
          <a:bodyPr/>
          <a:lstStyle/>
          <a:p>
            <a:endParaRPr lang="en-US"/>
          </a:p>
        </p:txBody>
      </p:sp>
      <p:sp>
        <p:nvSpPr>
          <p:cNvPr id="18" name="Text 16"/>
          <p:cNvSpPr/>
          <p:nvPr/>
        </p:nvSpPr>
        <p:spPr>
          <a:xfrm>
            <a:off x="1005840" y="2926080"/>
            <a:ext cx="2011680" cy="640080"/>
          </a:xfrm>
          <a:prstGeom prst="rect">
            <a:avLst/>
          </a:prstGeom>
          <a:noFill/>
          <a:ln/>
        </p:spPr>
        <p:txBody>
          <a:bodyPr wrap="square" lIns="0" tIns="0" rIns="0" bIns="0" rtlCol="0" anchor="ctr"/>
          <a:lstStyle/>
          <a:p>
            <a:pPr marL="0" indent="0">
              <a:buNone/>
            </a:pPr>
            <a:r>
              <a:rPr lang="en-US" sz="2000" b="1" dirty="0">
                <a:solidFill>
                  <a:srgbClr val="E07B39"/>
                </a:solidFill>
                <a:latin typeface="Open Sauce One" pitchFamily="34" charset="0"/>
                <a:ea typeface="Open Sauce One" pitchFamily="34" charset="-122"/>
                <a:cs typeface="Open Sauce One" pitchFamily="34" charset="-120"/>
              </a:rPr>
              <a:t>REPRICE</a:t>
            </a:r>
            <a:endParaRPr lang="en-US" sz="2000" dirty="0"/>
          </a:p>
        </p:txBody>
      </p:sp>
      <p:sp>
        <p:nvSpPr>
          <p:cNvPr id="19" name="Text 17"/>
          <p:cNvSpPr/>
          <p:nvPr/>
        </p:nvSpPr>
        <p:spPr>
          <a:xfrm>
            <a:off x="3017520" y="2926080"/>
            <a:ext cx="1371600" cy="640080"/>
          </a:xfrm>
          <a:prstGeom prst="rect">
            <a:avLst/>
          </a:prstGeom>
          <a:noFill/>
          <a:ln/>
        </p:spPr>
        <p:txBody>
          <a:bodyPr wrap="square" lIns="0" tIns="0" rIns="0" bIns="0" rtlCol="0" anchor="ctr"/>
          <a:lstStyle/>
          <a:p>
            <a:pPr marL="0" indent="0" algn="ctr">
              <a:buNone/>
            </a:pPr>
            <a:r>
              <a:rPr lang="en-US" sz="1800" b="1" dirty="0">
                <a:solidFill>
                  <a:srgbClr val="FFFFFF"/>
                </a:solidFill>
                <a:latin typeface="Open Sauce One" pitchFamily="34" charset="0"/>
                <a:ea typeface="Open Sauce One" pitchFamily="34" charset="-122"/>
                <a:cs typeface="Open Sauce One" pitchFamily="34" charset="-120"/>
              </a:rPr>
              <a:t>55–69</a:t>
            </a:r>
            <a:endParaRPr lang="en-US" sz="1800" dirty="0"/>
          </a:p>
        </p:txBody>
      </p:sp>
      <p:sp>
        <p:nvSpPr>
          <p:cNvPr id="20" name="Text 18"/>
          <p:cNvSpPr/>
          <p:nvPr/>
        </p:nvSpPr>
        <p:spPr>
          <a:xfrm>
            <a:off x="4572000" y="2926080"/>
            <a:ext cx="3657600" cy="640080"/>
          </a:xfrm>
          <a:prstGeom prst="rect">
            <a:avLst/>
          </a:prstGeom>
          <a:noFill/>
          <a:ln/>
        </p:spPr>
        <p:txBody>
          <a:bodyPr wrap="square" lIns="0" tIns="0" rIns="0" bIns="0" rtlCol="0" anchor="ctr"/>
          <a:lstStyle/>
          <a:p>
            <a:pPr marL="0" indent="0">
              <a:buNone/>
            </a:pPr>
            <a:r>
              <a:rPr lang="en-US" sz="1200" dirty="0">
                <a:solidFill>
                  <a:srgbClr val="FFFFFF"/>
                </a:solidFill>
                <a:latin typeface="Open Sauce One" pitchFamily="34" charset="0"/>
                <a:ea typeface="Open Sauce One" pitchFamily="34" charset="-122"/>
                <a:cs typeface="Open Sauce One" pitchFamily="34" charset="-120"/>
              </a:rPr>
              <a:t>Restructure terms or add price protection</a:t>
            </a:r>
            <a:endParaRPr lang="en-US" sz="1200" dirty="0"/>
          </a:p>
        </p:txBody>
      </p:sp>
      <p:sp>
        <p:nvSpPr>
          <p:cNvPr id="21" name="Shape 19"/>
          <p:cNvSpPr/>
          <p:nvPr/>
        </p:nvSpPr>
        <p:spPr>
          <a:xfrm>
            <a:off x="640080" y="3749040"/>
            <a:ext cx="7863840" cy="640080"/>
          </a:xfrm>
          <a:prstGeom prst="rect">
            <a:avLst/>
          </a:prstGeom>
          <a:solidFill>
            <a:srgbClr val="1A2942"/>
          </a:solidFill>
          <a:ln/>
        </p:spPr>
        <p:txBody>
          <a:bodyPr/>
          <a:lstStyle/>
          <a:p>
            <a:endParaRPr lang="en-US"/>
          </a:p>
        </p:txBody>
      </p:sp>
      <p:sp>
        <p:nvSpPr>
          <p:cNvPr id="22" name="Shape 20"/>
          <p:cNvSpPr/>
          <p:nvPr/>
        </p:nvSpPr>
        <p:spPr>
          <a:xfrm>
            <a:off x="640080" y="3749040"/>
            <a:ext cx="64008" cy="640080"/>
          </a:xfrm>
          <a:prstGeom prst="rect">
            <a:avLst/>
          </a:prstGeom>
          <a:solidFill>
            <a:srgbClr val="C62828"/>
          </a:solidFill>
          <a:ln/>
        </p:spPr>
        <p:txBody>
          <a:bodyPr/>
          <a:lstStyle/>
          <a:p>
            <a:endParaRPr lang="en-US"/>
          </a:p>
        </p:txBody>
      </p:sp>
      <p:sp>
        <p:nvSpPr>
          <p:cNvPr id="23" name="Text 21"/>
          <p:cNvSpPr/>
          <p:nvPr/>
        </p:nvSpPr>
        <p:spPr>
          <a:xfrm>
            <a:off x="1005840" y="3749040"/>
            <a:ext cx="2011680" cy="640080"/>
          </a:xfrm>
          <a:prstGeom prst="rect">
            <a:avLst/>
          </a:prstGeom>
          <a:noFill/>
          <a:ln/>
        </p:spPr>
        <p:txBody>
          <a:bodyPr wrap="square" lIns="0" tIns="0" rIns="0" bIns="0" rtlCol="0" anchor="ctr"/>
          <a:lstStyle/>
          <a:p>
            <a:pPr marL="0" indent="0">
              <a:buNone/>
            </a:pPr>
            <a:r>
              <a:rPr lang="en-US" sz="2000" b="1" dirty="0">
                <a:solidFill>
                  <a:srgbClr val="C62828"/>
                </a:solidFill>
                <a:latin typeface="Open Sauce One" pitchFamily="34" charset="0"/>
                <a:ea typeface="Open Sauce One" pitchFamily="34" charset="-122"/>
                <a:cs typeface="Open Sauce One" pitchFamily="34" charset="-120"/>
              </a:rPr>
              <a:t>NO-GO</a:t>
            </a:r>
            <a:endParaRPr lang="en-US" sz="2000" dirty="0"/>
          </a:p>
        </p:txBody>
      </p:sp>
      <p:sp>
        <p:nvSpPr>
          <p:cNvPr id="24" name="Text 22"/>
          <p:cNvSpPr/>
          <p:nvPr/>
        </p:nvSpPr>
        <p:spPr>
          <a:xfrm>
            <a:off x="3017520" y="3749040"/>
            <a:ext cx="1371600" cy="640080"/>
          </a:xfrm>
          <a:prstGeom prst="rect">
            <a:avLst/>
          </a:prstGeom>
          <a:noFill/>
          <a:ln/>
        </p:spPr>
        <p:txBody>
          <a:bodyPr wrap="square" lIns="0" tIns="0" rIns="0" bIns="0" rtlCol="0" anchor="ctr"/>
          <a:lstStyle/>
          <a:p>
            <a:pPr marL="0" indent="0" algn="ctr">
              <a:buNone/>
            </a:pPr>
            <a:r>
              <a:rPr lang="en-US" sz="1800" b="1" dirty="0">
                <a:solidFill>
                  <a:srgbClr val="FFFFFF"/>
                </a:solidFill>
                <a:latin typeface="Open Sauce One" pitchFamily="34" charset="0"/>
                <a:ea typeface="Open Sauce One" pitchFamily="34" charset="-122"/>
                <a:cs typeface="Open Sauce One" pitchFamily="34" charset="-120"/>
              </a:rPr>
              <a:t>&lt;55</a:t>
            </a:r>
            <a:endParaRPr lang="en-US" sz="1800" dirty="0"/>
          </a:p>
        </p:txBody>
      </p:sp>
      <p:sp>
        <p:nvSpPr>
          <p:cNvPr id="25" name="Text 23"/>
          <p:cNvSpPr/>
          <p:nvPr/>
        </p:nvSpPr>
        <p:spPr>
          <a:xfrm>
            <a:off x="4572000" y="3749040"/>
            <a:ext cx="3657600" cy="640080"/>
          </a:xfrm>
          <a:prstGeom prst="rect">
            <a:avLst/>
          </a:prstGeom>
          <a:noFill/>
          <a:ln/>
        </p:spPr>
        <p:txBody>
          <a:bodyPr wrap="square" lIns="0" tIns="0" rIns="0" bIns="0" rtlCol="0" anchor="ctr"/>
          <a:lstStyle/>
          <a:p>
            <a:pPr marL="0" indent="0">
              <a:buNone/>
            </a:pPr>
            <a:r>
              <a:rPr lang="en-US" sz="1200" dirty="0">
                <a:solidFill>
                  <a:srgbClr val="FFFFFF"/>
                </a:solidFill>
                <a:latin typeface="Open Sauce One" pitchFamily="34" charset="0"/>
                <a:ea typeface="Open Sauce One" pitchFamily="34" charset="-122"/>
                <a:cs typeface="Open Sauce One" pitchFamily="34" charset="-120"/>
              </a:rPr>
              <a:t>Pass unless unique option value</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640080" y="1828800"/>
            <a:ext cx="7863840" cy="914400"/>
          </a:xfrm>
          <a:prstGeom prst="rect">
            <a:avLst/>
          </a:prstGeom>
          <a:noFill/>
          <a:ln/>
        </p:spPr>
        <p:txBody>
          <a:bodyPr wrap="square" lIns="0" tIns="0" rIns="0" bIns="0" rtlCol="0" anchor="ctr"/>
          <a:lstStyle/>
          <a:p>
            <a:pPr marL="0" indent="0">
              <a:buNone/>
            </a:pPr>
            <a:r>
              <a:rPr lang="en-US" sz="4000" b="1" dirty="0">
                <a:solidFill>
                  <a:srgbClr val="FFFFFF"/>
                </a:solidFill>
                <a:latin typeface="Open Sauce One" pitchFamily="34" charset="0"/>
                <a:ea typeface="Open Sauce One" pitchFamily="34" charset="-122"/>
                <a:cs typeface="Open Sauce One" pitchFamily="34" charset="-120"/>
              </a:rPr>
              <a:t>APPENDIX</a:t>
            </a:r>
            <a:endParaRPr lang="en-US" sz="4000" dirty="0"/>
          </a:p>
        </p:txBody>
      </p:sp>
      <p:sp>
        <p:nvSpPr>
          <p:cNvPr id="3" name="Shape 1"/>
          <p:cNvSpPr/>
          <p:nvPr/>
        </p:nvSpPr>
        <p:spPr>
          <a:xfrm>
            <a:off x="640080" y="2834640"/>
            <a:ext cx="1097280" cy="45720"/>
          </a:xfrm>
          <a:prstGeom prst="rect">
            <a:avLst/>
          </a:prstGeom>
          <a:solidFill>
            <a:srgbClr val="E8563A"/>
          </a:solidFill>
          <a:ln/>
        </p:spPr>
        <p:txBody>
          <a:bodyPr/>
          <a:lstStyle/>
          <a:p>
            <a:endParaRPr lang="en-US"/>
          </a:p>
        </p:txBody>
      </p:sp>
      <p:sp>
        <p:nvSpPr>
          <p:cNvPr id="4" name="Text 2"/>
          <p:cNvSpPr/>
          <p:nvPr/>
        </p:nvSpPr>
        <p:spPr>
          <a:xfrm>
            <a:off x="640080" y="3017520"/>
            <a:ext cx="7863840" cy="365760"/>
          </a:xfrm>
          <a:prstGeom prst="rect">
            <a:avLst/>
          </a:prstGeom>
          <a:noFill/>
          <a:ln/>
        </p:spPr>
        <p:txBody>
          <a:bodyPr wrap="square" lIns="0" tIns="0" rIns="0" bIns="0" rtlCol="0" anchor="ctr"/>
          <a:lstStyle/>
          <a:p>
            <a:pPr marL="0" indent="0">
              <a:buNone/>
            </a:pPr>
            <a:r>
              <a:rPr lang="en-US" sz="1400" dirty="0">
                <a:solidFill>
                  <a:srgbClr val="C5CCD6"/>
                </a:solidFill>
                <a:latin typeface="Open Sauce One" pitchFamily="34" charset="0"/>
                <a:ea typeface="Open Sauce One" pitchFamily="34" charset="-122"/>
                <a:cs typeface="Open Sauce One" pitchFamily="34" charset="-120"/>
              </a:rPr>
              <a:t>Backup analyses, validation details, and methods.</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4828032"/>
            <a:ext cx="7772400" cy="274320"/>
          </a:xfrm>
          <a:prstGeom prst="rect">
            <a:avLst/>
          </a:prstGeom>
          <a:noFill/>
          <a:ln/>
        </p:spPr>
        <p:txBody>
          <a:bodyPr wrap="square" lIns="0" tIns="0" rIns="0" bIns="0" rtlCol="0" anchor="ctr"/>
          <a:lstStyle/>
          <a:p>
            <a:pPr marL="0" indent="0">
              <a:buNone/>
            </a:pPr>
            <a:r>
              <a:rPr lang="en-US" sz="800" dirty="0">
                <a:solidFill>
                  <a:srgbClr val="FFFFFF"/>
                </a:solidFill>
                <a:latin typeface="Open Sauce One" pitchFamily="34" charset="0"/>
                <a:ea typeface="Open Sauce One" pitchFamily="34" charset="-122"/>
                <a:cs typeface="Open Sauce One" pitchFamily="34" charset="-120"/>
              </a:rPr>
              <a:t>The Moat in the Machine  |  Dutchess Management  |  February 2026  |  Working Draft</a:t>
            </a:r>
            <a:endParaRPr lang="en-US" sz="800" dirty="0"/>
          </a:p>
        </p:txBody>
      </p:sp>
      <p:sp>
        <p:nvSpPr>
          <p:cNvPr id="3" name="Text 1"/>
          <p:cNvSpPr/>
          <p:nvPr/>
        </p:nvSpPr>
        <p:spPr>
          <a:xfrm>
            <a:off x="8412480" y="4828032"/>
            <a:ext cx="548640" cy="274320"/>
          </a:xfrm>
          <a:prstGeom prst="rect">
            <a:avLst/>
          </a:prstGeom>
          <a:noFill/>
          <a:ln/>
        </p:spPr>
        <p:txBody>
          <a:bodyPr wrap="square" lIns="0" tIns="0" rIns="0" bIns="0" rtlCol="0" anchor="ctr"/>
          <a:lstStyle/>
          <a:p>
            <a:pPr marL="0" indent="0" algn="r">
              <a:buNone/>
            </a:pPr>
            <a:endParaRPr lang="en-US" sz="900" dirty="0"/>
          </a:p>
        </p:txBody>
      </p:sp>
      <p:sp>
        <p:nvSpPr>
          <p:cNvPr id="4" name="Text 2"/>
          <p:cNvSpPr/>
          <p:nvPr/>
        </p:nvSpPr>
        <p:spPr>
          <a:xfrm>
            <a:off x="640080" y="274320"/>
            <a:ext cx="7863840" cy="365760"/>
          </a:xfrm>
          <a:prstGeom prst="rect">
            <a:avLst/>
          </a:prstGeom>
          <a:noFill/>
          <a:ln/>
        </p:spPr>
        <p:txBody>
          <a:bodyPr wrap="square" lIns="0" tIns="0" rIns="0" bIns="0" rtlCol="0" anchor="ctr"/>
          <a:lstStyle/>
          <a:p>
            <a:pPr marL="0" indent="0">
              <a:buNone/>
            </a:pPr>
            <a:r>
              <a:rPr lang="en-US" sz="1300" b="1" kern="0" spc="200" dirty="0">
                <a:solidFill>
                  <a:srgbClr val="E8563A"/>
                </a:solidFill>
                <a:latin typeface="Open Sauce One" pitchFamily="34" charset="0"/>
                <a:ea typeface="Open Sauce One" pitchFamily="34" charset="-122"/>
                <a:cs typeface="Open Sauce One" pitchFamily="34" charset="-120"/>
              </a:rPr>
              <a:t>SCALE CHECK: 121-VERTICAL EXTENSION</a:t>
            </a:r>
            <a:endParaRPr lang="en-US" sz="1300" dirty="0"/>
          </a:p>
        </p:txBody>
      </p:sp>
      <p:pic>
        <p:nvPicPr>
          <p:cNvPr id="5" name="Image 0" descr="/sessions/nifty-wizardly-meitner/mnt/data_pack/figures/fig7_121scatter.png"/>
          <p:cNvPicPr>
            <a:picLocks noChangeAspect="1"/>
          </p:cNvPicPr>
          <p:nvPr/>
        </p:nvPicPr>
        <p:blipFill>
          <a:blip r:embed="rId3"/>
          <a:stretch>
            <a:fillRect/>
          </a:stretch>
        </p:blipFill>
        <p:spPr>
          <a:xfrm>
            <a:off x="1641075" y="777240"/>
            <a:ext cx="5372620" cy="3822826"/>
          </a:xfrm>
          <a:prstGeom prst="rect">
            <a:avLst/>
          </a:prstGeom>
        </p:spPr>
      </p:pic>
      <p:sp>
        <p:nvSpPr>
          <p:cNvPr id="6" name="Text 3"/>
          <p:cNvSpPr/>
          <p:nvPr/>
        </p:nvSpPr>
        <p:spPr>
          <a:xfrm>
            <a:off x="548640" y="4617720"/>
            <a:ext cx="8046720" cy="182880"/>
          </a:xfrm>
          <a:prstGeom prst="rect">
            <a:avLst/>
          </a:prstGeom>
          <a:noFill/>
          <a:ln/>
        </p:spPr>
        <p:txBody>
          <a:bodyPr wrap="square" lIns="0" tIns="0" rIns="0" bIns="0" rtlCol="0" anchor="ctr"/>
          <a:lstStyle/>
          <a:p>
            <a:pPr marL="0" indent="0">
              <a:buNone/>
            </a:pPr>
            <a:r>
              <a:rPr lang="en-US" sz="750" i="1" dirty="0">
                <a:solidFill>
                  <a:srgbClr val="8B95A5"/>
                </a:solidFill>
                <a:latin typeface="Open Sauce One" pitchFamily="34" charset="0"/>
                <a:ea typeface="Open Sauce One" pitchFamily="34" charset="-122"/>
                <a:cs typeface="Open Sauce One" pitchFamily="34" charset="-120"/>
              </a:rPr>
              <a:t>Interaction persists at scale: high-auto ρ = +0.528 (p = 0.0003), low-auto ρ = +0.249 (p = 0.028).</a:t>
            </a:r>
            <a:endParaRPr lang="en-US" sz="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4828032"/>
            <a:ext cx="7772400" cy="274320"/>
          </a:xfrm>
          <a:prstGeom prst="rect">
            <a:avLst/>
          </a:prstGeom>
          <a:noFill/>
          <a:ln/>
        </p:spPr>
        <p:txBody>
          <a:bodyPr wrap="square" lIns="0" tIns="0" rIns="0" bIns="0" rtlCol="0" anchor="ctr"/>
          <a:lstStyle/>
          <a:p>
            <a:pPr marL="0" indent="0">
              <a:buNone/>
            </a:pPr>
            <a:r>
              <a:rPr lang="en-US" sz="800" dirty="0">
                <a:solidFill>
                  <a:srgbClr val="FFFFFF"/>
                </a:solidFill>
                <a:latin typeface="Open Sauce One" pitchFamily="34" charset="0"/>
                <a:ea typeface="Open Sauce One" pitchFamily="34" charset="-122"/>
                <a:cs typeface="Open Sauce One" pitchFamily="34" charset="-120"/>
              </a:rPr>
              <a:t>The Moat in the Machine  |  Dutchess Management  |  February 2026  |  Working Draft</a:t>
            </a:r>
            <a:endParaRPr lang="en-US" sz="800" dirty="0"/>
          </a:p>
        </p:txBody>
      </p:sp>
      <p:sp>
        <p:nvSpPr>
          <p:cNvPr id="3" name="Text 1"/>
          <p:cNvSpPr/>
          <p:nvPr/>
        </p:nvSpPr>
        <p:spPr>
          <a:xfrm>
            <a:off x="8412480" y="4828032"/>
            <a:ext cx="548640" cy="274320"/>
          </a:xfrm>
          <a:prstGeom prst="rect">
            <a:avLst/>
          </a:prstGeom>
          <a:noFill/>
          <a:ln/>
        </p:spPr>
        <p:txBody>
          <a:bodyPr wrap="square" lIns="0" tIns="0" rIns="0" bIns="0" rtlCol="0" anchor="ctr"/>
          <a:lstStyle/>
          <a:p>
            <a:pPr marL="0" indent="0" algn="r">
              <a:buNone/>
            </a:pPr>
            <a:endParaRPr lang="en-US" sz="900" dirty="0"/>
          </a:p>
        </p:txBody>
      </p:sp>
      <p:sp>
        <p:nvSpPr>
          <p:cNvPr id="4" name="Text 2"/>
          <p:cNvSpPr/>
          <p:nvPr/>
        </p:nvSpPr>
        <p:spPr>
          <a:xfrm>
            <a:off x="640080" y="274320"/>
            <a:ext cx="7863840" cy="365760"/>
          </a:xfrm>
          <a:prstGeom prst="rect">
            <a:avLst/>
          </a:prstGeom>
          <a:noFill/>
          <a:ln/>
        </p:spPr>
        <p:txBody>
          <a:bodyPr wrap="square" lIns="0" tIns="0" rIns="0" bIns="0" rtlCol="0" anchor="ctr"/>
          <a:lstStyle/>
          <a:p>
            <a:pPr marL="0" indent="0">
              <a:buNone/>
            </a:pPr>
            <a:r>
              <a:rPr lang="en-US" sz="1300" b="1" kern="0" spc="200" dirty="0">
                <a:solidFill>
                  <a:srgbClr val="E8563A"/>
                </a:solidFill>
                <a:latin typeface="Open Sauce One" pitchFamily="34" charset="0"/>
                <a:ea typeface="Open Sauce One" pitchFamily="34" charset="-122"/>
                <a:cs typeface="Open Sauce One" pitchFamily="34" charset="-120"/>
              </a:rPr>
              <a:t>EXTERNAL VALIDATION: WEBB AI EXPOSURE INDEX</a:t>
            </a:r>
            <a:endParaRPr lang="en-US" sz="1300" dirty="0"/>
          </a:p>
        </p:txBody>
      </p:sp>
      <p:pic>
        <p:nvPicPr>
          <p:cNvPr id="5" name="Image 0" descr="/sessions/nifty-wizardly-meitner/mnt/data_pack/figures/fig9_onet_matrix.png"/>
          <p:cNvPicPr>
            <a:picLocks noChangeAspect="1"/>
          </p:cNvPicPr>
          <p:nvPr/>
        </p:nvPicPr>
        <p:blipFill>
          <a:blip r:embed="rId3"/>
          <a:stretch>
            <a:fillRect/>
          </a:stretch>
        </p:blipFill>
        <p:spPr>
          <a:xfrm>
            <a:off x="766267" y="777240"/>
            <a:ext cx="7611466" cy="3200400"/>
          </a:xfrm>
          <a:prstGeom prst="rect">
            <a:avLst/>
          </a:prstGeom>
        </p:spPr>
      </p:pic>
      <p:sp>
        <p:nvSpPr>
          <p:cNvPr id="6" name="Text 3"/>
          <p:cNvSpPr/>
          <p:nvPr/>
        </p:nvSpPr>
        <p:spPr>
          <a:xfrm>
            <a:off x="548640" y="4617720"/>
            <a:ext cx="8046720" cy="182880"/>
          </a:xfrm>
          <a:prstGeom prst="rect">
            <a:avLst/>
          </a:prstGeom>
          <a:noFill/>
          <a:ln/>
        </p:spPr>
        <p:txBody>
          <a:bodyPr wrap="square" lIns="0" tIns="0" rIns="0" bIns="0" rtlCol="0" anchor="ctr"/>
          <a:lstStyle/>
          <a:p>
            <a:pPr marL="0" indent="0">
              <a:buNone/>
            </a:pPr>
            <a:r>
              <a:rPr lang="en-US" sz="750" i="1" dirty="0">
                <a:solidFill>
                  <a:srgbClr val="8B95A5"/>
                </a:solidFill>
                <a:latin typeface="Open Sauce One" pitchFamily="34" charset="0"/>
                <a:ea typeface="Open Sauce One" pitchFamily="34" charset="-122"/>
                <a:cs typeface="Open Sauce One" pitchFamily="34" charset="-120"/>
              </a:rPr>
              <a:t>GenAI% vs. Webb (2020): ρ = +0.81 (p &lt; 0.001). Strong independent construct validation.</a:t>
            </a:r>
            <a:endParaRPr lang="en-US" sz="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4828032"/>
            <a:ext cx="7772400" cy="274320"/>
          </a:xfrm>
          <a:prstGeom prst="rect">
            <a:avLst/>
          </a:prstGeom>
          <a:noFill/>
          <a:ln/>
        </p:spPr>
        <p:txBody>
          <a:bodyPr wrap="square" lIns="0" tIns="0" rIns="0" bIns="0" rtlCol="0" anchor="ctr"/>
          <a:lstStyle/>
          <a:p>
            <a:pPr marL="0" indent="0">
              <a:buNone/>
            </a:pPr>
            <a:r>
              <a:rPr lang="en-US" sz="800" dirty="0">
                <a:solidFill>
                  <a:srgbClr val="FFFFFF"/>
                </a:solidFill>
                <a:latin typeface="Open Sauce One" pitchFamily="34" charset="0"/>
                <a:ea typeface="Open Sauce One" pitchFamily="34" charset="-122"/>
                <a:cs typeface="Open Sauce One" pitchFamily="34" charset="-120"/>
              </a:rPr>
              <a:t>The Moat in the Machine  |  Dutchess Management  |  February 2026  |  Working Draft</a:t>
            </a:r>
            <a:endParaRPr lang="en-US" sz="800" dirty="0"/>
          </a:p>
        </p:txBody>
      </p:sp>
      <p:sp>
        <p:nvSpPr>
          <p:cNvPr id="3" name="Text 1"/>
          <p:cNvSpPr/>
          <p:nvPr/>
        </p:nvSpPr>
        <p:spPr>
          <a:xfrm>
            <a:off x="8412480" y="4828032"/>
            <a:ext cx="548640" cy="274320"/>
          </a:xfrm>
          <a:prstGeom prst="rect">
            <a:avLst/>
          </a:prstGeom>
          <a:noFill/>
          <a:ln/>
        </p:spPr>
        <p:txBody>
          <a:bodyPr wrap="square" lIns="0" tIns="0" rIns="0" bIns="0" rtlCol="0" anchor="ctr"/>
          <a:lstStyle/>
          <a:p>
            <a:pPr marL="0" indent="0" algn="r">
              <a:buNone/>
            </a:pPr>
            <a:endParaRPr lang="en-US" sz="900" dirty="0"/>
          </a:p>
        </p:txBody>
      </p:sp>
      <p:sp>
        <p:nvSpPr>
          <p:cNvPr id="4" name="Text 2"/>
          <p:cNvSpPr/>
          <p:nvPr/>
        </p:nvSpPr>
        <p:spPr>
          <a:xfrm>
            <a:off x="640080" y="274320"/>
            <a:ext cx="7863840" cy="365760"/>
          </a:xfrm>
          <a:prstGeom prst="rect">
            <a:avLst/>
          </a:prstGeom>
          <a:noFill/>
          <a:ln/>
        </p:spPr>
        <p:txBody>
          <a:bodyPr wrap="square" lIns="0" tIns="0" rIns="0" bIns="0" rtlCol="0" anchor="ctr"/>
          <a:lstStyle/>
          <a:p>
            <a:pPr marL="0" indent="0">
              <a:buNone/>
            </a:pPr>
            <a:r>
              <a:rPr lang="en-US" sz="1300" b="1" kern="0" spc="300" dirty="0">
                <a:solidFill>
                  <a:srgbClr val="E8563A"/>
                </a:solidFill>
                <a:latin typeface="Open Sauce One" pitchFamily="34" charset="0"/>
                <a:ea typeface="Open Sauce One" pitchFamily="34" charset="-122"/>
                <a:cs typeface="Open Sauce One" pitchFamily="34" charset="-120"/>
              </a:rPr>
              <a:t>QUADRANT RETURN BREAKDOWN</a:t>
            </a:r>
            <a:endParaRPr lang="en-US" sz="1300" dirty="0"/>
          </a:p>
        </p:txBody>
      </p:sp>
      <p:pic>
        <p:nvPicPr>
          <p:cNvPr id="5" name="Image 0" descr="/sessions/nifty-wizardly-meitner/mnt/data_pack/figures/fig8_quadrant_returns.png"/>
          <p:cNvPicPr>
            <a:picLocks noChangeAspect="1"/>
          </p:cNvPicPr>
          <p:nvPr/>
        </p:nvPicPr>
        <p:blipFill>
          <a:blip r:embed="rId3"/>
          <a:stretch>
            <a:fillRect/>
          </a:stretch>
        </p:blipFill>
        <p:spPr>
          <a:xfrm>
            <a:off x="1885691" y="777240"/>
            <a:ext cx="5372617" cy="3200400"/>
          </a:xfrm>
          <a:prstGeom prst="rect">
            <a:avLst/>
          </a:prstGeom>
        </p:spPr>
      </p:pic>
      <p:sp>
        <p:nvSpPr>
          <p:cNvPr id="6" name="Text 3"/>
          <p:cNvSpPr/>
          <p:nvPr/>
        </p:nvSpPr>
        <p:spPr>
          <a:xfrm>
            <a:off x="548640" y="4617720"/>
            <a:ext cx="8046720" cy="182880"/>
          </a:xfrm>
          <a:prstGeom prst="rect">
            <a:avLst/>
          </a:prstGeom>
          <a:noFill/>
          <a:ln/>
        </p:spPr>
        <p:txBody>
          <a:bodyPr wrap="square" lIns="0" tIns="0" rIns="0" bIns="0" rtlCol="0" anchor="ctr"/>
          <a:lstStyle/>
          <a:p>
            <a:pPr marL="0" indent="0">
              <a:buNone/>
            </a:pPr>
            <a:r>
              <a:rPr lang="en-US" sz="750" i="1" dirty="0">
                <a:solidFill>
                  <a:srgbClr val="8B95A5"/>
                </a:solidFill>
                <a:latin typeface="Open Sauce One" pitchFamily="34" charset="0"/>
                <a:ea typeface="Open Sauce One" pitchFamily="34" charset="-122"/>
                <a:cs typeface="Open Sauce One" pitchFamily="34" charset="-120"/>
              </a:rPr>
              <a:t>Core 16 cleaned baskets. AI Goldmines (+9%) confirm moat = shield, not sword.</a:t>
            </a:r>
            <a:endParaRPr lang="en-US" sz="7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4828032"/>
            <a:ext cx="7772400" cy="274320"/>
          </a:xfrm>
          <a:prstGeom prst="rect">
            <a:avLst/>
          </a:prstGeom>
          <a:noFill/>
          <a:ln/>
        </p:spPr>
        <p:txBody>
          <a:bodyPr wrap="square" lIns="0" tIns="0" rIns="0" bIns="0" rtlCol="0" anchor="ctr"/>
          <a:lstStyle/>
          <a:p>
            <a:pPr marL="0" indent="0">
              <a:buNone/>
            </a:pPr>
            <a:r>
              <a:rPr lang="en-US" sz="800" dirty="0">
                <a:solidFill>
                  <a:srgbClr val="FFFFFF"/>
                </a:solidFill>
                <a:latin typeface="Open Sauce One" pitchFamily="34" charset="0"/>
                <a:ea typeface="Open Sauce One" pitchFamily="34" charset="-122"/>
                <a:cs typeface="Open Sauce One" pitchFamily="34" charset="-120"/>
              </a:rPr>
              <a:t>The Moat in the Machine  |  Dutchess Management  |  February 2026  |  Working Draft</a:t>
            </a:r>
            <a:endParaRPr lang="en-US" sz="800" dirty="0"/>
          </a:p>
        </p:txBody>
      </p:sp>
      <p:sp>
        <p:nvSpPr>
          <p:cNvPr id="3" name="Text 1"/>
          <p:cNvSpPr/>
          <p:nvPr/>
        </p:nvSpPr>
        <p:spPr>
          <a:xfrm>
            <a:off x="8412480" y="4828032"/>
            <a:ext cx="548640" cy="274320"/>
          </a:xfrm>
          <a:prstGeom prst="rect">
            <a:avLst/>
          </a:prstGeom>
          <a:noFill/>
          <a:ln/>
        </p:spPr>
        <p:txBody>
          <a:bodyPr wrap="square" lIns="0" tIns="0" rIns="0" bIns="0" rtlCol="0" anchor="ctr"/>
          <a:lstStyle/>
          <a:p>
            <a:pPr marL="0" indent="0" algn="r">
              <a:buNone/>
            </a:pPr>
            <a:endParaRPr lang="en-US" sz="900" dirty="0"/>
          </a:p>
        </p:txBody>
      </p:sp>
      <p:sp>
        <p:nvSpPr>
          <p:cNvPr id="4" name="Text 2"/>
          <p:cNvSpPr/>
          <p:nvPr/>
        </p:nvSpPr>
        <p:spPr>
          <a:xfrm>
            <a:off x="640080" y="274320"/>
            <a:ext cx="7863840" cy="365760"/>
          </a:xfrm>
          <a:prstGeom prst="rect">
            <a:avLst/>
          </a:prstGeom>
          <a:noFill/>
          <a:ln/>
        </p:spPr>
        <p:txBody>
          <a:bodyPr wrap="square" lIns="0" tIns="0" rIns="0" bIns="0" rtlCol="0" anchor="ctr"/>
          <a:lstStyle/>
          <a:p>
            <a:pPr marL="0" indent="0">
              <a:buNone/>
            </a:pPr>
            <a:r>
              <a:rPr lang="en-US" sz="1300" b="1" kern="0" spc="300" dirty="0">
                <a:solidFill>
                  <a:srgbClr val="E8563A"/>
                </a:solidFill>
                <a:latin typeface="Open Sauce One" pitchFamily="34" charset="0"/>
                <a:ea typeface="Open Sauce One" pitchFamily="34" charset="-122"/>
                <a:cs typeface="Open Sauce One" pitchFamily="34" charset="-120"/>
              </a:rPr>
              <a:t>ROLLING CORRELATION OVER TIME</a:t>
            </a:r>
            <a:endParaRPr lang="en-US" sz="1300" dirty="0"/>
          </a:p>
        </p:txBody>
      </p:sp>
      <p:pic>
        <p:nvPicPr>
          <p:cNvPr id="5" name="Image 0" descr="/sessions/nifty-wizardly-meitner/mnt/data_pack/figures/fig6_rolling.png"/>
          <p:cNvPicPr>
            <a:picLocks noChangeAspect="1"/>
          </p:cNvPicPr>
          <p:nvPr/>
        </p:nvPicPr>
        <p:blipFill>
          <a:blip r:embed="rId3"/>
          <a:stretch>
            <a:fillRect/>
          </a:stretch>
        </p:blipFill>
        <p:spPr>
          <a:xfrm>
            <a:off x="640080" y="822960"/>
            <a:ext cx="7863840" cy="3194092"/>
          </a:xfrm>
          <a:prstGeom prst="rect">
            <a:avLst/>
          </a:prstGeom>
        </p:spPr>
      </p:pic>
      <p:sp>
        <p:nvSpPr>
          <p:cNvPr id="6" name="Text 3"/>
          <p:cNvSpPr/>
          <p:nvPr/>
        </p:nvSpPr>
        <p:spPr>
          <a:xfrm>
            <a:off x="548640" y="4239662"/>
            <a:ext cx="8046720" cy="182880"/>
          </a:xfrm>
          <a:prstGeom prst="rect">
            <a:avLst/>
          </a:prstGeom>
          <a:noFill/>
          <a:ln/>
        </p:spPr>
        <p:txBody>
          <a:bodyPr wrap="square" lIns="0" tIns="0" rIns="0" bIns="0" rtlCol="0" anchor="ctr"/>
          <a:lstStyle/>
          <a:p>
            <a:pPr marL="0" indent="0">
              <a:buNone/>
            </a:pPr>
            <a:r>
              <a:rPr lang="en-US" sz="1000" i="1" dirty="0">
                <a:solidFill>
                  <a:srgbClr val="8B95A5"/>
                </a:solidFill>
                <a:latin typeface="Open Sauce One" pitchFamily="34" charset="0"/>
                <a:ea typeface="Open Sauce One" pitchFamily="34" charset="-122"/>
                <a:cs typeface="Open Sauce One" pitchFamily="34" charset="-120"/>
              </a:rPr>
              <a:t>Signal persists through cycles. Currently ρ = −0.53, p = 0.036. Weakened during 2024 rally, re-strengthened since.</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4828032"/>
            <a:ext cx="7772400" cy="274320"/>
          </a:xfrm>
          <a:prstGeom prst="rect">
            <a:avLst/>
          </a:prstGeom>
          <a:noFill/>
          <a:ln/>
        </p:spPr>
        <p:txBody>
          <a:bodyPr wrap="square" lIns="0" tIns="0" rIns="0" bIns="0" rtlCol="0" anchor="ctr"/>
          <a:lstStyle/>
          <a:p>
            <a:pPr marL="0" indent="0">
              <a:buNone/>
            </a:pPr>
            <a:r>
              <a:rPr lang="en-US" sz="800" dirty="0">
                <a:solidFill>
                  <a:srgbClr val="FFFFFF"/>
                </a:solidFill>
                <a:latin typeface="Open Sauce One" pitchFamily="34" charset="0"/>
                <a:ea typeface="Open Sauce One" pitchFamily="34" charset="-122"/>
                <a:cs typeface="Open Sauce One" pitchFamily="34" charset="-120"/>
              </a:rPr>
              <a:t>The Moat in the Machine  |  Dutchess Management  |  February 2026  |  Working Draft</a:t>
            </a:r>
            <a:endParaRPr lang="en-US" sz="800" dirty="0"/>
          </a:p>
        </p:txBody>
      </p:sp>
      <p:sp>
        <p:nvSpPr>
          <p:cNvPr id="3" name="Text 1"/>
          <p:cNvSpPr/>
          <p:nvPr/>
        </p:nvSpPr>
        <p:spPr>
          <a:xfrm>
            <a:off x="8412480" y="4828032"/>
            <a:ext cx="548640" cy="274320"/>
          </a:xfrm>
          <a:prstGeom prst="rect">
            <a:avLst/>
          </a:prstGeom>
          <a:noFill/>
          <a:ln/>
        </p:spPr>
        <p:txBody>
          <a:bodyPr wrap="square" lIns="0" tIns="0" rIns="0" bIns="0" rtlCol="0" anchor="ctr"/>
          <a:lstStyle/>
          <a:p>
            <a:pPr marL="0" indent="0" algn="r">
              <a:buNone/>
            </a:pPr>
            <a:endParaRPr lang="en-US" sz="900" dirty="0"/>
          </a:p>
        </p:txBody>
      </p:sp>
      <p:sp>
        <p:nvSpPr>
          <p:cNvPr id="4" name="Text 2"/>
          <p:cNvSpPr/>
          <p:nvPr/>
        </p:nvSpPr>
        <p:spPr>
          <a:xfrm>
            <a:off x="640080" y="274320"/>
            <a:ext cx="7863840" cy="365760"/>
          </a:xfrm>
          <a:prstGeom prst="rect">
            <a:avLst/>
          </a:prstGeom>
          <a:noFill/>
          <a:ln/>
        </p:spPr>
        <p:txBody>
          <a:bodyPr wrap="square" lIns="0" tIns="0" rIns="0" bIns="0" rtlCol="0" anchor="ctr"/>
          <a:lstStyle/>
          <a:p>
            <a:pPr marL="0" indent="0">
              <a:buNone/>
            </a:pPr>
            <a:r>
              <a:rPr lang="en-US" sz="1300" b="1" kern="0" spc="300" dirty="0">
                <a:solidFill>
                  <a:srgbClr val="E8563A"/>
                </a:solidFill>
                <a:latin typeface="Open Sauce One" pitchFamily="34" charset="0"/>
                <a:ea typeface="Open Sauce One" pitchFamily="34" charset="-122"/>
                <a:cs typeface="Open Sauce One" pitchFamily="34" charset="-120"/>
              </a:rPr>
              <a:t>DATA INTEGRITY AND TICKER AUDIT</a:t>
            </a:r>
            <a:endParaRPr lang="en-US" sz="1300" dirty="0"/>
          </a:p>
        </p:txBody>
      </p:sp>
      <p:sp>
        <p:nvSpPr>
          <p:cNvPr id="5" name="Shape 3"/>
          <p:cNvSpPr/>
          <p:nvPr/>
        </p:nvSpPr>
        <p:spPr>
          <a:xfrm>
            <a:off x="640080" y="914400"/>
            <a:ext cx="7863840" cy="6858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6" name="Shape 4"/>
          <p:cNvSpPr/>
          <p:nvPr/>
        </p:nvSpPr>
        <p:spPr>
          <a:xfrm>
            <a:off x="640080" y="914400"/>
            <a:ext cx="54864" cy="685800"/>
          </a:xfrm>
          <a:prstGeom prst="rect">
            <a:avLst/>
          </a:prstGeom>
          <a:solidFill>
            <a:srgbClr val="E8563A"/>
          </a:solidFill>
          <a:ln/>
        </p:spPr>
        <p:txBody>
          <a:bodyPr/>
          <a:lstStyle/>
          <a:p>
            <a:endParaRPr lang="en-US"/>
          </a:p>
        </p:txBody>
      </p:sp>
      <p:sp>
        <p:nvSpPr>
          <p:cNvPr id="7" name="Text 5"/>
          <p:cNvSpPr/>
          <p:nvPr/>
        </p:nvSpPr>
        <p:spPr>
          <a:xfrm>
            <a:off x="1005840" y="987552"/>
            <a:ext cx="7223760" cy="256032"/>
          </a:xfrm>
          <a:prstGeom prst="rect">
            <a:avLst/>
          </a:prstGeom>
          <a:noFill/>
          <a:ln/>
        </p:spPr>
        <p:txBody>
          <a:bodyPr wrap="square" lIns="0" tIns="0" rIns="0" bIns="0" rtlCol="0" anchor="ctr"/>
          <a:lstStyle/>
          <a:p>
            <a:pPr marL="0" indent="0">
              <a:buNone/>
            </a:pPr>
            <a:r>
              <a:rPr lang="en-US" sz="1200" b="1" dirty="0">
                <a:solidFill>
                  <a:srgbClr val="0F1B2D"/>
                </a:solidFill>
                <a:latin typeface="Open Sauce One" pitchFamily="34" charset="0"/>
                <a:ea typeface="Open Sauce One" pitchFamily="34" charset="-122"/>
                <a:cs typeface="Open Sauce One" pitchFamily="34" charset="-120"/>
              </a:rPr>
              <a:t>Four proxy baskets corrected</a:t>
            </a:r>
            <a:endParaRPr lang="en-US" sz="1200" dirty="0"/>
          </a:p>
        </p:txBody>
      </p:sp>
      <p:sp>
        <p:nvSpPr>
          <p:cNvPr id="8" name="Text 6"/>
          <p:cNvSpPr/>
          <p:nvPr/>
        </p:nvSpPr>
        <p:spPr>
          <a:xfrm>
            <a:off x="1005840" y="1261872"/>
            <a:ext cx="7223760" cy="256032"/>
          </a:xfrm>
          <a:prstGeom prst="rect">
            <a:avLst/>
          </a:prstGeom>
          <a:noFill/>
          <a:ln/>
        </p:spPr>
        <p:txBody>
          <a:bodyPr wrap="square" lIns="0" tIns="0" rIns="0" bIns="0" rtlCol="0" anchor="ctr"/>
          <a:lstStyle/>
          <a:p>
            <a:pPr marL="0" indent="0">
              <a:buNone/>
            </a:pPr>
            <a:r>
              <a:rPr lang="en-US" sz="1050" dirty="0">
                <a:solidFill>
                  <a:srgbClr val="5A6577"/>
                </a:solidFill>
                <a:latin typeface="Open Sauce One" pitchFamily="34" charset="0"/>
                <a:ea typeface="Open Sauce One" pitchFamily="34" charset="-122"/>
                <a:cs typeface="Open Sauce One" pitchFamily="34" charset="-120"/>
              </a:rPr>
              <a:t>Iron ore miner in Env. Testing, modular space co. in HVAC, REIT + funeral in Landscaping, real estate in Accounting.</a:t>
            </a:r>
            <a:endParaRPr lang="en-US" sz="1050" dirty="0"/>
          </a:p>
        </p:txBody>
      </p:sp>
      <p:sp>
        <p:nvSpPr>
          <p:cNvPr id="9" name="Shape 7"/>
          <p:cNvSpPr/>
          <p:nvPr/>
        </p:nvSpPr>
        <p:spPr>
          <a:xfrm>
            <a:off x="640080" y="1783080"/>
            <a:ext cx="7863840" cy="6858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0" name="Shape 8"/>
          <p:cNvSpPr/>
          <p:nvPr/>
        </p:nvSpPr>
        <p:spPr>
          <a:xfrm>
            <a:off x="640080" y="1783080"/>
            <a:ext cx="54864" cy="685800"/>
          </a:xfrm>
          <a:prstGeom prst="rect">
            <a:avLst/>
          </a:prstGeom>
          <a:solidFill>
            <a:srgbClr val="E8563A"/>
          </a:solidFill>
          <a:ln/>
        </p:spPr>
        <p:txBody>
          <a:bodyPr/>
          <a:lstStyle/>
          <a:p>
            <a:endParaRPr lang="en-US"/>
          </a:p>
        </p:txBody>
      </p:sp>
      <p:sp>
        <p:nvSpPr>
          <p:cNvPr id="11" name="Text 9"/>
          <p:cNvSpPr/>
          <p:nvPr/>
        </p:nvSpPr>
        <p:spPr>
          <a:xfrm>
            <a:off x="1005840" y="1856232"/>
            <a:ext cx="7223760" cy="256032"/>
          </a:xfrm>
          <a:prstGeom prst="rect">
            <a:avLst/>
          </a:prstGeom>
          <a:noFill/>
          <a:ln/>
        </p:spPr>
        <p:txBody>
          <a:bodyPr wrap="square" lIns="0" tIns="0" rIns="0" bIns="0" rtlCol="0" anchor="ctr"/>
          <a:lstStyle/>
          <a:p>
            <a:pPr marL="0" indent="0">
              <a:buNone/>
            </a:pPr>
            <a:r>
              <a:rPr lang="en-US" sz="1200" b="1" dirty="0">
                <a:solidFill>
                  <a:srgbClr val="0F1B2D"/>
                </a:solidFill>
                <a:latin typeface="Open Sauce One" pitchFamily="34" charset="0"/>
                <a:ea typeface="Open Sauce One" pitchFamily="34" charset="-122"/>
                <a:cs typeface="Open Sauce One" pitchFamily="34" charset="-120"/>
              </a:rPr>
              <a:t>Corrections changed details, not direction</a:t>
            </a:r>
            <a:endParaRPr lang="en-US" sz="1200" dirty="0"/>
          </a:p>
        </p:txBody>
      </p:sp>
      <p:sp>
        <p:nvSpPr>
          <p:cNvPr id="12" name="Text 10"/>
          <p:cNvSpPr/>
          <p:nvPr/>
        </p:nvSpPr>
        <p:spPr>
          <a:xfrm>
            <a:off x="1005840" y="2130552"/>
            <a:ext cx="7223760" cy="256032"/>
          </a:xfrm>
          <a:prstGeom prst="rect">
            <a:avLst/>
          </a:prstGeom>
          <a:noFill/>
          <a:ln/>
        </p:spPr>
        <p:txBody>
          <a:bodyPr wrap="square" lIns="0" tIns="0" rIns="0" bIns="0" rtlCol="0" anchor="ctr"/>
          <a:lstStyle/>
          <a:p>
            <a:pPr marL="0" indent="0">
              <a:buNone/>
            </a:pPr>
            <a:r>
              <a:rPr lang="en-US" sz="1050" dirty="0">
                <a:solidFill>
                  <a:srgbClr val="5A6577"/>
                </a:solidFill>
                <a:latin typeface="Open Sauce One" pitchFamily="34" charset="0"/>
                <a:ea typeface="Open Sauce One" pitchFamily="34" charset="-122"/>
                <a:cs typeface="Open Sauce One" pitchFamily="34" charset="-120"/>
              </a:rPr>
              <a:t>Individual vertical returns shifted by up to 80pp. Framework-level signal strengthened after cleanup.</a:t>
            </a:r>
            <a:endParaRPr lang="en-US" sz="1050" dirty="0"/>
          </a:p>
        </p:txBody>
      </p:sp>
      <p:sp>
        <p:nvSpPr>
          <p:cNvPr id="13" name="Shape 11"/>
          <p:cNvSpPr/>
          <p:nvPr/>
        </p:nvSpPr>
        <p:spPr>
          <a:xfrm>
            <a:off x="640080" y="2651760"/>
            <a:ext cx="7863840" cy="6858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4" name="Shape 12"/>
          <p:cNvSpPr/>
          <p:nvPr/>
        </p:nvSpPr>
        <p:spPr>
          <a:xfrm>
            <a:off x="640080" y="2651760"/>
            <a:ext cx="54864" cy="685800"/>
          </a:xfrm>
          <a:prstGeom prst="rect">
            <a:avLst/>
          </a:prstGeom>
          <a:solidFill>
            <a:srgbClr val="E8563A"/>
          </a:solidFill>
          <a:ln/>
        </p:spPr>
        <p:txBody>
          <a:bodyPr/>
          <a:lstStyle/>
          <a:p>
            <a:endParaRPr lang="en-US"/>
          </a:p>
        </p:txBody>
      </p:sp>
      <p:sp>
        <p:nvSpPr>
          <p:cNvPr id="15" name="Text 13"/>
          <p:cNvSpPr/>
          <p:nvPr/>
        </p:nvSpPr>
        <p:spPr>
          <a:xfrm>
            <a:off x="1005840" y="2724912"/>
            <a:ext cx="7223760" cy="256032"/>
          </a:xfrm>
          <a:prstGeom prst="rect">
            <a:avLst/>
          </a:prstGeom>
          <a:noFill/>
          <a:ln/>
        </p:spPr>
        <p:txBody>
          <a:bodyPr wrap="square" lIns="0" tIns="0" rIns="0" bIns="0" rtlCol="0" anchor="ctr"/>
          <a:lstStyle/>
          <a:p>
            <a:pPr marL="0" indent="0">
              <a:buNone/>
            </a:pPr>
            <a:r>
              <a:rPr lang="en-US" sz="1200" b="1" dirty="0">
                <a:solidFill>
                  <a:srgbClr val="0F1B2D"/>
                </a:solidFill>
                <a:latin typeface="Open Sauce One" pitchFamily="34" charset="0"/>
                <a:ea typeface="Open Sauce One" pitchFamily="34" charset="-122"/>
                <a:cs typeface="Open Sauce One" pitchFamily="34" charset="-120"/>
              </a:rPr>
              <a:t>Two Sand Castles show macro confounds</a:t>
            </a:r>
            <a:endParaRPr lang="en-US" sz="1200" dirty="0"/>
          </a:p>
        </p:txBody>
      </p:sp>
      <p:sp>
        <p:nvSpPr>
          <p:cNvPr id="16" name="Text 14"/>
          <p:cNvSpPr/>
          <p:nvPr/>
        </p:nvSpPr>
        <p:spPr>
          <a:xfrm>
            <a:off x="1005840" y="2999232"/>
            <a:ext cx="7223760" cy="256032"/>
          </a:xfrm>
          <a:prstGeom prst="rect">
            <a:avLst/>
          </a:prstGeom>
          <a:noFill/>
          <a:ln/>
        </p:spPr>
        <p:txBody>
          <a:bodyPr wrap="square" lIns="0" tIns="0" rIns="0" bIns="0" rtlCol="0" anchor="ctr"/>
          <a:lstStyle/>
          <a:p>
            <a:pPr marL="0" indent="0">
              <a:buNone/>
            </a:pPr>
            <a:r>
              <a:rPr lang="en-US" sz="1050" dirty="0">
                <a:solidFill>
                  <a:srgbClr val="5A6577"/>
                </a:solidFill>
                <a:latin typeface="Open Sauce One" pitchFamily="34" charset="0"/>
                <a:ea typeface="Open Sauce One" pitchFamily="34" charset="-122"/>
                <a:cs typeface="Open Sauce One" pitchFamily="34" charset="-120"/>
              </a:rPr>
              <a:t>IT MSP tickers are defense contractors (ρ = +0.62 with XLRE). Property Mgmt tracks CRE cycle. Explicitly tagged.</a:t>
            </a:r>
            <a:endParaRPr lang="en-US" sz="1050" dirty="0"/>
          </a:p>
        </p:txBody>
      </p:sp>
      <p:sp>
        <p:nvSpPr>
          <p:cNvPr id="17" name="Shape 15"/>
          <p:cNvSpPr/>
          <p:nvPr/>
        </p:nvSpPr>
        <p:spPr>
          <a:xfrm>
            <a:off x="640080" y="3520440"/>
            <a:ext cx="7863840" cy="6858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8" name="Shape 16"/>
          <p:cNvSpPr/>
          <p:nvPr/>
        </p:nvSpPr>
        <p:spPr>
          <a:xfrm>
            <a:off x="640080" y="3520440"/>
            <a:ext cx="54864" cy="685800"/>
          </a:xfrm>
          <a:prstGeom prst="rect">
            <a:avLst/>
          </a:prstGeom>
          <a:solidFill>
            <a:srgbClr val="E8563A"/>
          </a:solidFill>
          <a:ln/>
        </p:spPr>
        <p:txBody>
          <a:bodyPr/>
          <a:lstStyle/>
          <a:p>
            <a:endParaRPr lang="en-US"/>
          </a:p>
        </p:txBody>
      </p:sp>
      <p:sp>
        <p:nvSpPr>
          <p:cNvPr id="19" name="Text 17"/>
          <p:cNvSpPr/>
          <p:nvPr/>
        </p:nvSpPr>
        <p:spPr>
          <a:xfrm>
            <a:off x="1005840" y="3593592"/>
            <a:ext cx="7223760" cy="256032"/>
          </a:xfrm>
          <a:prstGeom prst="rect">
            <a:avLst/>
          </a:prstGeom>
          <a:noFill/>
          <a:ln/>
        </p:spPr>
        <p:txBody>
          <a:bodyPr wrap="square" lIns="0" tIns="0" rIns="0" bIns="0" rtlCol="0" anchor="ctr"/>
          <a:lstStyle/>
          <a:p>
            <a:pPr marL="0" indent="0">
              <a:buNone/>
            </a:pPr>
            <a:r>
              <a:rPr lang="en-US" sz="1200" b="1" dirty="0">
                <a:solidFill>
                  <a:srgbClr val="0F1B2D"/>
                </a:solidFill>
                <a:latin typeface="Open Sauce One" pitchFamily="34" charset="0"/>
                <a:ea typeface="Open Sauce One" pitchFamily="34" charset="-122"/>
                <a:cs typeface="Open Sauce One" pitchFamily="34" charset="-120"/>
              </a:rPr>
              <a:t>Pure Sand Castle return</a:t>
            </a:r>
            <a:endParaRPr lang="en-US" sz="1200" dirty="0"/>
          </a:p>
        </p:txBody>
      </p:sp>
      <p:sp>
        <p:nvSpPr>
          <p:cNvPr id="20" name="Text 18"/>
          <p:cNvSpPr/>
          <p:nvPr/>
        </p:nvSpPr>
        <p:spPr>
          <a:xfrm>
            <a:off x="1005840" y="3867912"/>
            <a:ext cx="7223760" cy="256032"/>
          </a:xfrm>
          <a:prstGeom prst="rect">
            <a:avLst/>
          </a:prstGeom>
          <a:noFill/>
          <a:ln/>
        </p:spPr>
        <p:txBody>
          <a:bodyPr wrap="square" lIns="0" tIns="0" rIns="0" bIns="0" rtlCol="0" anchor="ctr"/>
          <a:lstStyle/>
          <a:p>
            <a:pPr marL="0" indent="0">
              <a:buNone/>
            </a:pPr>
            <a:r>
              <a:rPr lang="en-US" sz="1050" dirty="0">
                <a:solidFill>
                  <a:srgbClr val="5A6577"/>
                </a:solidFill>
                <a:latin typeface="Open Sauce One" pitchFamily="34" charset="0"/>
                <a:ea typeface="Open Sauce One" pitchFamily="34" charset="-122"/>
                <a:cs typeface="Open Sauce One" pitchFamily="34" charset="-120"/>
              </a:rPr>
              <a:t>Excluding confounded verticals: average −43%. Including all: average −7.7%.</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4828032"/>
            <a:ext cx="7772400" cy="274320"/>
          </a:xfrm>
          <a:prstGeom prst="rect">
            <a:avLst/>
          </a:prstGeom>
          <a:noFill/>
          <a:ln/>
        </p:spPr>
        <p:txBody>
          <a:bodyPr wrap="square" lIns="0" tIns="0" rIns="0" bIns="0" rtlCol="0" anchor="ctr"/>
          <a:lstStyle/>
          <a:p>
            <a:pPr marL="0" indent="0">
              <a:buNone/>
            </a:pPr>
            <a:r>
              <a:rPr lang="en-US" sz="800" dirty="0">
                <a:solidFill>
                  <a:srgbClr val="FFFFFF"/>
                </a:solidFill>
                <a:latin typeface="Open Sauce One" pitchFamily="34" charset="0"/>
                <a:ea typeface="Open Sauce One" pitchFamily="34" charset="-122"/>
                <a:cs typeface="Open Sauce One" pitchFamily="34" charset="-120"/>
              </a:rPr>
              <a:t>The Moat in the Machine  |  Dutchess Management  |  February 2026  |  Working Draft</a:t>
            </a:r>
            <a:endParaRPr lang="en-US" sz="800" dirty="0"/>
          </a:p>
        </p:txBody>
      </p:sp>
      <p:sp>
        <p:nvSpPr>
          <p:cNvPr id="3" name="Text 1"/>
          <p:cNvSpPr/>
          <p:nvPr/>
        </p:nvSpPr>
        <p:spPr>
          <a:xfrm>
            <a:off x="8412480" y="4828032"/>
            <a:ext cx="548640" cy="274320"/>
          </a:xfrm>
          <a:prstGeom prst="rect">
            <a:avLst/>
          </a:prstGeom>
          <a:noFill/>
          <a:ln/>
        </p:spPr>
        <p:txBody>
          <a:bodyPr wrap="square" lIns="0" tIns="0" rIns="0" bIns="0" rtlCol="0" anchor="ctr"/>
          <a:lstStyle/>
          <a:p>
            <a:pPr marL="0" indent="0" algn="r">
              <a:buNone/>
            </a:pPr>
            <a:endParaRPr lang="en-US" sz="900" dirty="0"/>
          </a:p>
        </p:txBody>
      </p:sp>
      <p:sp>
        <p:nvSpPr>
          <p:cNvPr id="4" name="Text 2"/>
          <p:cNvSpPr/>
          <p:nvPr/>
        </p:nvSpPr>
        <p:spPr>
          <a:xfrm>
            <a:off x="640080" y="274320"/>
            <a:ext cx="7863840" cy="365760"/>
          </a:xfrm>
          <a:prstGeom prst="rect">
            <a:avLst/>
          </a:prstGeom>
          <a:noFill/>
          <a:ln/>
        </p:spPr>
        <p:txBody>
          <a:bodyPr wrap="square" lIns="0" tIns="0" rIns="0" bIns="0" rtlCol="0" anchor="ctr"/>
          <a:lstStyle/>
          <a:p>
            <a:pPr marL="0" indent="0">
              <a:buNone/>
            </a:pPr>
            <a:r>
              <a:rPr lang="en-US" sz="1300" b="1" kern="0" spc="300" dirty="0">
                <a:solidFill>
                  <a:srgbClr val="E8563A"/>
                </a:solidFill>
                <a:latin typeface="Open Sauce One" pitchFamily="34" charset="0"/>
                <a:ea typeface="Open Sauce One" pitchFamily="34" charset="-122"/>
                <a:cs typeface="Open Sauce One" pitchFamily="34" charset="-120"/>
              </a:rPr>
              <a:t>HOW WE STRESS-TESTED THIS</a:t>
            </a:r>
            <a:endParaRPr lang="en-US" sz="1300" dirty="0"/>
          </a:p>
        </p:txBody>
      </p:sp>
      <p:sp>
        <p:nvSpPr>
          <p:cNvPr id="5" name="Text 3"/>
          <p:cNvSpPr/>
          <p:nvPr/>
        </p:nvSpPr>
        <p:spPr>
          <a:xfrm>
            <a:off x="640080" y="658368"/>
            <a:ext cx="7863840" cy="320040"/>
          </a:xfrm>
          <a:prstGeom prst="rect">
            <a:avLst/>
          </a:prstGeom>
          <a:noFill/>
          <a:ln/>
        </p:spPr>
        <p:txBody>
          <a:bodyPr wrap="square" lIns="0" tIns="0" rIns="0" bIns="0" rtlCol="0" anchor="ctr"/>
          <a:lstStyle/>
          <a:p>
            <a:pPr marL="0" indent="0">
              <a:buNone/>
            </a:pPr>
            <a:r>
              <a:rPr lang="en-US" sz="1200" dirty="0">
                <a:solidFill>
                  <a:srgbClr val="5A6577"/>
                </a:solidFill>
                <a:latin typeface="Open Sauce One" pitchFamily="34" charset="0"/>
                <a:ea typeface="Open Sauce One" pitchFamily="34" charset="-122"/>
                <a:cs typeface="Open Sauce One" pitchFamily="34" charset="-120"/>
              </a:rPr>
              <a:t>Seven independent validation methods. The core finding survives all of them.</a:t>
            </a:r>
            <a:endParaRPr lang="en-US" sz="1200" dirty="0"/>
          </a:p>
        </p:txBody>
      </p:sp>
      <p:sp>
        <p:nvSpPr>
          <p:cNvPr id="6" name="Shape 4"/>
          <p:cNvSpPr/>
          <p:nvPr/>
        </p:nvSpPr>
        <p:spPr>
          <a:xfrm>
            <a:off x="640080" y="1143000"/>
            <a:ext cx="292608" cy="292608"/>
          </a:xfrm>
          <a:prstGeom prst="ellipse">
            <a:avLst/>
          </a:prstGeom>
          <a:solidFill>
            <a:srgbClr val="E8563A"/>
          </a:solidFill>
          <a:ln/>
        </p:spPr>
        <p:txBody>
          <a:bodyPr/>
          <a:lstStyle/>
          <a:p>
            <a:endParaRPr lang="en-US"/>
          </a:p>
        </p:txBody>
      </p:sp>
      <p:sp>
        <p:nvSpPr>
          <p:cNvPr id="7" name="Text 5"/>
          <p:cNvSpPr/>
          <p:nvPr/>
        </p:nvSpPr>
        <p:spPr>
          <a:xfrm>
            <a:off x="640080" y="1143000"/>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Open Sauce One" pitchFamily="34" charset="0"/>
                <a:ea typeface="Open Sauce One" pitchFamily="34" charset="-122"/>
                <a:cs typeface="Open Sauce One" pitchFamily="34" charset="-120"/>
              </a:rPr>
              <a:t>1</a:t>
            </a:r>
            <a:endParaRPr lang="en-US" sz="1000" dirty="0"/>
          </a:p>
        </p:txBody>
      </p:sp>
      <p:sp>
        <p:nvSpPr>
          <p:cNvPr id="8" name="Text 6"/>
          <p:cNvSpPr/>
          <p:nvPr/>
        </p:nvSpPr>
        <p:spPr>
          <a:xfrm>
            <a:off x="1097280" y="1097280"/>
            <a:ext cx="2011680" cy="347472"/>
          </a:xfrm>
          <a:prstGeom prst="rect">
            <a:avLst/>
          </a:prstGeom>
          <a:noFill/>
          <a:ln/>
        </p:spPr>
        <p:txBody>
          <a:bodyPr wrap="square" lIns="0" tIns="0" rIns="0" bIns="0" rtlCol="0" anchor="ctr"/>
          <a:lstStyle/>
          <a:p>
            <a:pPr marL="0" indent="0">
              <a:buNone/>
            </a:pPr>
            <a:r>
              <a:rPr lang="en-US" sz="1100" b="1" dirty="0">
                <a:solidFill>
                  <a:srgbClr val="0F1B2D"/>
                </a:solidFill>
                <a:latin typeface="Open Sauce One" pitchFamily="34" charset="0"/>
                <a:ea typeface="Open Sauce One" pitchFamily="34" charset="-122"/>
                <a:cs typeface="Open Sauce One" pitchFamily="34" charset="-120"/>
              </a:rPr>
              <a:t>Permutation test</a:t>
            </a:r>
            <a:endParaRPr lang="en-US" sz="1100" dirty="0"/>
          </a:p>
        </p:txBody>
      </p:sp>
      <p:sp>
        <p:nvSpPr>
          <p:cNvPr id="9" name="Text 7"/>
          <p:cNvSpPr/>
          <p:nvPr/>
        </p:nvSpPr>
        <p:spPr>
          <a:xfrm>
            <a:off x="3108960" y="1097280"/>
            <a:ext cx="5486400" cy="347472"/>
          </a:xfrm>
          <a:prstGeom prst="rect">
            <a:avLst/>
          </a:prstGeom>
          <a:noFill/>
          <a:ln/>
        </p:spPr>
        <p:txBody>
          <a:bodyPr wrap="square" lIns="0" tIns="0" rIns="0" bIns="0" rtlCol="0" anchor="ctr"/>
          <a:lstStyle/>
          <a:p>
            <a:pPr marL="0" indent="0">
              <a:buNone/>
            </a:pPr>
            <a:r>
              <a:rPr lang="en-US" sz="1050" dirty="0">
                <a:solidFill>
                  <a:srgbClr val="5A6577"/>
                </a:solidFill>
                <a:latin typeface="Open Sauce One" pitchFamily="34" charset="0"/>
                <a:ea typeface="Open Sauce One" pitchFamily="34" charset="-122"/>
                <a:cs typeface="Open Sauce One" pitchFamily="34" charset="-120"/>
              </a:rPr>
              <a:t>10,000 random shuffles. p = 0.019 for high-auto subsample.</a:t>
            </a:r>
            <a:endParaRPr lang="en-US" sz="1050" dirty="0"/>
          </a:p>
        </p:txBody>
      </p:sp>
      <p:sp>
        <p:nvSpPr>
          <p:cNvPr id="10" name="Shape 8"/>
          <p:cNvSpPr/>
          <p:nvPr/>
        </p:nvSpPr>
        <p:spPr>
          <a:xfrm>
            <a:off x="1097280" y="1490472"/>
            <a:ext cx="7406640" cy="0"/>
          </a:xfrm>
          <a:prstGeom prst="line">
            <a:avLst/>
          </a:prstGeom>
          <a:noFill/>
          <a:ln w="3810">
            <a:solidFill>
              <a:srgbClr val="C5CCD6"/>
            </a:solidFill>
            <a:prstDash val="solid"/>
          </a:ln>
        </p:spPr>
        <p:txBody>
          <a:bodyPr/>
          <a:lstStyle/>
          <a:p>
            <a:endParaRPr lang="en-US"/>
          </a:p>
        </p:txBody>
      </p:sp>
      <p:sp>
        <p:nvSpPr>
          <p:cNvPr id="11" name="Shape 9"/>
          <p:cNvSpPr/>
          <p:nvPr/>
        </p:nvSpPr>
        <p:spPr>
          <a:xfrm>
            <a:off x="640080" y="1600200"/>
            <a:ext cx="292608" cy="292608"/>
          </a:xfrm>
          <a:prstGeom prst="ellipse">
            <a:avLst/>
          </a:prstGeom>
          <a:solidFill>
            <a:srgbClr val="E8563A"/>
          </a:solidFill>
          <a:ln/>
        </p:spPr>
        <p:txBody>
          <a:bodyPr/>
          <a:lstStyle/>
          <a:p>
            <a:endParaRPr lang="en-US"/>
          </a:p>
        </p:txBody>
      </p:sp>
      <p:sp>
        <p:nvSpPr>
          <p:cNvPr id="12" name="Text 10"/>
          <p:cNvSpPr/>
          <p:nvPr/>
        </p:nvSpPr>
        <p:spPr>
          <a:xfrm>
            <a:off x="640080" y="1600200"/>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Open Sauce One" pitchFamily="34" charset="0"/>
                <a:ea typeface="Open Sauce One" pitchFamily="34" charset="-122"/>
                <a:cs typeface="Open Sauce One" pitchFamily="34" charset="-120"/>
              </a:rPr>
              <a:t>2</a:t>
            </a:r>
            <a:endParaRPr lang="en-US" sz="1000" dirty="0"/>
          </a:p>
        </p:txBody>
      </p:sp>
      <p:sp>
        <p:nvSpPr>
          <p:cNvPr id="13" name="Text 11"/>
          <p:cNvSpPr/>
          <p:nvPr/>
        </p:nvSpPr>
        <p:spPr>
          <a:xfrm>
            <a:off x="1097280" y="1554480"/>
            <a:ext cx="2011680" cy="347472"/>
          </a:xfrm>
          <a:prstGeom prst="rect">
            <a:avLst/>
          </a:prstGeom>
          <a:noFill/>
          <a:ln/>
        </p:spPr>
        <p:txBody>
          <a:bodyPr wrap="square" lIns="0" tIns="0" rIns="0" bIns="0" rtlCol="0" anchor="ctr"/>
          <a:lstStyle/>
          <a:p>
            <a:pPr marL="0" indent="0">
              <a:buNone/>
            </a:pPr>
            <a:r>
              <a:rPr lang="en-US" sz="1100" b="1" dirty="0">
                <a:solidFill>
                  <a:srgbClr val="0F1B2D"/>
                </a:solidFill>
                <a:latin typeface="Open Sauce One" pitchFamily="34" charset="0"/>
                <a:ea typeface="Open Sauce One" pitchFamily="34" charset="-122"/>
                <a:cs typeface="Open Sauce One" pitchFamily="34" charset="-120"/>
              </a:rPr>
              <a:t>Leave-one-out</a:t>
            </a:r>
            <a:endParaRPr lang="en-US" sz="1100" dirty="0"/>
          </a:p>
        </p:txBody>
      </p:sp>
      <p:sp>
        <p:nvSpPr>
          <p:cNvPr id="14" name="Text 12"/>
          <p:cNvSpPr/>
          <p:nvPr/>
        </p:nvSpPr>
        <p:spPr>
          <a:xfrm>
            <a:off x="3108960" y="1554480"/>
            <a:ext cx="5486400" cy="347472"/>
          </a:xfrm>
          <a:prstGeom prst="rect">
            <a:avLst/>
          </a:prstGeom>
          <a:noFill/>
          <a:ln/>
        </p:spPr>
        <p:txBody>
          <a:bodyPr wrap="square" lIns="0" tIns="0" rIns="0" bIns="0" rtlCol="0" anchor="ctr"/>
          <a:lstStyle/>
          <a:p>
            <a:pPr marL="0" indent="0">
              <a:buNone/>
            </a:pPr>
            <a:r>
              <a:rPr lang="en-US" sz="1050" dirty="0">
                <a:solidFill>
                  <a:srgbClr val="5A6577"/>
                </a:solidFill>
                <a:latin typeface="Open Sauce One" pitchFamily="34" charset="0"/>
                <a:ea typeface="Open Sauce One" pitchFamily="34" charset="-122"/>
                <a:cs typeface="Open Sauce One" pitchFamily="34" charset="-120"/>
              </a:rPr>
              <a:t>Zero sign changes across all 8 jackknife samples. ρ = +0.71 to +0.91.</a:t>
            </a:r>
            <a:endParaRPr lang="en-US" sz="1050" dirty="0"/>
          </a:p>
        </p:txBody>
      </p:sp>
      <p:sp>
        <p:nvSpPr>
          <p:cNvPr id="15" name="Shape 13"/>
          <p:cNvSpPr/>
          <p:nvPr/>
        </p:nvSpPr>
        <p:spPr>
          <a:xfrm>
            <a:off x="1097280" y="1947672"/>
            <a:ext cx="7406640" cy="0"/>
          </a:xfrm>
          <a:prstGeom prst="line">
            <a:avLst/>
          </a:prstGeom>
          <a:noFill/>
          <a:ln w="3810">
            <a:solidFill>
              <a:srgbClr val="C5CCD6"/>
            </a:solidFill>
            <a:prstDash val="solid"/>
          </a:ln>
        </p:spPr>
        <p:txBody>
          <a:bodyPr/>
          <a:lstStyle/>
          <a:p>
            <a:endParaRPr lang="en-US"/>
          </a:p>
        </p:txBody>
      </p:sp>
      <p:sp>
        <p:nvSpPr>
          <p:cNvPr id="16" name="Shape 14"/>
          <p:cNvSpPr/>
          <p:nvPr/>
        </p:nvSpPr>
        <p:spPr>
          <a:xfrm>
            <a:off x="640080" y="2057400"/>
            <a:ext cx="292608" cy="292608"/>
          </a:xfrm>
          <a:prstGeom prst="ellipse">
            <a:avLst/>
          </a:prstGeom>
          <a:solidFill>
            <a:srgbClr val="E8563A"/>
          </a:solidFill>
          <a:ln/>
        </p:spPr>
        <p:txBody>
          <a:bodyPr/>
          <a:lstStyle/>
          <a:p>
            <a:endParaRPr lang="en-US"/>
          </a:p>
        </p:txBody>
      </p:sp>
      <p:sp>
        <p:nvSpPr>
          <p:cNvPr id="17" name="Text 15"/>
          <p:cNvSpPr/>
          <p:nvPr/>
        </p:nvSpPr>
        <p:spPr>
          <a:xfrm>
            <a:off x="640080" y="2057400"/>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Open Sauce One" pitchFamily="34" charset="0"/>
                <a:ea typeface="Open Sauce One" pitchFamily="34" charset="-122"/>
                <a:cs typeface="Open Sauce One" pitchFamily="34" charset="-120"/>
              </a:rPr>
              <a:t>3</a:t>
            </a:r>
            <a:endParaRPr lang="en-US" sz="1000" dirty="0"/>
          </a:p>
        </p:txBody>
      </p:sp>
      <p:sp>
        <p:nvSpPr>
          <p:cNvPr id="18" name="Text 16"/>
          <p:cNvSpPr/>
          <p:nvPr/>
        </p:nvSpPr>
        <p:spPr>
          <a:xfrm>
            <a:off x="1097280" y="2011680"/>
            <a:ext cx="2011680" cy="347472"/>
          </a:xfrm>
          <a:prstGeom prst="rect">
            <a:avLst/>
          </a:prstGeom>
          <a:noFill/>
          <a:ln/>
        </p:spPr>
        <p:txBody>
          <a:bodyPr wrap="square" lIns="0" tIns="0" rIns="0" bIns="0" rtlCol="0" anchor="ctr"/>
          <a:lstStyle/>
          <a:p>
            <a:pPr marL="0" indent="0">
              <a:buNone/>
            </a:pPr>
            <a:r>
              <a:rPr lang="en-US" sz="1100" b="1" dirty="0">
                <a:solidFill>
                  <a:srgbClr val="0F1B2D"/>
                </a:solidFill>
                <a:latin typeface="Open Sauce One" pitchFamily="34" charset="0"/>
                <a:ea typeface="Open Sauce One" pitchFamily="34" charset="-122"/>
                <a:cs typeface="Open Sauce One" pitchFamily="34" charset="-120"/>
              </a:rPr>
              <a:t>Threshold sensitivity</a:t>
            </a:r>
            <a:endParaRPr lang="en-US" sz="1100" dirty="0"/>
          </a:p>
        </p:txBody>
      </p:sp>
      <p:sp>
        <p:nvSpPr>
          <p:cNvPr id="19" name="Text 17"/>
          <p:cNvSpPr/>
          <p:nvPr/>
        </p:nvSpPr>
        <p:spPr>
          <a:xfrm>
            <a:off x="3108960" y="2011680"/>
            <a:ext cx="5486400" cy="347472"/>
          </a:xfrm>
          <a:prstGeom prst="rect">
            <a:avLst/>
          </a:prstGeom>
          <a:noFill/>
          <a:ln/>
        </p:spPr>
        <p:txBody>
          <a:bodyPr wrap="square" lIns="0" tIns="0" rIns="0" bIns="0" rtlCol="0" anchor="ctr"/>
          <a:lstStyle/>
          <a:p>
            <a:pPr marL="0" indent="0">
              <a:buNone/>
            </a:pPr>
            <a:r>
              <a:rPr lang="en-US" sz="1050" dirty="0">
                <a:solidFill>
                  <a:srgbClr val="5A6577"/>
                </a:solidFill>
                <a:latin typeface="Open Sauce One" pitchFamily="34" charset="0"/>
                <a:ea typeface="Open Sauce One" pitchFamily="34" charset="-122"/>
                <a:cs typeface="Open Sauce One" pitchFamily="34" charset="-120"/>
              </a:rPr>
              <a:t>Interaction holds at automation thresholds from 25% to 45%.</a:t>
            </a:r>
            <a:endParaRPr lang="en-US" sz="1050" dirty="0"/>
          </a:p>
        </p:txBody>
      </p:sp>
      <p:sp>
        <p:nvSpPr>
          <p:cNvPr id="20" name="Shape 18"/>
          <p:cNvSpPr/>
          <p:nvPr/>
        </p:nvSpPr>
        <p:spPr>
          <a:xfrm>
            <a:off x="1097280" y="2404872"/>
            <a:ext cx="7406640" cy="0"/>
          </a:xfrm>
          <a:prstGeom prst="line">
            <a:avLst/>
          </a:prstGeom>
          <a:noFill/>
          <a:ln w="3810">
            <a:solidFill>
              <a:srgbClr val="C5CCD6"/>
            </a:solidFill>
            <a:prstDash val="solid"/>
          </a:ln>
        </p:spPr>
        <p:txBody>
          <a:bodyPr/>
          <a:lstStyle/>
          <a:p>
            <a:endParaRPr lang="en-US"/>
          </a:p>
        </p:txBody>
      </p:sp>
      <p:sp>
        <p:nvSpPr>
          <p:cNvPr id="21" name="Shape 19"/>
          <p:cNvSpPr/>
          <p:nvPr/>
        </p:nvSpPr>
        <p:spPr>
          <a:xfrm>
            <a:off x="640080" y="2514600"/>
            <a:ext cx="292608" cy="292608"/>
          </a:xfrm>
          <a:prstGeom prst="ellipse">
            <a:avLst/>
          </a:prstGeom>
          <a:solidFill>
            <a:srgbClr val="E8563A"/>
          </a:solidFill>
          <a:ln/>
        </p:spPr>
        <p:txBody>
          <a:bodyPr/>
          <a:lstStyle/>
          <a:p>
            <a:endParaRPr lang="en-US"/>
          </a:p>
        </p:txBody>
      </p:sp>
      <p:sp>
        <p:nvSpPr>
          <p:cNvPr id="22" name="Text 20"/>
          <p:cNvSpPr/>
          <p:nvPr/>
        </p:nvSpPr>
        <p:spPr>
          <a:xfrm>
            <a:off x="640080" y="2514600"/>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Open Sauce One" pitchFamily="34" charset="0"/>
                <a:ea typeface="Open Sauce One" pitchFamily="34" charset="-122"/>
                <a:cs typeface="Open Sauce One" pitchFamily="34" charset="-120"/>
              </a:rPr>
              <a:t>4</a:t>
            </a:r>
            <a:endParaRPr lang="en-US" sz="1000" dirty="0"/>
          </a:p>
        </p:txBody>
      </p:sp>
      <p:sp>
        <p:nvSpPr>
          <p:cNvPr id="23" name="Text 21"/>
          <p:cNvSpPr/>
          <p:nvPr/>
        </p:nvSpPr>
        <p:spPr>
          <a:xfrm>
            <a:off x="1097280" y="2468880"/>
            <a:ext cx="2011680" cy="347472"/>
          </a:xfrm>
          <a:prstGeom prst="rect">
            <a:avLst/>
          </a:prstGeom>
          <a:noFill/>
          <a:ln/>
        </p:spPr>
        <p:txBody>
          <a:bodyPr wrap="square" lIns="0" tIns="0" rIns="0" bIns="0" rtlCol="0" anchor="ctr"/>
          <a:lstStyle/>
          <a:p>
            <a:pPr marL="0" indent="0">
              <a:buNone/>
            </a:pPr>
            <a:r>
              <a:rPr lang="en-US" sz="1100" b="1" dirty="0">
                <a:solidFill>
                  <a:srgbClr val="0F1B2D"/>
                </a:solidFill>
                <a:latin typeface="Open Sauce One" pitchFamily="34" charset="0"/>
                <a:ea typeface="Open Sauce One" pitchFamily="34" charset="-122"/>
                <a:cs typeface="Open Sauce One" pitchFamily="34" charset="-120"/>
              </a:rPr>
              <a:t>Panel DID</a:t>
            </a:r>
            <a:endParaRPr lang="en-US" sz="1100" dirty="0"/>
          </a:p>
        </p:txBody>
      </p:sp>
      <p:sp>
        <p:nvSpPr>
          <p:cNvPr id="24" name="Text 22"/>
          <p:cNvSpPr/>
          <p:nvPr/>
        </p:nvSpPr>
        <p:spPr>
          <a:xfrm>
            <a:off x="3108960" y="2468880"/>
            <a:ext cx="5486400" cy="347472"/>
          </a:xfrm>
          <a:prstGeom prst="rect">
            <a:avLst/>
          </a:prstGeom>
          <a:noFill/>
          <a:ln/>
        </p:spPr>
        <p:txBody>
          <a:bodyPr wrap="square" lIns="0" tIns="0" rIns="0" bIns="0" rtlCol="0" anchor="ctr"/>
          <a:lstStyle/>
          <a:p>
            <a:pPr marL="0" indent="0">
              <a:buNone/>
            </a:pPr>
            <a:r>
              <a:rPr lang="en-US" sz="1050" dirty="0">
                <a:solidFill>
                  <a:srgbClr val="5A6577"/>
                </a:solidFill>
                <a:latin typeface="Open Sauce One" pitchFamily="34" charset="0"/>
                <a:ea typeface="Open Sauce One" pitchFamily="34" charset="-122"/>
                <a:cs typeface="Open Sauce One" pitchFamily="34" charset="-120"/>
              </a:rPr>
              <a:t>2,943 obs. Chow F = 7.58, p = 0.0005. DID β significant at 0.1% level.</a:t>
            </a:r>
            <a:endParaRPr lang="en-US" sz="1050" dirty="0"/>
          </a:p>
        </p:txBody>
      </p:sp>
      <p:sp>
        <p:nvSpPr>
          <p:cNvPr id="25" name="Shape 23"/>
          <p:cNvSpPr/>
          <p:nvPr/>
        </p:nvSpPr>
        <p:spPr>
          <a:xfrm>
            <a:off x="1097280" y="2862072"/>
            <a:ext cx="7406640" cy="0"/>
          </a:xfrm>
          <a:prstGeom prst="line">
            <a:avLst/>
          </a:prstGeom>
          <a:noFill/>
          <a:ln w="3810">
            <a:solidFill>
              <a:srgbClr val="C5CCD6"/>
            </a:solidFill>
            <a:prstDash val="solid"/>
          </a:ln>
        </p:spPr>
        <p:txBody>
          <a:bodyPr/>
          <a:lstStyle/>
          <a:p>
            <a:endParaRPr lang="en-US"/>
          </a:p>
        </p:txBody>
      </p:sp>
      <p:sp>
        <p:nvSpPr>
          <p:cNvPr id="26" name="Shape 24"/>
          <p:cNvSpPr/>
          <p:nvPr/>
        </p:nvSpPr>
        <p:spPr>
          <a:xfrm>
            <a:off x="640080" y="2971800"/>
            <a:ext cx="292608" cy="292608"/>
          </a:xfrm>
          <a:prstGeom prst="ellipse">
            <a:avLst/>
          </a:prstGeom>
          <a:solidFill>
            <a:srgbClr val="E8563A"/>
          </a:solidFill>
          <a:ln/>
        </p:spPr>
        <p:txBody>
          <a:bodyPr/>
          <a:lstStyle/>
          <a:p>
            <a:endParaRPr lang="en-US"/>
          </a:p>
        </p:txBody>
      </p:sp>
      <p:sp>
        <p:nvSpPr>
          <p:cNvPr id="27" name="Text 25"/>
          <p:cNvSpPr/>
          <p:nvPr/>
        </p:nvSpPr>
        <p:spPr>
          <a:xfrm>
            <a:off x="640080" y="2971800"/>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Open Sauce One" pitchFamily="34" charset="0"/>
                <a:ea typeface="Open Sauce One" pitchFamily="34" charset="-122"/>
                <a:cs typeface="Open Sauce One" pitchFamily="34" charset="-120"/>
              </a:rPr>
              <a:t>5</a:t>
            </a:r>
            <a:endParaRPr lang="en-US" sz="1000" dirty="0"/>
          </a:p>
        </p:txBody>
      </p:sp>
      <p:sp>
        <p:nvSpPr>
          <p:cNvPr id="28" name="Text 26"/>
          <p:cNvSpPr/>
          <p:nvPr/>
        </p:nvSpPr>
        <p:spPr>
          <a:xfrm>
            <a:off x="1097280" y="2926080"/>
            <a:ext cx="2011680" cy="347472"/>
          </a:xfrm>
          <a:prstGeom prst="rect">
            <a:avLst/>
          </a:prstGeom>
          <a:noFill/>
          <a:ln/>
        </p:spPr>
        <p:txBody>
          <a:bodyPr wrap="square" lIns="0" tIns="0" rIns="0" bIns="0" rtlCol="0" anchor="ctr"/>
          <a:lstStyle/>
          <a:p>
            <a:pPr marL="0" indent="0">
              <a:buNone/>
            </a:pPr>
            <a:r>
              <a:rPr lang="en-US" sz="1100" b="1" dirty="0">
                <a:solidFill>
                  <a:srgbClr val="0F1B2D"/>
                </a:solidFill>
                <a:latin typeface="Open Sauce One" pitchFamily="34" charset="0"/>
                <a:ea typeface="Open Sauce One" pitchFamily="34" charset="-122"/>
                <a:cs typeface="Open Sauce One" pitchFamily="34" charset="-120"/>
              </a:rPr>
              <a:t>External index (Webb)</a:t>
            </a:r>
            <a:endParaRPr lang="en-US" sz="1100" dirty="0"/>
          </a:p>
        </p:txBody>
      </p:sp>
      <p:sp>
        <p:nvSpPr>
          <p:cNvPr id="29" name="Text 27"/>
          <p:cNvSpPr/>
          <p:nvPr/>
        </p:nvSpPr>
        <p:spPr>
          <a:xfrm>
            <a:off x="3108960" y="2926080"/>
            <a:ext cx="5486400" cy="347472"/>
          </a:xfrm>
          <a:prstGeom prst="rect">
            <a:avLst/>
          </a:prstGeom>
          <a:noFill/>
          <a:ln/>
        </p:spPr>
        <p:txBody>
          <a:bodyPr wrap="square" lIns="0" tIns="0" rIns="0" bIns="0" rtlCol="0" anchor="ctr"/>
          <a:lstStyle/>
          <a:p>
            <a:pPr marL="0" indent="0">
              <a:buNone/>
            </a:pPr>
            <a:r>
              <a:rPr lang="en-US" sz="1050" dirty="0">
                <a:solidFill>
                  <a:srgbClr val="5A6577"/>
                </a:solidFill>
                <a:latin typeface="Open Sauce One" pitchFamily="34" charset="0"/>
                <a:ea typeface="Open Sauce One" pitchFamily="34" charset="-122"/>
                <a:cs typeface="Open Sauce One" pitchFamily="34" charset="-120"/>
              </a:rPr>
              <a:t>GenAI% validated at ρ = +0.81 (p &lt; 0.001) against independent academic measure.</a:t>
            </a:r>
            <a:endParaRPr lang="en-US" sz="1050" dirty="0"/>
          </a:p>
        </p:txBody>
      </p:sp>
      <p:sp>
        <p:nvSpPr>
          <p:cNvPr id="30" name="Shape 28"/>
          <p:cNvSpPr/>
          <p:nvPr/>
        </p:nvSpPr>
        <p:spPr>
          <a:xfrm>
            <a:off x="1097280" y="3319272"/>
            <a:ext cx="7406640" cy="0"/>
          </a:xfrm>
          <a:prstGeom prst="line">
            <a:avLst/>
          </a:prstGeom>
          <a:noFill/>
          <a:ln w="3810">
            <a:solidFill>
              <a:srgbClr val="C5CCD6"/>
            </a:solidFill>
            <a:prstDash val="solid"/>
          </a:ln>
        </p:spPr>
        <p:txBody>
          <a:bodyPr/>
          <a:lstStyle/>
          <a:p>
            <a:endParaRPr lang="en-US"/>
          </a:p>
        </p:txBody>
      </p:sp>
      <p:sp>
        <p:nvSpPr>
          <p:cNvPr id="31" name="Shape 29"/>
          <p:cNvSpPr/>
          <p:nvPr/>
        </p:nvSpPr>
        <p:spPr>
          <a:xfrm>
            <a:off x="640080" y="3429000"/>
            <a:ext cx="292608" cy="292608"/>
          </a:xfrm>
          <a:prstGeom prst="ellipse">
            <a:avLst/>
          </a:prstGeom>
          <a:solidFill>
            <a:srgbClr val="E8563A"/>
          </a:solidFill>
          <a:ln/>
        </p:spPr>
        <p:txBody>
          <a:bodyPr/>
          <a:lstStyle/>
          <a:p>
            <a:endParaRPr lang="en-US"/>
          </a:p>
        </p:txBody>
      </p:sp>
      <p:sp>
        <p:nvSpPr>
          <p:cNvPr id="32" name="Text 30"/>
          <p:cNvSpPr/>
          <p:nvPr/>
        </p:nvSpPr>
        <p:spPr>
          <a:xfrm>
            <a:off x="640080" y="3429000"/>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Open Sauce One" pitchFamily="34" charset="0"/>
                <a:ea typeface="Open Sauce One" pitchFamily="34" charset="-122"/>
                <a:cs typeface="Open Sauce One" pitchFamily="34" charset="-120"/>
              </a:rPr>
              <a:t>6</a:t>
            </a:r>
            <a:endParaRPr lang="en-US" sz="1000" dirty="0"/>
          </a:p>
        </p:txBody>
      </p:sp>
      <p:sp>
        <p:nvSpPr>
          <p:cNvPr id="33" name="Text 31"/>
          <p:cNvSpPr/>
          <p:nvPr/>
        </p:nvSpPr>
        <p:spPr>
          <a:xfrm>
            <a:off x="1097280" y="3383280"/>
            <a:ext cx="2011680" cy="347472"/>
          </a:xfrm>
          <a:prstGeom prst="rect">
            <a:avLst/>
          </a:prstGeom>
          <a:noFill/>
          <a:ln/>
        </p:spPr>
        <p:txBody>
          <a:bodyPr wrap="square" lIns="0" tIns="0" rIns="0" bIns="0" rtlCol="0" anchor="ctr"/>
          <a:lstStyle/>
          <a:p>
            <a:pPr marL="0" indent="0">
              <a:buNone/>
            </a:pPr>
            <a:r>
              <a:rPr lang="en-US" sz="1100" b="1" dirty="0">
                <a:solidFill>
                  <a:srgbClr val="0F1B2D"/>
                </a:solidFill>
                <a:latin typeface="Open Sauce One" pitchFamily="34" charset="0"/>
                <a:ea typeface="Open Sauce One" pitchFamily="34" charset="-122"/>
                <a:cs typeface="Open Sauce One" pitchFamily="34" charset="-120"/>
              </a:rPr>
              <a:t>Expanded backtest (N=21)</a:t>
            </a:r>
            <a:endParaRPr lang="en-US" sz="1100" dirty="0"/>
          </a:p>
        </p:txBody>
      </p:sp>
      <p:sp>
        <p:nvSpPr>
          <p:cNvPr id="34" name="Text 32"/>
          <p:cNvSpPr/>
          <p:nvPr/>
        </p:nvSpPr>
        <p:spPr>
          <a:xfrm>
            <a:off x="3108960" y="3383280"/>
            <a:ext cx="5486400" cy="347472"/>
          </a:xfrm>
          <a:prstGeom prst="rect">
            <a:avLst/>
          </a:prstGeom>
          <a:noFill/>
          <a:ln/>
        </p:spPr>
        <p:txBody>
          <a:bodyPr wrap="square" lIns="0" tIns="0" rIns="0" bIns="0" rtlCol="0" anchor="ctr"/>
          <a:lstStyle/>
          <a:p>
            <a:pPr marL="0" indent="0">
              <a:buNone/>
            </a:pPr>
            <a:r>
              <a:rPr lang="en-US" sz="1050" dirty="0">
                <a:solidFill>
                  <a:srgbClr val="5A6577"/>
                </a:solidFill>
                <a:latin typeface="Open Sauce One" pitchFamily="34" charset="0"/>
                <a:ea typeface="Open Sauce One" pitchFamily="34" charset="-122"/>
                <a:cs typeface="Open Sauce One" pitchFamily="34" charset="-120"/>
              </a:rPr>
              <a:t>ρ = −0.489, p = 0.025. Bootstrap 95% CI does not cross zero.</a:t>
            </a:r>
            <a:endParaRPr lang="en-US" sz="1050" dirty="0"/>
          </a:p>
        </p:txBody>
      </p:sp>
      <p:sp>
        <p:nvSpPr>
          <p:cNvPr id="35" name="Shape 33"/>
          <p:cNvSpPr/>
          <p:nvPr/>
        </p:nvSpPr>
        <p:spPr>
          <a:xfrm>
            <a:off x="1097280" y="3776472"/>
            <a:ext cx="7406640" cy="0"/>
          </a:xfrm>
          <a:prstGeom prst="line">
            <a:avLst/>
          </a:prstGeom>
          <a:noFill/>
          <a:ln w="3810">
            <a:solidFill>
              <a:srgbClr val="C5CCD6"/>
            </a:solidFill>
            <a:prstDash val="solid"/>
          </a:ln>
        </p:spPr>
        <p:txBody>
          <a:bodyPr/>
          <a:lstStyle/>
          <a:p>
            <a:endParaRPr lang="en-US"/>
          </a:p>
        </p:txBody>
      </p:sp>
      <p:sp>
        <p:nvSpPr>
          <p:cNvPr id="36" name="Shape 34"/>
          <p:cNvSpPr/>
          <p:nvPr/>
        </p:nvSpPr>
        <p:spPr>
          <a:xfrm>
            <a:off x="640080" y="3886200"/>
            <a:ext cx="292608" cy="292608"/>
          </a:xfrm>
          <a:prstGeom prst="ellipse">
            <a:avLst/>
          </a:prstGeom>
          <a:solidFill>
            <a:srgbClr val="E8563A"/>
          </a:solidFill>
          <a:ln/>
        </p:spPr>
        <p:txBody>
          <a:bodyPr/>
          <a:lstStyle/>
          <a:p>
            <a:endParaRPr lang="en-US"/>
          </a:p>
        </p:txBody>
      </p:sp>
      <p:sp>
        <p:nvSpPr>
          <p:cNvPr id="37" name="Text 35"/>
          <p:cNvSpPr/>
          <p:nvPr/>
        </p:nvSpPr>
        <p:spPr>
          <a:xfrm>
            <a:off x="640080" y="3886200"/>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Open Sauce One" pitchFamily="34" charset="0"/>
                <a:ea typeface="Open Sauce One" pitchFamily="34" charset="-122"/>
                <a:cs typeface="Open Sauce One" pitchFamily="34" charset="-120"/>
              </a:rPr>
              <a:t>7</a:t>
            </a:r>
            <a:endParaRPr lang="en-US" sz="1000" dirty="0"/>
          </a:p>
        </p:txBody>
      </p:sp>
      <p:sp>
        <p:nvSpPr>
          <p:cNvPr id="38" name="Text 36"/>
          <p:cNvSpPr/>
          <p:nvPr/>
        </p:nvSpPr>
        <p:spPr>
          <a:xfrm>
            <a:off x="1097280" y="3840480"/>
            <a:ext cx="2011680" cy="347472"/>
          </a:xfrm>
          <a:prstGeom prst="rect">
            <a:avLst/>
          </a:prstGeom>
          <a:noFill/>
          <a:ln/>
        </p:spPr>
        <p:txBody>
          <a:bodyPr wrap="square" lIns="0" tIns="0" rIns="0" bIns="0" rtlCol="0" anchor="ctr"/>
          <a:lstStyle/>
          <a:p>
            <a:pPr marL="0" indent="0">
              <a:buNone/>
            </a:pPr>
            <a:r>
              <a:rPr lang="en-US" sz="1100" b="1" dirty="0">
                <a:solidFill>
                  <a:srgbClr val="0F1B2D"/>
                </a:solidFill>
                <a:latin typeface="Open Sauce One" pitchFamily="34" charset="0"/>
                <a:ea typeface="Open Sauce One" pitchFamily="34" charset="-122"/>
                <a:cs typeface="Open Sauce One" pitchFamily="34" charset="-120"/>
              </a:rPr>
              <a:t>121-vertical replication</a:t>
            </a:r>
            <a:endParaRPr lang="en-US" sz="1100" dirty="0"/>
          </a:p>
        </p:txBody>
      </p:sp>
      <p:sp>
        <p:nvSpPr>
          <p:cNvPr id="39" name="Text 37"/>
          <p:cNvSpPr/>
          <p:nvPr/>
        </p:nvSpPr>
        <p:spPr>
          <a:xfrm>
            <a:off x="3108960" y="3840480"/>
            <a:ext cx="5486400" cy="347472"/>
          </a:xfrm>
          <a:prstGeom prst="rect">
            <a:avLst/>
          </a:prstGeom>
          <a:noFill/>
          <a:ln/>
        </p:spPr>
        <p:txBody>
          <a:bodyPr wrap="square" lIns="0" tIns="0" rIns="0" bIns="0" rtlCol="0" anchor="ctr"/>
          <a:lstStyle/>
          <a:p>
            <a:pPr marL="0" indent="0">
              <a:buNone/>
            </a:pPr>
            <a:r>
              <a:rPr lang="en-US" sz="1050" dirty="0">
                <a:solidFill>
                  <a:srgbClr val="5A6577"/>
                </a:solidFill>
                <a:latin typeface="Open Sauce One" pitchFamily="34" charset="0"/>
                <a:ea typeface="Open Sauce One" pitchFamily="34" charset="-122"/>
                <a:cs typeface="Open Sauce One" pitchFamily="34" charset="-120"/>
              </a:rPr>
              <a:t>Interaction replicates: high-auto ρ = +0.528 vs. low-auto ρ = +0.249.</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11327</TotalTime>
  <Words>1451</Words>
  <Application>Microsoft Macintosh PowerPoint</Application>
  <PresentationFormat>On-screen Show (16:9)</PresentationFormat>
  <Paragraphs>214</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Open Sauce One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Moat in the Machine</dc:title>
  <dc:subject>PptxGenJS Presentation</dc:subject>
  <dc:creator>Dutchess Management</dc:creator>
  <cp:lastModifiedBy>Lucky Yona</cp:lastModifiedBy>
  <cp:revision>2</cp:revision>
  <dcterms:created xsi:type="dcterms:W3CDTF">2026-02-24T20:02:41Z</dcterms:created>
  <dcterms:modified xsi:type="dcterms:W3CDTF">2026-03-04T16:52:44Z</dcterms:modified>
</cp:coreProperties>
</file>